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开场（30 秒内讲完）：
上周之后我把三个轴都试了，X/Y/Z 都能动，驱动器灯都是绿的，没有报错。
但你上次说的 sequence step / step size 我还没验出来 —— 现在扫描的时候声音很大，我怀疑这跟脉冲怎么发出去有关，所以今天主要想跟你确认两件事：一是用哪个方案去验 step size，二是这三四周做到什么程度算复现完成。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这一页就是全场的 TL;DR，讲 60–90 秒。
三个数字：三个轴都能动 / 步长一个都没验 / 现在 1 kHz 有噪声。
重点是中间那句话：能动 ≠ 准。绿灯只说明驱动器没报错，不说明它没丢步。
右边黑框是今天要你拍板的三件事，先摆出来，后面每一页都对应其中一件。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这页的用意：把"复现完成"从一句话变成一张数字表，这样验收标准就没有歧义。
论文我从 NSF public access 上拿到了全文（science.org 有付费墙，但 par.nsf.gov 有作者接受稿）。
顺带解决了上下文里一个待确认项：数字化仪论文里是 ATS9350，500 MS/s —— 要问 Rui 我们这台是不是同一型号。
右上角那个 5 mm/s 是我自己算的：1 kHz × 5 µm。如果目标是论文的 10 mm/s，脉冲率必须提高，那脉冲的时序质量就更关键了 —— 这句话是给第 7、8 页铺垫的。
右下角两个终点线，直接问他要哪个。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讲信号链的时候手指着走一遍就行，重点停在 SR2 那个紫色框。
左下角四条是我认为不确定性集中的地方，其中第二条（microstep table 决定 µm/pulse）是最关键的 —— 因为它意味着：不先定 microstep，step size 根本没法定。这两件事必须一起定。
第四条 kx/ky/kz 是老问题了，今天顺便问掉。
右边列出今天不碰的东西，是为了让他知道我没有到处乱试。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这页快速过，30–45 秒。目的是让他知道我理解了每一片镜子在干什么，不是在"重复聚焦"。
第 6 步（grating）标成橙色，因为那是 parallel 的来源，是这套系统区别于普通 UV-PAM 的地方。
右下角是我第一个要问的问题：100 mm 和 250 mm 到底是哪两片。我想在动 galvo 之前把每个镜架贴上标签。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老实汇报，不夸大。三个轴都动了是好消息，但我要主动说"这不等于做完了"。
"Not started" 那一栏第一条要点出来：它不是我没做，是卡住了，下一页展开。
底下那行是说：我用的是面板上原来的参数，没有乱改 —— 这一点他会关心。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表格从左往右念一遍，重点落在最后两列 —— 红色斜体的"not measured"和"loud"。
左右两个框是我刻意分开的：能声称的 vs 不能声称的。这是为了避免"能动了"被误读成"做完了"。
特别提一句：Position X/Y/Z 是开环显示，它显示的是软件累加的命令值，不是实际位置，所以它永远"正确"，也永远不能用来验证。
最后黑框是复述你上周的原话，确认我理解对了 —— 如果我转述得不准，这里就纠正我。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这页是全场最技术的一页，讲 2–3 分钟，讲慢一点。
H1：SR2 板上有 microstep table，如果现在是整步或者很粗的细分，1 kHz 正好落在步进电机最吵、最容易共振的区间。细分调高会安静，但 µm/pulse 也跟着变 —— 所以细分和步长标定必须一起定，不能先定一个。
H2：这是我最怀疑的一条。如果 LabVIEW 是用软件循环去翻转 P0.x，脉冲间隔就带着操作系统的抖动，毫秒级而且不规则。电机吃到不均匀的脉冲串就会 growl，接近力矩极限时就丢步。PCIe-6323 有四个 counter，可以硬件产生精确的有限脉冲串 —— 这是正确做法。
H3：电流和接线，比较基础但要排除。
最后那句是这页的落点：这三个在前面板上都看不见，驱动器也不会报错 —— 所以必须去测，不能靠试参数。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这是今天第一个要他拍板的决定。
Path A 的关键设计：用 DG852 Pro 的 N-cycle burst 直接给 SR2 发"正好 N 个"干净脉冲，把 LabVIEW 整个从回路里拿掉。这样如果函数发生器发 N 个走得准、LabVIEW 发 N 个走不准，问题就锁定在软件端；反之就在驱动器或机械端。这是一个干净的二分。
Path B 是长期正确的做法，但要写 LabVIEW，慢。
我建议先 A 后 B，理由是 A 用的东西都在台子上，周三就能有数字。但让他决定。
如果他说两个一起做，我就说人手上 A 我一个人能做，B 需要他确认 VI 的结构。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第二个要拍板的东西。四周，每周一个出口标准。
我故意把"出口标准"写出来，而不是只写"做什么"—— 因为上周的教训就是"电机能动"这种描述太模糊，说不清算不算做完。
要问他：这个节奏对不对？有没有哪一周他觉得不现实？特别是第三周的 Alazar，我完全没碰过，可能需要他或者组里其他人带一下。
另外第四周的"first image"是我理解的最低版本 —— 一张 phantom 的 2D MAP，不是组织切片。如果他要的是组织，时间要往后推。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六个问题，前三个（橙色）是今天必须要到答案的，后三个（紫色）能问到最好。
第 1 个最重要 —— 验收标准。这个不问清楚，后面三周都可能白做。
第 2 个：5 µm 到底是每个命令脉冲还是每个整步，差一个细分倍数。
第 3 个：直接决定我要不要做 Path B。
第 5 个如果他说要 10 mm/s，那 Week 1 的工作量要加，因为脉冲率翻倍会把 H2 的问题放大。
第 6 个顺便把上下文里那个待确认项收掉。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附录，只在他问"用什么测"的时候翻。
重点是 DG852 Pro 的 N-cycle burst：它能发"正好 N 个"脉冲，这正是把 LabVIEW 从回路里拿掉所需要的。
示波器型号我按机身认成 DS1000Z 系列，明天到实验室对一下具体型号再改。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附录第二页，备查。
左边是我看到的前面板原始状态 —— 我一个数都没改，这点如果他问起可以指这里。
右边安全流程，是上次说好的那套。
参考文献：Sci Adv 那篇正文我从 NSF public access 拿到了全文，所以第 3 页那些参数都是论文里的原话，不是我猜的。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633"/>
        </a:solidFill>
      </p:bgPr>
    </p:bg>
    <p:spTree>
      <p:nvGrpSpPr>
        <p:cNvPr id="1" name=""/>
        <p:cNvGrpSpPr/>
        <p:nvPr/>
      </p:nvGrpSpPr>
      <p:grpSpPr>
        <a:xfrm>
          <a:off x="0" y="0"/>
          <a:ext cx="0" cy="0"/>
          <a:chOff x="0" y="0"/>
          <a:chExt cx="0" cy="0"/>
        </a:xfrm>
      </p:grpSpPr>
      <p:sp>
        <p:nvSpPr>
          <p:cNvPr id="2" name="Shape 0"/>
          <p:cNvSpPr/>
          <p:nvPr/>
        </p:nvSpPr>
        <p:spPr>
          <a:xfrm>
            <a:off x="594360" y="1417320"/>
            <a:ext cx="137160" cy="137160"/>
          </a:xfrm>
          <a:prstGeom prst="ellipse">
            <a:avLst/>
          </a:prstGeom>
          <a:solidFill>
            <a:srgbClr val="1F9AAF"/>
          </a:solidFill>
          <a:ln w="12700">
            <a:solidFill>
              <a:srgbClr val="1F9AAF"/>
            </a:solidFill>
            <a:prstDash val="solid"/>
          </a:ln>
        </p:spPr>
      </p:sp>
      <p:sp>
        <p:nvSpPr>
          <p:cNvPr id="3" name="Shape 1"/>
          <p:cNvSpPr/>
          <p:nvPr/>
        </p:nvSpPr>
        <p:spPr>
          <a:xfrm>
            <a:off x="768096" y="1417320"/>
            <a:ext cx="137160" cy="137160"/>
          </a:xfrm>
          <a:prstGeom prst="ellipse">
            <a:avLst/>
          </a:prstGeom>
          <a:solidFill>
            <a:srgbClr val="1F9AAF"/>
          </a:solidFill>
          <a:ln w="12700">
            <a:solidFill>
              <a:srgbClr val="1F9AAF"/>
            </a:solidFill>
            <a:prstDash val="solid"/>
          </a:ln>
        </p:spPr>
      </p:sp>
      <p:sp>
        <p:nvSpPr>
          <p:cNvPr id="4" name="Shape 2"/>
          <p:cNvSpPr/>
          <p:nvPr/>
        </p:nvSpPr>
        <p:spPr>
          <a:xfrm>
            <a:off x="941832" y="1417320"/>
            <a:ext cx="137160" cy="137160"/>
          </a:xfrm>
          <a:prstGeom prst="ellipse">
            <a:avLst/>
          </a:prstGeom>
          <a:solidFill>
            <a:srgbClr val="1F9AAF"/>
          </a:solidFill>
          <a:ln w="12700">
            <a:solidFill>
              <a:srgbClr val="1F9AAF"/>
            </a:solidFill>
            <a:prstDash val="solid"/>
          </a:ln>
        </p:spPr>
      </p:sp>
      <p:sp>
        <p:nvSpPr>
          <p:cNvPr id="5" name="Shape 3"/>
          <p:cNvSpPr/>
          <p:nvPr/>
        </p:nvSpPr>
        <p:spPr>
          <a:xfrm>
            <a:off x="1115568" y="1417320"/>
            <a:ext cx="137160" cy="137160"/>
          </a:xfrm>
          <a:prstGeom prst="ellipse">
            <a:avLst/>
          </a:prstGeom>
          <a:solidFill>
            <a:srgbClr val="1F9AAF"/>
          </a:solidFill>
          <a:ln w="12700">
            <a:solidFill>
              <a:srgbClr val="1F9AAF"/>
            </a:solidFill>
            <a:prstDash val="solid"/>
          </a:ln>
        </p:spPr>
      </p:sp>
      <p:sp>
        <p:nvSpPr>
          <p:cNvPr id="6" name="Shape 4"/>
          <p:cNvSpPr/>
          <p:nvPr/>
        </p:nvSpPr>
        <p:spPr>
          <a:xfrm>
            <a:off x="1289304" y="1417320"/>
            <a:ext cx="137160" cy="137160"/>
          </a:xfrm>
          <a:prstGeom prst="ellipse">
            <a:avLst/>
          </a:prstGeom>
          <a:solidFill>
            <a:srgbClr val="1F9AAF"/>
          </a:solidFill>
          <a:ln w="12700">
            <a:solidFill>
              <a:srgbClr val="1F9AAF"/>
            </a:solidFill>
            <a:prstDash val="solid"/>
          </a:ln>
        </p:spPr>
      </p:sp>
      <p:sp>
        <p:nvSpPr>
          <p:cNvPr id="7" name="Shape 5"/>
          <p:cNvSpPr/>
          <p:nvPr/>
        </p:nvSpPr>
        <p:spPr>
          <a:xfrm>
            <a:off x="1463040" y="1417320"/>
            <a:ext cx="137160" cy="137160"/>
          </a:xfrm>
          <a:prstGeom prst="ellipse">
            <a:avLst/>
          </a:prstGeom>
          <a:solidFill>
            <a:srgbClr val="1F9AAF"/>
          </a:solidFill>
          <a:ln w="12700">
            <a:solidFill>
              <a:srgbClr val="1F9AAF"/>
            </a:solidFill>
            <a:prstDash val="solid"/>
          </a:ln>
        </p:spPr>
      </p:sp>
      <p:sp>
        <p:nvSpPr>
          <p:cNvPr id="8" name="Shape 6"/>
          <p:cNvSpPr/>
          <p:nvPr/>
        </p:nvSpPr>
        <p:spPr>
          <a:xfrm>
            <a:off x="1636776" y="1417320"/>
            <a:ext cx="137160" cy="137160"/>
          </a:xfrm>
          <a:prstGeom prst="ellipse">
            <a:avLst/>
          </a:prstGeom>
          <a:solidFill>
            <a:srgbClr val="1F9AAF"/>
          </a:solidFill>
          <a:ln w="12700">
            <a:solidFill>
              <a:srgbClr val="1F9AAF"/>
            </a:solidFill>
            <a:prstDash val="solid"/>
          </a:ln>
        </p:spPr>
      </p:sp>
      <p:sp>
        <p:nvSpPr>
          <p:cNvPr id="9" name="Shape 7"/>
          <p:cNvSpPr/>
          <p:nvPr/>
        </p:nvSpPr>
        <p:spPr>
          <a:xfrm>
            <a:off x="1810512" y="1417320"/>
            <a:ext cx="137160" cy="137160"/>
          </a:xfrm>
          <a:prstGeom prst="ellipse">
            <a:avLst/>
          </a:prstGeom>
          <a:solidFill>
            <a:srgbClr val="1F9AAF"/>
          </a:solidFill>
          <a:ln w="12700">
            <a:solidFill>
              <a:srgbClr val="1F9AAF"/>
            </a:solidFill>
            <a:prstDash val="solid"/>
          </a:ln>
        </p:spPr>
      </p:sp>
      <p:sp>
        <p:nvSpPr>
          <p:cNvPr id="10" name="Text 8"/>
          <p:cNvSpPr txBox="1"/>
          <p:nvPr/>
        </p:nvSpPr>
        <p:spPr>
          <a:xfrm>
            <a:off x="594360" y="1783080"/>
            <a:ext cx="1042416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Parallel UV-PAM</a:t>
            </a:r>
            <a:endParaRPr lang="en-US" sz="4400" dirty="0"/>
          </a:p>
        </p:txBody>
      </p:sp>
      <p:sp>
        <p:nvSpPr>
          <p:cNvPr id="11" name="Text 9"/>
          <p:cNvSpPr txBox="1"/>
          <p:nvPr/>
        </p:nvSpPr>
        <p:spPr>
          <a:xfrm>
            <a:off x="594360" y="2578608"/>
            <a:ext cx="10424160" cy="457200"/>
          </a:xfrm>
          <a:prstGeom prst="rect">
            <a:avLst/>
          </a:prstGeom>
          <a:noFill/>
          <a:ln/>
        </p:spPr>
        <p:txBody>
          <a:bodyPr wrap="square" lIns="0" tIns="0" rIns="0" bIns="0" rtlCol="0" anchor="ctr"/>
          <a:lstStyle/>
          <a:p>
            <a:pPr indent="0" marL="0">
              <a:buNone/>
            </a:pPr>
            <a:r>
              <a:rPr lang="en-US" sz="2200" i="1" dirty="0">
                <a:solidFill>
                  <a:srgbClr val="1F9AAF"/>
                </a:solidFill>
                <a:latin typeface="Cambria" pitchFamily="34" charset="0"/>
                <a:ea typeface="Cambria" pitchFamily="34" charset="-122"/>
                <a:cs typeface="Cambria" pitchFamily="34" charset="-120"/>
              </a:rPr>
              <a:t>System reproduction — progress, blocker, and verification plan</a:t>
            </a:r>
            <a:endParaRPr lang="en-US" sz="2200" dirty="0"/>
          </a:p>
        </p:txBody>
      </p:sp>
      <p:sp>
        <p:nvSpPr>
          <p:cNvPr id="12" name="Shape 10"/>
          <p:cNvSpPr/>
          <p:nvPr/>
        </p:nvSpPr>
        <p:spPr>
          <a:xfrm>
            <a:off x="594360" y="3429000"/>
            <a:ext cx="2926080" cy="18288"/>
          </a:xfrm>
          <a:prstGeom prst="rect">
            <a:avLst/>
          </a:prstGeom>
          <a:solidFill>
            <a:srgbClr val="4C3FA6"/>
          </a:solidFill>
          <a:ln w="12700">
            <a:solidFill>
              <a:srgbClr val="333333"/>
            </a:solidFill>
            <a:prstDash val="solid"/>
          </a:ln>
        </p:spPr>
      </p:sp>
      <p:sp>
        <p:nvSpPr>
          <p:cNvPr id="13" name="Text 11"/>
          <p:cNvSpPr txBox="1"/>
          <p:nvPr/>
        </p:nvSpPr>
        <p:spPr>
          <a:xfrm>
            <a:off x="594360" y="3703320"/>
            <a:ext cx="7315200" cy="914400"/>
          </a:xfrm>
          <a:prstGeom prst="rect">
            <a:avLst/>
          </a:prstGeom>
          <a:noFill/>
          <a:ln/>
        </p:spPr>
        <p:txBody>
          <a:bodyPr wrap="square" lIns="0" tIns="0" rIns="0" bIns="0" rtlCol="0" anchor="ctr"/>
          <a:lstStyle/>
          <a:p>
            <a:pPr indent="0" marL="0">
              <a:lnSpc>
                <a:spcPts val="2100"/>
              </a:lnSpc>
              <a:buNone/>
            </a:pPr>
            <a:r>
              <a:rPr lang="en-US" sz="1400" b="1" dirty="0">
                <a:solidFill>
                  <a:srgbClr val="C9C5DE"/>
                </a:solidFill>
                <a:latin typeface="Calibri" pitchFamily="34" charset="0"/>
                <a:ea typeface="Calibri" pitchFamily="34" charset="-122"/>
                <a:cs typeface="Calibri" pitchFamily="34" charset="-120"/>
              </a:rPr>
              <a:t>Yumeng Chen</a:t>
            </a:r>
            <a:endParaRPr lang="en-US" sz="1400" dirty="0"/>
          </a:p>
          <a:p>
            <a:pPr indent="0" marL="0">
              <a:lnSpc>
                <a:spcPts val="2100"/>
              </a:lnSpc>
              <a:buNone/>
            </a:pPr>
            <a:r>
              <a:rPr lang="en-US" sz="1400" dirty="0">
                <a:solidFill>
                  <a:srgbClr val="C9C5DE"/>
                </a:solidFill>
                <a:latin typeface="Calibri" pitchFamily="34" charset="0"/>
                <a:ea typeface="Calibri" pitchFamily="34" charset="-122"/>
                <a:cs typeface="Calibri" pitchFamily="34" charset="-120"/>
              </a:rPr>
              <a:t>Cao Lab · Department of Biomedical Engineering, CWRU</a:t>
            </a:r>
            <a:endParaRPr lang="en-US" sz="1400" dirty="0"/>
          </a:p>
          <a:p>
            <a:pPr indent="0" marL="0">
              <a:lnSpc>
                <a:spcPts val="2100"/>
              </a:lnSpc>
              <a:buNone/>
            </a:pPr>
            <a:r>
              <a:rPr lang="en-US" sz="1400" dirty="0">
                <a:solidFill>
                  <a:srgbClr val="C9C5DE"/>
                </a:solidFill>
                <a:latin typeface="Calibri" pitchFamily="34" charset="0"/>
                <a:ea typeface="Calibri" pitchFamily="34" charset="-122"/>
                <a:cs typeface="Calibri" pitchFamily="34" charset="-120"/>
              </a:rPr>
              <a:t>1:1 with Rui Cao · August 31, 2026</a:t>
            </a:r>
            <a:endParaRPr lang="en-US" sz="1400" dirty="0"/>
          </a:p>
        </p:txBody>
      </p:sp>
      <p:sp>
        <p:nvSpPr>
          <p:cNvPr id="14" name="Text 12"/>
          <p:cNvSpPr txBox="1"/>
          <p:nvPr/>
        </p:nvSpPr>
        <p:spPr>
          <a:xfrm>
            <a:off x="594360" y="5715000"/>
            <a:ext cx="10424160" cy="365760"/>
          </a:xfrm>
          <a:prstGeom prst="rect">
            <a:avLst/>
          </a:prstGeom>
          <a:noFill/>
          <a:ln/>
        </p:spPr>
        <p:txBody>
          <a:bodyPr wrap="square" lIns="0" tIns="0" rIns="0" bIns="0" rtlCol="0" anchor="ctr"/>
          <a:lstStyle/>
          <a:p>
            <a:pPr indent="0" marL="0">
              <a:buNone/>
            </a:pPr>
            <a:r>
              <a:rPr lang="en-US" sz="1300" i="1" dirty="0">
                <a:solidFill>
                  <a:srgbClr val="D98A1F"/>
                </a:solidFill>
                <a:latin typeface="Calibri" pitchFamily="34" charset="0"/>
                <a:ea typeface="Calibri" pitchFamily="34" charset="-122"/>
                <a:cs typeface="Calibri" pitchFamily="34" charset="-120"/>
              </a:rPr>
              <a:t>Today I need two decisions from you:  (1) which verification path to run,  (2) what counts as “reproduced.”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200" kern="0" dirty="0">
                <a:solidFill>
                  <a:srgbClr val="4C3FA6"/>
                </a:solidFill>
                <a:latin typeface="Calibri" pitchFamily="34" charset="0"/>
                <a:ea typeface="Calibri" pitchFamily="34" charset="-122"/>
                <a:cs typeface="Calibri" pitchFamily="34" charset="-120"/>
              </a:rPr>
              <a:t>STATUS AT A GLANCE</a:t>
            </a:r>
            <a:endParaRPr lang="en-US" sz="1100" dirty="0"/>
          </a:p>
        </p:txBody>
      </p:sp>
      <p:sp>
        <p:nvSpPr>
          <p:cNvPr id="3" name="Text 1"/>
          <p:cNvSpPr txBox="1"/>
          <p:nvPr/>
        </p:nvSpPr>
        <p:spPr>
          <a:xfrm>
            <a:off x="594360" y="640080"/>
            <a:ext cx="10972800" cy="658368"/>
          </a:xfrm>
          <a:prstGeom prst="rect">
            <a:avLst/>
          </a:prstGeom>
          <a:noFill/>
          <a:ln/>
        </p:spPr>
        <p:txBody>
          <a:bodyPr wrap="square" lIns="0" tIns="0" rIns="0" bIns="0" rtlCol="0" anchor="t"/>
          <a:lstStyle/>
          <a:p>
            <a:pPr indent="0" marL="0">
              <a:buNone/>
            </a:pPr>
            <a:r>
              <a:rPr lang="en-US" sz="3000" b="1" dirty="0">
                <a:solidFill>
                  <a:srgbClr val="1A1633"/>
                </a:solidFill>
                <a:latin typeface="Cambria" pitchFamily="34" charset="0"/>
                <a:ea typeface="Cambria" pitchFamily="34" charset="-122"/>
                <a:cs typeface="Cambria" pitchFamily="34" charset="-120"/>
              </a:rPr>
              <a:t>Motors move. Nothing is calibrated yet.</a:t>
            </a:r>
            <a:endParaRPr lang="en-US" sz="3000" dirty="0"/>
          </a:p>
        </p:txBody>
      </p:sp>
      <p:sp>
        <p:nvSpPr>
          <p:cNvPr id="4" name="Shape 2"/>
          <p:cNvSpPr/>
          <p:nvPr/>
        </p:nvSpPr>
        <p:spPr>
          <a:xfrm>
            <a:off x="594360" y="1536192"/>
            <a:ext cx="3401568" cy="2084832"/>
          </a:xfrm>
          <a:prstGeom prst="roundRect">
            <a:avLst>
              <a:gd name="adj" fmla="val 2632"/>
            </a:avLst>
          </a:prstGeom>
          <a:solidFill>
            <a:srgbClr val="F2F1F7"/>
          </a:solidFill>
          <a:ln w="12700">
            <a:solidFill>
              <a:srgbClr val="F2F1F7"/>
            </a:solidFill>
            <a:prstDash val="solid"/>
          </a:ln>
        </p:spPr>
      </p:sp>
      <p:sp>
        <p:nvSpPr>
          <p:cNvPr id="5" name="Text 3"/>
          <p:cNvSpPr txBox="1"/>
          <p:nvPr/>
        </p:nvSpPr>
        <p:spPr>
          <a:xfrm>
            <a:off x="850392" y="1700784"/>
            <a:ext cx="2889504" cy="658368"/>
          </a:xfrm>
          <a:prstGeom prst="rect">
            <a:avLst/>
          </a:prstGeom>
          <a:noFill/>
          <a:ln/>
        </p:spPr>
        <p:txBody>
          <a:bodyPr wrap="square" lIns="0" tIns="0" rIns="0" bIns="0" rtlCol="0" anchor="ctr"/>
          <a:lstStyle/>
          <a:p>
            <a:pPr indent="0" marL="0">
              <a:buNone/>
            </a:pPr>
            <a:r>
              <a:rPr lang="en-US" sz="4000" b="1" dirty="0">
                <a:solidFill>
                  <a:srgbClr val="1F9AAF"/>
                </a:solidFill>
                <a:latin typeface="Cambria" pitchFamily="34" charset="0"/>
                <a:ea typeface="Cambria" pitchFamily="34" charset="-122"/>
                <a:cs typeface="Cambria" pitchFamily="34" charset="-120"/>
              </a:rPr>
              <a:t>3 / 3</a:t>
            </a:r>
            <a:endParaRPr lang="en-US" sz="4000" dirty="0"/>
          </a:p>
        </p:txBody>
      </p:sp>
      <p:sp>
        <p:nvSpPr>
          <p:cNvPr id="6" name="Text 4"/>
          <p:cNvSpPr txBox="1"/>
          <p:nvPr/>
        </p:nvSpPr>
        <p:spPr>
          <a:xfrm>
            <a:off x="850392" y="2377440"/>
            <a:ext cx="2889504" cy="237744"/>
          </a:xfrm>
          <a:prstGeom prst="rect">
            <a:avLst/>
          </a:prstGeom>
          <a:noFill/>
          <a:ln/>
        </p:spPr>
        <p:txBody>
          <a:bodyPr wrap="square" lIns="0" tIns="0" rIns="0" bIns="0" rtlCol="0" anchor="ctr"/>
          <a:lstStyle/>
          <a:p>
            <a:pPr indent="0" marL="0">
              <a:buNone/>
            </a:pPr>
            <a:r>
              <a:rPr lang="en-US" sz="1050" b="1" spc="120" kern="0" dirty="0">
                <a:solidFill>
                  <a:srgbClr val="1A1633"/>
                </a:solidFill>
                <a:latin typeface="Calibri" pitchFamily="34" charset="0"/>
                <a:ea typeface="Calibri" pitchFamily="34" charset="-122"/>
                <a:cs typeface="Calibri" pitchFamily="34" charset="-120"/>
              </a:rPr>
              <a:t>AXES RESPOND</a:t>
            </a:r>
            <a:endParaRPr lang="en-US" sz="1050" dirty="0"/>
          </a:p>
        </p:txBody>
      </p:sp>
      <p:sp>
        <p:nvSpPr>
          <p:cNvPr id="7" name="Text 5"/>
          <p:cNvSpPr txBox="1"/>
          <p:nvPr/>
        </p:nvSpPr>
        <p:spPr>
          <a:xfrm>
            <a:off x="850392" y="2670048"/>
            <a:ext cx="2889504" cy="822960"/>
          </a:xfrm>
          <a:prstGeom prst="rect">
            <a:avLst/>
          </a:prstGeom>
          <a:noFill/>
          <a:ln/>
        </p:spPr>
        <p:txBody>
          <a:bodyPr wrap="square" lIns="0" tIns="0" rIns="0" bIns="0" rtlCol="0" anchor="ctr"/>
          <a:lstStyle/>
          <a:p>
            <a:pPr indent="0" marL="0">
              <a:lnSpc>
                <a:spcPts val="1600"/>
              </a:lnSpc>
              <a:buNone/>
            </a:pPr>
            <a:r>
              <a:rPr lang="en-US" sz="1200" dirty="0">
                <a:solidFill>
                  <a:srgbClr val="6B6880"/>
                </a:solidFill>
                <a:latin typeface="Calibri" pitchFamily="34" charset="0"/>
                <a:ea typeface="Calibri" pitchFamily="34" charset="-122"/>
                <a:cs typeface="Calibri" pitchFamily="34" charset="-120"/>
              </a:rPr>
              <a:t>X, Y, Z all move under LabVIEW</a:t>
            </a:r>
            <a:endParaRPr lang="en-US" sz="1200" dirty="0"/>
          </a:p>
          <a:p>
            <a:pPr indent="0" marL="0">
              <a:lnSpc>
                <a:spcPts val="1600"/>
              </a:lnSpc>
              <a:buNone/>
            </a:pPr>
            <a:r>
              <a:rPr lang="en-US" sz="1200" dirty="0">
                <a:solidFill>
                  <a:srgbClr val="6B6880"/>
                </a:solidFill>
                <a:latin typeface="Calibri" pitchFamily="34" charset="0"/>
                <a:ea typeface="Calibri" pitchFamily="34" charset="-122"/>
                <a:cs typeface="Calibri" pitchFamily="34" charset="-120"/>
              </a:rPr>
              <a:t>Move X / Y / Z</a:t>
            </a:r>
            <a:endParaRPr lang="en-US" sz="1200" dirty="0"/>
          </a:p>
        </p:txBody>
      </p:sp>
      <p:sp>
        <p:nvSpPr>
          <p:cNvPr id="8" name="Shape 6"/>
          <p:cNvSpPr/>
          <p:nvPr/>
        </p:nvSpPr>
        <p:spPr>
          <a:xfrm>
            <a:off x="4379976" y="1536192"/>
            <a:ext cx="3401568" cy="2084832"/>
          </a:xfrm>
          <a:prstGeom prst="roundRect">
            <a:avLst>
              <a:gd name="adj" fmla="val 2632"/>
            </a:avLst>
          </a:prstGeom>
          <a:solidFill>
            <a:srgbClr val="F2F1F7"/>
          </a:solidFill>
          <a:ln w="12700">
            <a:solidFill>
              <a:srgbClr val="F2F1F7"/>
            </a:solidFill>
            <a:prstDash val="solid"/>
          </a:ln>
        </p:spPr>
      </p:sp>
      <p:sp>
        <p:nvSpPr>
          <p:cNvPr id="9" name="Text 7"/>
          <p:cNvSpPr txBox="1"/>
          <p:nvPr/>
        </p:nvSpPr>
        <p:spPr>
          <a:xfrm>
            <a:off x="4636008" y="1700784"/>
            <a:ext cx="2889504" cy="658368"/>
          </a:xfrm>
          <a:prstGeom prst="rect">
            <a:avLst/>
          </a:prstGeom>
          <a:noFill/>
          <a:ln/>
        </p:spPr>
        <p:txBody>
          <a:bodyPr wrap="square" lIns="0" tIns="0" rIns="0" bIns="0" rtlCol="0" anchor="ctr"/>
          <a:lstStyle/>
          <a:p>
            <a:pPr indent="0" marL="0">
              <a:buNone/>
            </a:pPr>
            <a:r>
              <a:rPr lang="en-US" sz="4000" b="1" dirty="0">
                <a:solidFill>
                  <a:srgbClr val="D98A1F"/>
                </a:solidFill>
                <a:latin typeface="Cambria" pitchFamily="34" charset="0"/>
                <a:ea typeface="Cambria" pitchFamily="34" charset="-122"/>
                <a:cs typeface="Cambria" pitchFamily="34" charset="-120"/>
              </a:rPr>
              <a:t>0</a:t>
            </a:r>
            <a:endParaRPr lang="en-US" sz="4000" dirty="0"/>
          </a:p>
        </p:txBody>
      </p:sp>
      <p:sp>
        <p:nvSpPr>
          <p:cNvPr id="10" name="Text 8"/>
          <p:cNvSpPr txBox="1"/>
          <p:nvPr/>
        </p:nvSpPr>
        <p:spPr>
          <a:xfrm>
            <a:off x="4636008" y="2377440"/>
            <a:ext cx="2889504" cy="237744"/>
          </a:xfrm>
          <a:prstGeom prst="rect">
            <a:avLst/>
          </a:prstGeom>
          <a:noFill/>
          <a:ln/>
        </p:spPr>
        <p:txBody>
          <a:bodyPr wrap="square" lIns="0" tIns="0" rIns="0" bIns="0" rtlCol="0" anchor="ctr"/>
          <a:lstStyle/>
          <a:p>
            <a:pPr indent="0" marL="0">
              <a:buNone/>
            </a:pPr>
            <a:r>
              <a:rPr lang="en-US" sz="1050" b="1" spc="120" kern="0" dirty="0">
                <a:solidFill>
                  <a:srgbClr val="1A1633"/>
                </a:solidFill>
                <a:latin typeface="Calibri" pitchFamily="34" charset="0"/>
                <a:ea typeface="Calibri" pitchFamily="34" charset="-122"/>
                <a:cs typeface="Calibri" pitchFamily="34" charset="-120"/>
              </a:rPr>
              <a:t>VERIFIED STEP SIZE</a:t>
            </a:r>
            <a:endParaRPr lang="en-US" sz="1050" dirty="0"/>
          </a:p>
        </p:txBody>
      </p:sp>
      <p:sp>
        <p:nvSpPr>
          <p:cNvPr id="11" name="Text 9"/>
          <p:cNvSpPr txBox="1"/>
          <p:nvPr/>
        </p:nvSpPr>
        <p:spPr>
          <a:xfrm>
            <a:off x="4636008" y="2670048"/>
            <a:ext cx="2889504" cy="822960"/>
          </a:xfrm>
          <a:prstGeom prst="rect">
            <a:avLst/>
          </a:prstGeom>
          <a:noFill/>
          <a:ln/>
        </p:spPr>
        <p:txBody>
          <a:bodyPr wrap="square" lIns="0" tIns="0" rIns="0" bIns="0" rtlCol="0" anchor="ctr"/>
          <a:lstStyle/>
          <a:p>
            <a:pPr indent="0" marL="0">
              <a:lnSpc>
                <a:spcPts val="1600"/>
              </a:lnSpc>
              <a:buNone/>
            </a:pPr>
            <a:r>
              <a:rPr lang="en-US" sz="1200" dirty="0">
                <a:solidFill>
                  <a:srgbClr val="6B6880"/>
                </a:solidFill>
                <a:latin typeface="Calibri" pitchFamily="34" charset="0"/>
                <a:ea typeface="Calibri" pitchFamily="34" charset="-122"/>
                <a:cs typeface="Calibri" pitchFamily="34" charset="-120"/>
              </a:rPr>
              <a:t>µm per commanded pulse</a:t>
            </a:r>
            <a:endParaRPr lang="en-US" sz="1200" dirty="0"/>
          </a:p>
          <a:p>
            <a:pPr indent="0" marL="0">
              <a:lnSpc>
                <a:spcPts val="1600"/>
              </a:lnSpc>
              <a:buNone/>
            </a:pPr>
            <a:r>
              <a:rPr lang="en-US" sz="1200" dirty="0">
                <a:solidFill>
                  <a:srgbClr val="6B6880"/>
                </a:solidFill>
                <a:latin typeface="Calibri" pitchFamily="34" charset="0"/>
                <a:ea typeface="Calibri" pitchFamily="34" charset="-122"/>
                <a:cs typeface="Calibri" pitchFamily="34" charset="-120"/>
              </a:rPr>
              <a:t>not yet measured on any axis</a:t>
            </a:r>
            <a:endParaRPr lang="en-US" sz="1200" dirty="0"/>
          </a:p>
        </p:txBody>
      </p:sp>
      <p:sp>
        <p:nvSpPr>
          <p:cNvPr id="12" name="Shape 10"/>
          <p:cNvSpPr/>
          <p:nvPr/>
        </p:nvSpPr>
        <p:spPr>
          <a:xfrm>
            <a:off x="8165592" y="1536192"/>
            <a:ext cx="3401568" cy="2084832"/>
          </a:xfrm>
          <a:prstGeom prst="roundRect">
            <a:avLst>
              <a:gd name="adj" fmla="val 2632"/>
            </a:avLst>
          </a:prstGeom>
          <a:solidFill>
            <a:srgbClr val="F2F1F7"/>
          </a:solidFill>
          <a:ln w="12700">
            <a:solidFill>
              <a:srgbClr val="F2F1F7"/>
            </a:solidFill>
            <a:prstDash val="solid"/>
          </a:ln>
        </p:spPr>
      </p:sp>
      <p:sp>
        <p:nvSpPr>
          <p:cNvPr id="13" name="Text 11"/>
          <p:cNvSpPr txBox="1"/>
          <p:nvPr/>
        </p:nvSpPr>
        <p:spPr>
          <a:xfrm>
            <a:off x="8421624" y="1700784"/>
            <a:ext cx="2889504" cy="658368"/>
          </a:xfrm>
          <a:prstGeom prst="rect">
            <a:avLst/>
          </a:prstGeom>
          <a:noFill/>
          <a:ln/>
        </p:spPr>
        <p:txBody>
          <a:bodyPr wrap="square" lIns="0" tIns="0" rIns="0" bIns="0" rtlCol="0" anchor="ctr"/>
          <a:lstStyle/>
          <a:p>
            <a:pPr indent="0" marL="0">
              <a:buNone/>
            </a:pPr>
            <a:r>
              <a:rPr lang="en-US" sz="4000" b="1" dirty="0">
                <a:solidFill>
                  <a:srgbClr val="B33A3A"/>
                </a:solidFill>
                <a:latin typeface="Cambria" pitchFamily="34" charset="0"/>
                <a:ea typeface="Cambria" pitchFamily="34" charset="-122"/>
                <a:cs typeface="Cambria" pitchFamily="34" charset="-120"/>
              </a:rPr>
              <a:t>1 kHz</a:t>
            </a:r>
            <a:endParaRPr lang="en-US" sz="4000" dirty="0"/>
          </a:p>
        </p:txBody>
      </p:sp>
      <p:sp>
        <p:nvSpPr>
          <p:cNvPr id="14" name="Text 12"/>
          <p:cNvSpPr txBox="1"/>
          <p:nvPr/>
        </p:nvSpPr>
        <p:spPr>
          <a:xfrm>
            <a:off x="8421624" y="2377440"/>
            <a:ext cx="2889504" cy="237744"/>
          </a:xfrm>
          <a:prstGeom prst="rect">
            <a:avLst/>
          </a:prstGeom>
          <a:noFill/>
          <a:ln/>
        </p:spPr>
        <p:txBody>
          <a:bodyPr wrap="square" lIns="0" tIns="0" rIns="0" bIns="0" rtlCol="0" anchor="ctr"/>
          <a:lstStyle/>
          <a:p>
            <a:pPr indent="0" marL="0">
              <a:buNone/>
            </a:pPr>
            <a:r>
              <a:rPr lang="en-US" sz="1050" b="1" spc="120" kern="0" dirty="0">
                <a:solidFill>
                  <a:srgbClr val="1A1633"/>
                </a:solidFill>
                <a:latin typeface="Calibri" pitchFamily="34" charset="0"/>
                <a:ea typeface="Calibri" pitchFamily="34" charset="-122"/>
                <a:cs typeface="Calibri" pitchFamily="34" charset="-120"/>
              </a:rPr>
              <a:t>CURRENT STEP RATE</a:t>
            </a:r>
            <a:endParaRPr lang="en-US" sz="1050" dirty="0"/>
          </a:p>
        </p:txBody>
      </p:sp>
      <p:sp>
        <p:nvSpPr>
          <p:cNvPr id="15" name="Text 13"/>
          <p:cNvSpPr txBox="1"/>
          <p:nvPr/>
        </p:nvSpPr>
        <p:spPr>
          <a:xfrm>
            <a:off x="8421624" y="2670048"/>
            <a:ext cx="2889504" cy="822960"/>
          </a:xfrm>
          <a:prstGeom prst="rect">
            <a:avLst/>
          </a:prstGeom>
          <a:noFill/>
          <a:ln/>
        </p:spPr>
        <p:txBody>
          <a:bodyPr wrap="square" lIns="0" tIns="0" rIns="0" bIns="0" rtlCol="0" anchor="ctr"/>
          <a:lstStyle/>
          <a:p>
            <a:pPr indent="0" marL="0">
              <a:lnSpc>
                <a:spcPts val="1600"/>
              </a:lnSpc>
              <a:buNone/>
            </a:pPr>
            <a:r>
              <a:rPr lang="en-US" sz="1200" dirty="0">
                <a:solidFill>
                  <a:srgbClr val="6B6880"/>
                </a:solidFill>
                <a:latin typeface="Calibri" pitchFamily="34" charset="0"/>
                <a:ea typeface="Calibri" pitchFamily="34" charset="-122"/>
                <a:cs typeface="Calibri" pitchFamily="34" charset="-120"/>
              </a:rPr>
              <a:t>audible growl during scanning</a:t>
            </a:r>
            <a:endParaRPr lang="en-US" sz="1200" dirty="0"/>
          </a:p>
          <a:p>
            <a:pPr indent="0" marL="0">
              <a:lnSpc>
                <a:spcPts val="1600"/>
              </a:lnSpc>
              <a:buNone/>
            </a:pPr>
            <a:r>
              <a:rPr lang="en-US" sz="1200" dirty="0">
                <a:solidFill>
                  <a:srgbClr val="6B6880"/>
                </a:solidFill>
                <a:latin typeface="Calibri" pitchFamily="34" charset="0"/>
                <a:ea typeface="Calibri" pitchFamily="34" charset="-122"/>
                <a:cs typeface="Calibri" pitchFamily="34" charset="-120"/>
              </a:rPr>
              <a:t>— flagged as a precision risk</a:t>
            </a:r>
            <a:endParaRPr lang="en-US" sz="1200" dirty="0"/>
          </a:p>
        </p:txBody>
      </p:sp>
      <p:sp>
        <p:nvSpPr>
          <p:cNvPr id="16" name="Shape 14"/>
          <p:cNvSpPr/>
          <p:nvPr/>
        </p:nvSpPr>
        <p:spPr>
          <a:xfrm>
            <a:off x="594360" y="3913632"/>
            <a:ext cx="6720840" cy="2331720"/>
          </a:xfrm>
          <a:prstGeom prst="roundRect">
            <a:avLst>
              <a:gd name="adj" fmla="val 2353"/>
            </a:avLst>
          </a:prstGeom>
          <a:solidFill>
            <a:srgbClr val="FFFFFF"/>
          </a:solidFill>
          <a:ln w="12700">
            <a:solidFill>
              <a:srgbClr val="D6D3E4"/>
            </a:solidFill>
            <a:prstDash val="solid"/>
          </a:ln>
        </p:spPr>
      </p:sp>
      <p:sp>
        <p:nvSpPr>
          <p:cNvPr id="17" name="Text 15"/>
          <p:cNvSpPr txBox="1"/>
          <p:nvPr/>
        </p:nvSpPr>
        <p:spPr>
          <a:xfrm>
            <a:off x="868680" y="4096512"/>
            <a:ext cx="6126480" cy="274320"/>
          </a:xfrm>
          <a:prstGeom prst="rect">
            <a:avLst/>
          </a:prstGeom>
          <a:noFill/>
          <a:ln/>
        </p:spPr>
        <p:txBody>
          <a:bodyPr wrap="square" lIns="0" tIns="0" rIns="0" bIns="0" rtlCol="0" anchor="ctr"/>
          <a:lstStyle/>
          <a:p>
            <a:pPr indent="0" marL="0">
              <a:buNone/>
            </a:pPr>
            <a:r>
              <a:rPr lang="en-US" sz="1100" b="1" spc="120" kern="0" dirty="0">
                <a:solidFill>
                  <a:srgbClr val="4C3FA6"/>
                </a:solidFill>
                <a:latin typeface="Calibri" pitchFamily="34" charset="0"/>
                <a:ea typeface="Calibri" pitchFamily="34" charset="-122"/>
                <a:cs typeface="Calibri" pitchFamily="34" charset="-120"/>
              </a:rPr>
              <a:t>What this means</a:t>
            </a:r>
            <a:endParaRPr lang="en-US" sz="1100" dirty="0"/>
          </a:p>
        </p:txBody>
      </p:sp>
      <p:sp>
        <p:nvSpPr>
          <p:cNvPr id="18" name="Text 16"/>
          <p:cNvSpPr txBox="1"/>
          <p:nvPr/>
        </p:nvSpPr>
        <p:spPr>
          <a:xfrm>
            <a:off x="868680" y="4370832"/>
            <a:ext cx="6126480" cy="329184"/>
          </a:xfrm>
          <a:prstGeom prst="rect">
            <a:avLst/>
          </a:prstGeom>
          <a:noFill/>
          <a:ln/>
        </p:spPr>
        <p:txBody>
          <a:bodyPr wrap="square" lIns="0" tIns="0" rIns="0" bIns="0" rtlCol="0" anchor="ctr"/>
          <a:lstStyle/>
          <a:p>
            <a:pPr indent="0" marL="0">
              <a:buNone/>
            </a:pPr>
            <a:r>
              <a:rPr lang="en-US" sz="1900" b="1" dirty="0">
                <a:solidFill>
                  <a:srgbClr val="1A1633"/>
                </a:solidFill>
                <a:latin typeface="Cambria" pitchFamily="34" charset="0"/>
                <a:ea typeface="Cambria" pitchFamily="34" charset="-122"/>
                <a:cs typeface="Cambria" pitchFamily="34" charset="-120"/>
              </a:rPr>
              <a:t>Motion is not calibration.</a:t>
            </a:r>
            <a:endParaRPr lang="en-US" sz="1900" dirty="0"/>
          </a:p>
        </p:txBody>
      </p:sp>
      <p:sp>
        <p:nvSpPr>
          <p:cNvPr id="19" name="Text 17"/>
          <p:cNvSpPr txBox="1"/>
          <p:nvPr/>
        </p:nvSpPr>
        <p:spPr>
          <a:xfrm>
            <a:off x="868680" y="4773168"/>
            <a:ext cx="6172200" cy="1371600"/>
          </a:xfrm>
          <a:prstGeom prst="rect">
            <a:avLst/>
          </a:prstGeom>
          <a:noFill/>
          <a:ln/>
        </p:spPr>
        <p:txBody>
          <a:bodyPr wrap="square" lIns="0" tIns="0" rIns="0" bIns="0" rtlCol="0" anchor="t"/>
          <a:lstStyle/>
          <a:p>
            <a:pPr marL="342900" indent="-342900">
              <a:lnSpc>
                <a:spcPts val="1600"/>
              </a:lnSpc>
              <a:spcAft>
                <a:spcPts val="500"/>
              </a:spcAft>
              <a:buSzPct val="100000"/>
              <a:buChar char="•"/>
            </a:pPr>
            <a:r>
              <a:rPr lang="en-US" sz="1250" dirty="0">
                <a:solidFill>
                  <a:srgbClr val="1A1633"/>
                </a:solidFill>
                <a:latin typeface="Calibri" pitchFamily="34" charset="0"/>
                <a:ea typeface="Calibri" pitchFamily="34" charset="-122"/>
                <a:cs typeface="Calibri" pitchFamily="34" charset="-120"/>
              </a:rPr>
              <a:t>A green driver LED and an audible stage only prove the motor received something — not that it took every step it was told to take.</a:t>
            </a:r>
            <a:endParaRPr lang="en-US" sz="1250" dirty="0"/>
          </a:p>
          <a:p>
            <a:pPr marL="342900" indent="-342900">
              <a:lnSpc>
                <a:spcPts val="1600"/>
              </a:lnSpc>
              <a:spcAft>
                <a:spcPts val="500"/>
              </a:spcAft>
              <a:buSzPct val="100000"/>
              <a:buChar char="•"/>
            </a:pPr>
            <a:r>
              <a:rPr lang="en-US" sz="1250" dirty="0">
                <a:solidFill>
                  <a:srgbClr val="1A1633"/>
                </a:solidFill>
                <a:latin typeface="Calibri" pitchFamily="34" charset="0"/>
                <a:ea typeface="Calibri" pitchFamily="34" charset="-122"/>
                <a:cs typeface="Calibri" pitchFamily="34" charset="-120"/>
              </a:rPr>
              <a:t>Until µm-per-pulse is measured, every position readout in LabVIEW is an assumption.</a:t>
            </a:r>
            <a:endParaRPr lang="en-US" sz="1250" dirty="0"/>
          </a:p>
          <a:p>
            <a:pPr marL="342900" indent="-342900">
              <a:lnSpc>
                <a:spcPts val="1600"/>
              </a:lnSpc>
              <a:spcAft>
                <a:spcPts val="500"/>
              </a:spcAft>
              <a:buSzPct val="100000"/>
              <a:buChar char="•"/>
            </a:pPr>
            <a:r>
              <a:rPr lang="en-US" sz="1250" dirty="0">
                <a:solidFill>
                  <a:srgbClr val="1A1633"/>
                </a:solidFill>
                <a:latin typeface="Calibri" pitchFamily="34" charset="0"/>
                <a:ea typeface="Calibri" pitchFamily="34" charset="-122"/>
                <a:cs typeface="Calibri" pitchFamily="34" charset="-120"/>
              </a:rPr>
              <a:t>The noise is the symptom worth chasing: whatever makes a stepper growl at 1 kHz is usually the same thing that makes it lose steps.</a:t>
            </a:r>
            <a:endParaRPr lang="en-US" sz="1250" dirty="0"/>
          </a:p>
        </p:txBody>
      </p:sp>
      <p:sp>
        <p:nvSpPr>
          <p:cNvPr id="20" name="Shape 18"/>
          <p:cNvSpPr/>
          <p:nvPr/>
        </p:nvSpPr>
        <p:spPr>
          <a:xfrm>
            <a:off x="7699248" y="3913632"/>
            <a:ext cx="3867912" cy="2331720"/>
          </a:xfrm>
          <a:prstGeom prst="roundRect">
            <a:avLst>
              <a:gd name="adj" fmla="val 2353"/>
            </a:avLst>
          </a:prstGeom>
          <a:solidFill>
            <a:srgbClr val="1A1633"/>
          </a:solidFill>
          <a:ln w="12700">
            <a:solidFill>
              <a:srgbClr val="1A1633"/>
            </a:solidFill>
            <a:prstDash val="solid"/>
          </a:ln>
        </p:spPr>
      </p:sp>
      <p:sp>
        <p:nvSpPr>
          <p:cNvPr id="21" name="Text 19"/>
          <p:cNvSpPr txBox="1"/>
          <p:nvPr/>
        </p:nvSpPr>
        <p:spPr>
          <a:xfrm>
            <a:off x="7973568" y="4096512"/>
            <a:ext cx="3200400" cy="274320"/>
          </a:xfrm>
          <a:prstGeom prst="rect">
            <a:avLst/>
          </a:prstGeom>
          <a:noFill/>
          <a:ln/>
        </p:spPr>
        <p:txBody>
          <a:bodyPr wrap="square" lIns="0" tIns="0" rIns="0" bIns="0" rtlCol="0" anchor="ctr"/>
          <a:lstStyle/>
          <a:p>
            <a:pPr indent="0" marL="0">
              <a:buNone/>
            </a:pPr>
            <a:r>
              <a:rPr lang="en-US" sz="1100" b="1" spc="140" kern="0" dirty="0">
                <a:solidFill>
                  <a:srgbClr val="D98A1F"/>
                </a:solidFill>
                <a:latin typeface="Calibri" pitchFamily="34" charset="0"/>
                <a:ea typeface="Calibri" pitchFamily="34" charset="-122"/>
                <a:cs typeface="Calibri" pitchFamily="34" charset="-120"/>
              </a:rPr>
              <a:t>TODAY'S ASK</a:t>
            </a:r>
            <a:endParaRPr lang="en-US" sz="1100" dirty="0"/>
          </a:p>
        </p:txBody>
      </p:sp>
      <p:sp>
        <p:nvSpPr>
          <p:cNvPr id="22" name="Text 20"/>
          <p:cNvSpPr txBox="1"/>
          <p:nvPr/>
        </p:nvSpPr>
        <p:spPr>
          <a:xfrm>
            <a:off x="7973568" y="4480560"/>
            <a:ext cx="3246120" cy="1645920"/>
          </a:xfrm>
          <a:prstGeom prst="rect">
            <a:avLst/>
          </a:prstGeom>
          <a:noFill/>
          <a:ln/>
        </p:spPr>
        <p:txBody>
          <a:bodyPr wrap="square" lIns="0" tIns="0" rIns="0" bIns="0" rtlCol="0" anchor="t"/>
          <a:lstStyle/>
          <a:p>
            <a:pPr marL="342900" indent="-342900">
              <a:lnSpc>
                <a:spcPts val="1700"/>
              </a:lnSpc>
              <a:spcAft>
                <a:spcPts val="1000"/>
              </a:spcAft>
              <a:buSzPct val="100000"/>
              <a:buChar char="•"/>
            </a:pPr>
            <a:r>
              <a:rPr lang="en-US" sz="1250" dirty="0">
                <a:solidFill>
                  <a:srgbClr val="DCD9EC"/>
                </a:solidFill>
                <a:latin typeface="Calibri" pitchFamily="34" charset="0"/>
                <a:ea typeface="Calibri" pitchFamily="34" charset="-122"/>
                <a:cs typeface="Calibri" pitchFamily="34" charset="-120"/>
              </a:rPr>
              <a:t>Pick verification Path A or Path B</a:t>
            </a:r>
            <a:endParaRPr lang="en-US" sz="1250" dirty="0"/>
          </a:p>
          <a:p>
            <a:pPr marL="342900" indent="-342900">
              <a:lnSpc>
                <a:spcPts val="1700"/>
              </a:lnSpc>
              <a:spcAft>
                <a:spcPts val="1000"/>
              </a:spcAft>
              <a:buSzPct val="100000"/>
              <a:buChar char="•"/>
            </a:pPr>
            <a:r>
              <a:rPr lang="en-US" sz="1250" dirty="0">
                <a:solidFill>
                  <a:srgbClr val="DCD9EC"/>
                </a:solidFill>
                <a:latin typeface="Calibri" pitchFamily="34" charset="0"/>
                <a:ea typeface="Calibri" pitchFamily="34" charset="-122"/>
                <a:cs typeface="Calibri" pitchFamily="34" charset="-120"/>
              </a:rPr>
              <a:t>Confirm what “reproduced” means</a:t>
            </a:r>
            <a:endParaRPr lang="en-US" sz="1250" dirty="0"/>
          </a:p>
          <a:p>
            <a:pPr marL="342900" indent="-342900">
              <a:lnSpc>
                <a:spcPts val="1700"/>
              </a:lnSpc>
              <a:spcAft>
                <a:spcPts val="1000"/>
              </a:spcAft>
              <a:buSzPct val="100000"/>
              <a:buChar char="•"/>
            </a:pPr>
            <a:r>
              <a:rPr lang="en-US" sz="1250" dirty="0">
                <a:solidFill>
                  <a:srgbClr val="DCD9EC"/>
                </a:solidFill>
                <a:latin typeface="Calibri" pitchFamily="34" charset="0"/>
                <a:ea typeface="Calibri" pitchFamily="34" charset="-122"/>
                <a:cs typeface="Calibri" pitchFamily="34" charset="-120"/>
              </a:rPr>
              <a:t>Answer 6 open settings questions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200" kern="0" dirty="0">
                <a:solidFill>
                  <a:srgbClr val="4C3FA6"/>
                </a:solidFill>
                <a:latin typeface="Calibri" pitchFamily="34" charset="0"/>
                <a:ea typeface="Calibri" pitchFamily="34" charset="-122"/>
                <a:cs typeface="Calibri" pitchFamily="34" charset="-120"/>
              </a:rPr>
              <a:t>REFERENCE SYSTEM</a:t>
            </a:r>
            <a:endParaRPr lang="en-US" sz="1100" dirty="0"/>
          </a:p>
        </p:txBody>
      </p:sp>
      <p:sp>
        <p:nvSpPr>
          <p:cNvPr id="3" name="Text 1"/>
          <p:cNvSpPr txBox="1"/>
          <p:nvPr/>
        </p:nvSpPr>
        <p:spPr>
          <a:xfrm>
            <a:off x="594360" y="640080"/>
            <a:ext cx="10972800" cy="658368"/>
          </a:xfrm>
          <a:prstGeom prst="rect">
            <a:avLst/>
          </a:prstGeom>
          <a:noFill/>
          <a:ln/>
        </p:spPr>
        <p:txBody>
          <a:bodyPr wrap="square" lIns="0" tIns="0" rIns="0" bIns="0" rtlCol="0" anchor="t"/>
          <a:lstStyle/>
          <a:p>
            <a:pPr indent="0" marL="0">
              <a:buNone/>
            </a:pPr>
            <a:r>
              <a:rPr lang="en-US" sz="3000" b="1" dirty="0">
                <a:solidFill>
                  <a:srgbClr val="1A1633"/>
                </a:solidFill>
                <a:latin typeface="Cambria" pitchFamily="34" charset="0"/>
                <a:ea typeface="Cambria" pitchFamily="34" charset="-122"/>
                <a:cs typeface="Cambria" pitchFamily="34" charset="-120"/>
              </a:rPr>
              <a:t>What “reproduced” looks like, in numbers</a:t>
            </a:r>
            <a:endParaRPr lang="en-US" sz="3000" dirty="0"/>
          </a:p>
        </p:txBody>
      </p:sp>
      <p:sp>
        <p:nvSpPr>
          <p:cNvPr id="4" name="Text 2"/>
          <p:cNvSpPr txBox="1"/>
          <p:nvPr/>
        </p:nvSpPr>
        <p:spPr>
          <a:xfrm>
            <a:off x="594360" y="1353312"/>
            <a:ext cx="10972800" cy="274320"/>
          </a:xfrm>
          <a:prstGeom prst="rect">
            <a:avLst/>
          </a:prstGeom>
          <a:noFill/>
          <a:ln/>
        </p:spPr>
        <p:txBody>
          <a:bodyPr wrap="square" lIns="0" tIns="0" rIns="0" bIns="0" rtlCol="0" anchor="ctr"/>
          <a:lstStyle/>
          <a:p>
            <a:pPr indent="0" marL="0">
              <a:buNone/>
            </a:pPr>
            <a:r>
              <a:rPr lang="en-US" sz="1150" i="1" dirty="0">
                <a:solidFill>
                  <a:srgbClr val="6B6880"/>
                </a:solidFill>
                <a:latin typeface="Calibri" pitchFamily="34" charset="0"/>
                <a:ea typeface="Calibri" pitchFamily="34" charset="-122"/>
                <a:cs typeface="Calibri" pitchFamily="34" charset="-120"/>
              </a:rPr>
              <a:t>Cao et al., “Optical-resolution parallel ultraviolet photoacoustic microscopy for slide-free histology,” Sci. Adv. 10, eado0518 (2024)</a:t>
            </a:r>
            <a:endParaRPr lang="en-US" sz="1150" dirty="0"/>
          </a:p>
        </p:txBody>
      </p:sp>
      <p:sp>
        <p:nvSpPr>
          <p:cNvPr id="5" name="Shape 3"/>
          <p:cNvSpPr/>
          <p:nvPr/>
        </p:nvSpPr>
        <p:spPr>
          <a:xfrm>
            <a:off x="594360" y="1783080"/>
            <a:ext cx="6812280" cy="384048"/>
          </a:xfrm>
          <a:prstGeom prst="rect">
            <a:avLst/>
          </a:prstGeom>
          <a:solidFill>
            <a:srgbClr val="F2F1F7"/>
          </a:solidFill>
          <a:ln w="12700">
            <a:solidFill>
              <a:srgbClr val="333333"/>
            </a:solidFill>
            <a:prstDash val="solid"/>
          </a:ln>
        </p:spPr>
      </p:sp>
      <p:sp>
        <p:nvSpPr>
          <p:cNvPr id="6" name="Text 4"/>
          <p:cNvSpPr txBox="1"/>
          <p:nvPr/>
        </p:nvSpPr>
        <p:spPr>
          <a:xfrm>
            <a:off x="740664" y="1783080"/>
            <a:ext cx="2057400" cy="384048"/>
          </a:xfrm>
          <a:prstGeom prst="rect">
            <a:avLst/>
          </a:prstGeom>
          <a:noFill/>
          <a:ln/>
        </p:spPr>
        <p:txBody>
          <a:bodyPr wrap="square" lIns="0" tIns="0" rIns="0" bIns="0" rtlCol="0" anchor="ctr"/>
          <a:lstStyle/>
          <a:p>
            <a:pPr indent="0" marL="0">
              <a:buNone/>
            </a:pPr>
            <a:r>
              <a:rPr lang="en-US" sz="1200" b="1" dirty="0">
                <a:solidFill>
                  <a:srgbClr val="4C3FA6"/>
                </a:solidFill>
                <a:latin typeface="Calibri" pitchFamily="34" charset="0"/>
                <a:ea typeface="Calibri" pitchFamily="34" charset="-122"/>
                <a:cs typeface="Calibri" pitchFamily="34" charset="-120"/>
              </a:rPr>
              <a:t>Excitation</a:t>
            </a:r>
            <a:endParaRPr lang="en-US" sz="1200" dirty="0"/>
          </a:p>
        </p:txBody>
      </p:sp>
      <p:sp>
        <p:nvSpPr>
          <p:cNvPr id="7" name="Text 5"/>
          <p:cNvSpPr txBox="1"/>
          <p:nvPr/>
        </p:nvSpPr>
        <p:spPr>
          <a:xfrm>
            <a:off x="2834640" y="1783080"/>
            <a:ext cx="4434840" cy="384048"/>
          </a:xfrm>
          <a:prstGeom prst="rect">
            <a:avLst/>
          </a:prstGeom>
          <a:noFill/>
          <a:ln/>
        </p:spPr>
        <p:txBody>
          <a:bodyPr wrap="square" lIns="0" tIns="0" rIns="0" bIns="0" rtlCol="0" anchor="ctr"/>
          <a:lstStyle/>
          <a:p>
            <a:pPr indent="0" marL="0">
              <a:buNone/>
            </a:pPr>
            <a:r>
              <a:rPr lang="en-US" sz="1200" dirty="0">
                <a:solidFill>
                  <a:srgbClr val="1A1633"/>
                </a:solidFill>
                <a:latin typeface="Calibri" pitchFamily="34" charset="0"/>
                <a:ea typeface="Calibri" pitchFamily="34" charset="-122"/>
                <a:cs typeface="Calibri" pitchFamily="34" charset="-120"/>
              </a:rPr>
              <a:t>266 nm, 50 kHz repetition rate</a:t>
            </a:r>
            <a:endParaRPr lang="en-US" sz="1200" dirty="0"/>
          </a:p>
        </p:txBody>
      </p:sp>
      <p:sp>
        <p:nvSpPr>
          <p:cNvPr id="8" name="Text 6"/>
          <p:cNvSpPr txBox="1"/>
          <p:nvPr/>
        </p:nvSpPr>
        <p:spPr>
          <a:xfrm>
            <a:off x="740664" y="2167128"/>
            <a:ext cx="2057400" cy="384048"/>
          </a:xfrm>
          <a:prstGeom prst="rect">
            <a:avLst/>
          </a:prstGeom>
          <a:noFill/>
          <a:ln/>
        </p:spPr>
        <p:txBody>
          <a:bodyPr wrap="square" lIns="0" tIns="0" rIns="0" bIns="0" rtlCol="0" anchor="ctr"/>
          <a:lstStyle/>
          <a:p>
            <a:pPr indent="0" marL="0">
              <a:buNone/>
            </a:pPr>
            <a:r>
              <a:rPr lang="en-US" sz="1200" b="1" dirty="0">
                <a:solidFill>
                  <a:srgbClr val="4C3FA6"/>
                </a:solidFill>
                <a:latin typeface="Calibri" pitchFamily="34" charset="0"/>
                <a:ea typeface="Calibri" pitchFamily="34" charset="-122"/>
                <a:cs typeface="Calibri" pitchFamily="34" charset="-120"/>
              </a:rPr>
              <a:t>Parallel foci</a:t>
            </a:r>
            <a:endParaRPr lang="en-US" sz="1200" dirty="0"/>
          </a:p>
        </p:txBody>
      </p:sp>
      <p:sp>
        <p:nvSpPr>
          <p:cNvPr id="9" name="Text 7"/>
          <p:cNvSpPr txBox="1"/>
          <p:nvPr/>
        </p:nvSpPr>
        <p:spPr>
          <a:xfrm>
            <a:off x="2834640" y="2167128"/>
            <a:ext cx="4434840" cy="384048"/>
          </a:xfrm>
          <a:prstGeom prst="rect">
            <a:avLst/>
          </a:prstGeom>
          <a:noFill/>
          <a:ln/>
        </p:spPr>
        <p:txBody>
          <a:bodyPr wrap="square" lIns="0" tIns="0" rIns="0" bIns="0" rtlCol="0" anchor="ctr"/>
          <a:lstStyle/>
          <a:p>
            <a:pPr indent="0" marL="0">
              <a:buNone/>
            </a:pPr>
            <a:r>
              <a:rPr lang="en-US" sz="1200" dirty="0">
                <a:solidFill>
                  <a:srgbClr val="1A1633"/>
                </a:solidFill>
                <a:latin typeface="Calibri" pitchFamily="34" charset="0"/>
                <a:ea typeface="Calibri" pitchFamily="34" charset="-122"/>
                <a:cs typeface="Calibri" pitchFamily="34" charset="-120"/>
              </a:rPr>
              <a:t>8 foci, 375 µm spacing (diffractive beam splitter)</a:t>
            </a:r>
            <a:endParaRPr lang="en-US" sz="1200" dirty="0"/>
          </a:p>
        </p:txBody>
      </p:sp>
      <p:sp>
        <p:nvSpPr>
          <p:cNvPr id="10" name="Shape 8"/>
          <p:cNvSpPr/>
          <p:nvPr/>
        </p:nvSpPr>
        <p:spPr>
          <a:xfrm>
            <a:off x="594360" y="2551176"/>
            <a:ext cx="6812280" cy="384048"/>
          </a:xfrm>
          <a:prstGeom prst="rect">
            <a:avLst/>
          </a:prstGeom>
          <a:solidFill>
            <a:srgbClr val="F2F1F7"/>
          </a:solidFill>
          <a:ln w="12700">
            <a:solidFill>
              <a:srgbClr val="333333"/>
            </a:solidFill>
            <a:prstDash val="solid"/>
          </a:ln>
        </p:spPr>
      </p:sp>
      <p:sp>
        <p:nvSpPr>
          <p:cNvPr id="11" name="Text 9"/>
          <p:cNvSpPr txBox="1"/>
          <p:nvPr/>
        </p:nvSpPr>
        <p:spPr>
          <a:xfrm>
            <a:off x="740664" y="2551176"/>
            <a:ext cx="2057400" cy="384048"/>
          </a:xfrm>
          <a:prstGeom prst="rect">
            <a:avLst/>
          </a:prstGeom>
          <a:noFill/>
          <a:ln/>
        </p:spPr>
        <p:txBody>
          <a:bodyPr wrap="square" lIns="0" tIns="0" rIns="0" bIns="0" rtlCol="0" anchor="ctr"/>
          <a:lstStyle/>
          <a:p>
            <a:pPr indent="0" marL="0">
              <a:buNone/>
            </a:pPr>
            <a:r>
              <a:rPr lang="en-US" sz="1200" b="1" dirty="0">
                <a:solidFill>
                  <a:srgbClr val="4C3FA6"/>
                </a:solidFill>
                <a:latin typeface="Calibri" pitchFamily="34" charset="0"/>
                <a:ea typeface="Calibri" pitchFamily="34" charset="-122"/>
                <a:cs typeface="Calibri" pitchFamily="34" charset="-120"/>
              </a:rPr>
              <a:t>Lateral resolution</a:t>
            </a:r>
            <a:endParaRPr lang="en-US" sz="1200" dirty="0"/>
          </a:p>
        </p:txBody>
      </p:sp>
      <p:sp>
        <p:nvSpPr>
          <p:cNvPr id="12" name="Text 10"/>
          <p:cNvSpPr txBox="1"/>
          <p:nvPr/>
        </p:nvSpPr>
        <p:spPr>
          <a:xfrm>
            <a:off x="2834640" y="2551176"/>
            <a:ext cx="4434840" cy="384048"/>
          </a:xfrm>
          <a:prstGeom prst="rect">
            <a:avLst/>
          </a:prstGeom>
          <a:noFill/>
          <a:ln/>
        </p:spPr>
        <p:txBody>
          <a:bodyPr wrap="square" lIns="0" tIns="0" rIns="0" bIns="0" rtlCol="0" anchor="ctr"/>
          <a:lstStyle/>
          <a:p>
            <a:pPr indent="0" marL="0">
              <a:buNone/>
            </a:pPr>
            <a:r>
              <a:rPr lang="en-US" sz="1200" dirty="0">
                <a:solidFill>
                  <a:srgbClr val="1A1633"/>
                </a:solidFill>
                <a:latin typeface="Calibri" pitchFamily="34" charset="0"/>
                <a:ea typeface="Calibri" pitchFamily="34" charset="-122"/>
                <a:cs typeface="Calibri" pitchFamily="34" charset="-120"/>
              </a:rPr>
              <a:t>1.3 µm</a:t>
            </a:r>
            <a:endParaRPr lang="en-US" sz="1200" dirty="0"/>
          </a:p>
        </p:txBody>
      </p:sp>
      <p:sp>
        <p:nvSpPr>
          <p:cNvPr id="13" name="Text 11"/>
          <p:cNvSpPr txBox="1"/>
          <p:nvPr/>
        </p:nvSpPr>
        <p:spPr>
          <a:xfrm>
            <a:off x="740664" y="2935224"/>
            <a:ext cx="2057400" cy="384048"/>
          </a:xfrm>
          <a:prstGeom prst="rect">
            <a:avLst/>
          </a:prstGeom>
          <a:noFill/>
          <a:ln/>
        </p:spPr>
        <p:txBody>
          <a:bodyPr wrap="square" lIns="0" tIns="0" rIns="0" bIns="0" rtlCol="0" anchor="ctr"/>
          <a:lstStyle/>
          <a:p>
            <a:pPr indent="0" marL="0">
              <a:buNone/>
            </a:pPr>
            <a:r>
              <a:rPr lang="en-US" sz="1200" b="1" dirty="0">
                <a:solidFill>
                  <a:srgbClr val="4C3FA6"/>
                </a:solidFill>
                <a:latin typeface="Calibri" pitchFamily="34" charset="0"/>
                <a:ea typeface="Calibri" pitchFamily="34" charset="-122"/>
                <a:cs typeface="Calibri" pitchFamily="34" charset="-120"/>
              </a:rPr>
              <a:t>Scanning step size</a:t>
            </a:r>
            <a:endParaRPr lang="en-US" sz="1200" dirty="0"/>
          </a:p>
        </p:txBody>
      </p:sp>
      <p:sp>
        <p:nvSpPr>
          <p:cNvPr id="14" name="Text 12"/>
          <p:cNvSpPr txBox="1"/>
          <p:nvPr/>
        </p:nvSpPr>
        <p:spPr>
          <a:xfrm>
            <a:off x="2834640" y="2935224"/>
            <a:ext cx="4434840" cy="384048"/>
          </a:xfrm>
          <a:prstGeom prst="rect">
            <a:avLst/>
          </a:prstGeom>
          <a:noFill/>
          <a:ln/>
        </p:spPr>
        <p:txBody>
          <a:bodyPr wrap="square" lIns="0" tIns="0" rIns="0" bIns="0" rtlCol="0" anchor="ctr"/>
          <a:lstStyle/>
          <a:p>
            <a:pPr indent="0" marL="0">
              <a:buNone/>
            </a:pPr>
            <a:r>
              <a:rPr lang="en-US" sz="1200" dirty="0">
                <a:solidFill>
                  <a:srgbClr val="1A1633"/>
                </a:solidFill>
                <a:latin typeface="Calibri" pitchFamily="34" charset="0"/>
                <a:ea typeface="Calibri" pitchFamily="34" charset="-122"/>
                <a:cs typeface="Calibri" pitchFamily="34" charset="-120"/>
              </a:rPr>
              <a:t>1 µm</a:t>
            </a:r>
            <a:endParaRPr lang="en-US" sz="1200" dirty="0"/>
          </a:p>
        </p:txBody>
      </p:sp>
      <p:sp>
        <p:nvSpPr>
          <p:cNvPr id="15" name="Shape 13"/>
          <p:cNvSpPr/>
          <p:nvPr/>
        </p:nvSpPr>
        <p:spPr>
          <a:xfrm>
            <a:off x="594360" y="3319272"/>
            <a:ext cx="6812280" cy="384048"/>
          </a:xfrm>
          <a:prstGeom prst="rect">
            <a:avLst/>
          </a:prstGeom>
          <a:solidFill>
            <a:srgbClr val="F2F1F7"/>
          </a:solidFill>
          <a:ln w="12700">
            <a:solidFill>
              <a:srgbClr val="333333"/>
            </a:solidFill>
            <a:prstDash val="solid"/>
          </a:ln>
        </p:spPr>
      </p:sp>
      <p:sp>
        <p:nvSpPr>
          <p:cNvPr id="16" name="Text 14"/>
          <p:cNvSpPr txBox="1"/>
          <p:nvPr/>
        </p:nvSpPr>
        <p:spPr>
          <a:xfrm>
            <a:off x="740664" y="3319272"/>
            <a:ext cx="2057400" cy="384048"/>
          </a:xfrm>
          <a:prstGeom prst="rect">
            <a:avLst/>
          </a:prstGeom>
          <a:noFill/>
          <a:ln/>
        </p:spPr>
        <p:txBody>
          <a:bodyPr wrap="square" lIns="0" tIns="0" rIns="0" bIns="0" rtlCol="0" anchor="ctr"/>
          <a:lstStyle/>
          <a:p>
            <a:pPr indent="0" marL="0">
              <a:buNone/>
            </a:pPr>
            <a:r>
              <a:rPr lang="en-US" sz="1200" b="1" dirty="0">
                <a:solidFill>
                  <a:srgbClr val="4C3FA6"/>
                </a:solidFill>
                <a:latin typeface="Calibri" pitchFamily="34" charset="0"/>
                <a:ea typeface="Calibri" pitchFamily="34" charset="-122"/>
                <a:cs typeface="Calibri" pitchFamily="34" charset="-120"/>
              </a:rPr>
              <a:t>Fast axis</a:t>
            </a:r>
            <a:endParaRPr lang="en-US" sz="1200" dirty="0"/>
          </a:p>
        </p:txBody>
      </p:sp>
      <p:sp>
        <p:nvSpPr>
          <p:cNvPr id="17" name="Text 15"/>
          <p:cNvSpPr txBox="1"/>
          <p:nvPr/>
        </p:nvSpPr>
        <p:spPr>
          <a:xfrm>
            <a:off x="2834640" y="3319272"/>
            <a:ext cx="4434840" cy="384048"/>
          </a:xfrm>
          <a:prstGeom prst="rect">
            <a:avLst/>
          </a:prstGeom>
          <a:noFill/>
          <a:ln/>
        </p:spPr>
        <p:txBody>
          <a:bodyPr wrap="square" lIns="0" tIns="0" rIns="0" bIns="0" rtlCol="0" anchor="ctr"/>
          <a:lstStyle/>
          <a:p>
            <a:pPr indent="0" marL="0">
              <a:buNone/>
            </a:pPr>
            <a:r>
              <a:rPr lang="en-US" sz="1200" dirty="0">
                <a:solidFill>
                  <a:srgbClr val="1A1633"/>
                </a:solidFill>
                <a:latin typeface="Calibri" pitchFamily="34" charset="0"/>
                <a:ea typeface="Calibri" pitchFamily="34" charset="-122"/>
                <a:cs typeface="Calibri" pitchFamily="34" charset="-120"/>
              </a:rPr>
              <a:t>2D galvo (GVS412) — scans all 8 foci together</a:t>
            </a:r>
            <a:endParaRPr lang="en-US" sz="1200" dirty="0"/>
          </a:p>
        </p:txBody>
      </p:sp>
      <p:sp>
        <p:nvSpPr>
          <p:cNvPr id="18" name="Text 16"/>
          <p:cNvSpPr txBox="1"/>
          <p:nvPr/>
        </p:nvSpPr>
        <p:spPr>
          <a:xfrm>
            <a:off x="740664" y="3703320"/>
            <a:ext cx="2057400" cy="384048"/>
          </a:xfrm>
          <a:prstGeom prst="rect">
            <a:avLst/>
          </a:prstGeom>
          <a:noFill/>
          <a:ln/>
        </p:spPr>
        <p:txBody>
          <a:bodyPr wrap="square" lIns="0" tIns="0" rIns="0" bIns="0" rtlCol="0" anchor="ctr"/>
          <a:lstStyle/>
          <a:p>
            <a:pPr indent="0" marL="0">
              <a:buNone/>
            </a:pPr>
            <a:r>
              <a:rPr lang="en-US" sz="1200" b="1" dirty="0">
                <a:solidFill>
                  <a:srgbClr val="4C3FA6"/>
                </a:solidFill>
                <a:latin typeface="Calibri" pitchFamily="34" charset="0"/>
                <a:ea typeface="Calibri" pitchFamily="34" charset="-122"/>
                <a:cs typeface="Calibri" pitchFamily="34" charset="-120"/>
              </a:rPr>
              <a:t>Slow axis</a:t>
            </a:r>
            <a:endParaRPr lang="en-US" sz="1200" dirty="0"/>
          </a:p>
        </p:txBody>
      </p:sp>
      <p:sp>
        <p:nvSpPr>
          <p:cNvPr id="19" name="Text 17"/>
          <p:cNvSpPr txBox="1"/>
          <p:nvPr/>
        </p:nvSpPr>
        <p:spPr>
          <a:xfrm>
            <a:off x="2834640" y="3703320"/>
            <a:ext cx="4434840" cy="384048"/>
          </a:xfrm>
          <a:prstGeom prst="rect">
            <a:avLst/>
          </a:prstGeom>
          <a:noFill/>
          <a:ln/>
        </p:spPr>
        <p:txBody>
          <a:bodyPr wrap="square" lIns="0" tIns="0" rIns="0" bIns="0" rtlCol="0" anchor="ctr"/>
          <a:lstStyle/>
          <a:p>
            <a:pPr indent="0" marL="0">
              <a:buNone/>
            </a:pPr>
            <a:r>
              <a:rPr lang="en-US" sz="1200" dirty="0">
                <a:solidFill>
                  <a:srgbClr val="1A1633"/>
                </a:solidFill>
                <a:latin typeface="Calibri" pitchFamily="34" charset="0"/>
                <a:ea typeface="Calibri" pitchFamily="34" charset="-122"/>
                <a:cs typeface="Calibri" pitchFamily="34" charset="-120"/>
              </a:rPr>
              <a:t>step motor (PLS-85), up to 10 mm/s</a:t>
            </a:r>
            <a:endParaRPr lang="en-US" sz="1200" dirty="0"/>
          </a:p>
        </p:txBody>
      </p:sp>
      <p:sp>
        <p:nvSpPr>
          <p:cNvPr id="20" name="Shape 18"/>
          <p:cNvSpPr/>
          <p:nvPr/>
        </p:nvSpPr>
        <p:spPr>
          <a:xfrm>
            <a:off x="594360" y="4087368"/>
            <a:ext cx="6812280" cy="384048"/>
          </a:xfrm>
          <a:prstGeom prst="rect">
            <a:avLst/>
          </a:prstGeom>
          <a:solidFill>
            <a:srgbClr val="F2F1F7"/>
          </a:solidFill>
          <a:ln w="12700">
            <a:solidFill>
              <a:srgbClr val="333333"/>
            </a:solidFill>
            <a:prstDash val="solid"/>
          </a:ln>
        </p:spPr>
      </p:sp>
      <p:sp>
        <p:nvSpPr>
          <p:cNvPr id="21" name="Text 19"/>
          <p:cNvSpPr txBox="1"/>
          <p:nvPr/>
        </p:nvSpPr>
        <p:spPr>
          <a:xfrm>
            <a:off x="740664" y="4087368"/>
            <a:ext cx="2057400" cy="384048"/>
          </a:xfrm>
          <a:prstGeom prst="rect">
            <a:avLst/>
          </a:prstGeom>
          <a:noFill/>
          <a:ln/>
        </p:spPr>
        <p:txBody>
          <a:bodyPr wrap="square" lIns="0" tIns="0" rIns="0" bIns="0" rtlCol="0" anchor="ctr"/>
          <a:lstStyle/>
          <a:p>
            <a:pPr indent="0" marL="0">
              <a:buNone/>
            </a:pPr>
            <a:r>
              <a:rPr lang="en-US" sz="1200" b="1" dirty="0">
                <a:solidFill>
                  <a:srgbClr val="4C3FA6"/>
                </a:solidFill>
                <a:latin typeface="Calibri" pitchFamily="34" charset="0"/>
                <a:ea typeface="Calibri" pitchFamily="34" charset="-122"/>
                <a:cs typeface="Calibri" pitchFamily="34" charset="-120"/>
              </a:rPr>
              <a:t>Detection</a:t>
            </a:r>
            <a:endParaRPr lang="en-US" sz="1200" dirty="0"/>
          </a:p>
        </p:txBody>
      </p:sp>
      <p:sp>
        <p:nvSpPr>
          <p:cNvPr id="22" name="Text 20"/>
          <p:cNvSpPr txBox="1"/>
          <p:nvPr/>
        </p:nvSpPr>
        <p:spPr>
          <a:xfrm>
            <a:off x="2834640" y="4087368"/>
            <a:ext cx="4434840" cy="384048"/>
          </a:xfrm>
          <a:prstGeom prst="rect">
            <a:avLst/>
          </a:prstGeom>
          <a:noFill/>
          <a:ln/>
        </p:spPr>
        <p:txBody>
          <a:bodyPr wrap="square" lIns="0" tIns="0" rIns="0" bIns="0" rtlCol="0" anchor="ctr"/>
          <a:lstStyle/>
          <a:p>
            <a:pPr indent="0" marL="0">
              <a:buNone/>
            </a:pPr>
            <a:r>
              <a:rPr lang="en-US" sz="1200" dirty="0">
                <a:solidFill>
                  <a:srgbClr val="1A1633"/>
                </a:solidFill>
                <a:latin typeface="Calibri" pitchFamily="34" charset="0"/>
                <a:ea typeface="Calibri" pitchFamily="34" charset="-122"/>
                <a:cs typeface="Calibri" pitchFamily="34" charset="-120"/>
              </a:rPr>
              <a:t>2 × focused single-element transducers, 34.1 MHz</a:t>
            </a:r>
            <a:endParaRPr lang="en-US" sz="1200" dirty="0"/>
          </a:p>
        </p:txBody>
      </p:sp>
      <p:sp>
        <p:nvSpPr>
          <p:cNvPr id="23" name="Text 21"/>
          <p:cNvSpPr txBox="1"/>
          <p:nvPr/>
        </p:nvSpPr>
        <p:spPr>
          <a:xfrm>
            <a:off x="740664" y="4471416"/>
            <a:ext cx="2057400" cy="384048"/>
          </a:xfrm>
          <a:prstGeom prst="rect">
            <a:avLst/>
          </a:prstGeom>
          <a:noFill/>
          <a:ln/>
        </p:spPr>
        <p:txBody>
          <a:bodyPr wrap="square" lIns="0" tIns="0" rIns="0" bIns="0" rtlCol="0" anchor="ctr"/>
          <a:lstStyle/>
          <a:p>
            <a:pPr indent="0" marL="0">
              <a:buNone/>
            </a:pPr>
            <a:r>
              <a:rPr lang="en-US" sz="1200" b="1" dirty="0">
                <a:solidFill>
                  <a:srgbClr val="4C3FA6"/>
                </a:solidFill>
                <a:latin typeface="Calibri" pitchFamily="34" charset="0"/>
                <a:ea typeface="Calibri" pitchFamily="34" charset="-122"/>
                <a:cs typeface="Calibri" pitchFamily="34" charset="-120"/>
              </a:rPr>
              <a:t>Digitizer</a:t>
            </a:r>
            <a:endParaRPr lang="en-US" sz="1200" dirty="0"/>
          </a:p>
        </p:txBody>
      </p:sp>
      <p:sp>
        <p:nvSpPr>
          <p:cNvPr id="24" name="Text 22"/>
          <p:cNvSpPr txBox="1"/>
          <p:nvPr/>
        </p:nvSpPr>
        <p:spPr>
          <a:xfrm>
            <a:off x="2834640" y="4471416"/>
            <a:ext cx="4434840" cy="384048"/>
          </a:xfrm>
          <a:prstGeom prst="rect">
            <a:avLst/>
          </a:prstGeom>
          <a:noFill/>
          <a:ln/>
        </p:spPr>
        <p:txBody>
          <a:bodyPr wrap="square" lIns="0" tIns="0" rIns="0" bIns="0" rtlCol="0" anchor="ctr"/>
          <a:lstStyle/>
          <a:p>
            <a:pPr indent="0" marL="0">
              <a:buNone/>
            </a:pPr>
            <a:r>
              <a:rPr lang="en-US" sz="1200" dirty="0">
                <a:solidFill>
                  <a:srgbClr val="1A1633"/>
                </a:solidFill>
                <a:latin typeface="Calibri" pitchFamily="34" charset="0"/>
                <a:ea typeface="Calibri" pitchFamily="34" charset="-122"/>
                <a:cs typeface="Calibri" pitchFamily="34" charset="-120"/>
              </a:rPr>
              <a:t>AlazarTech ATS9350, 500 MS/s</a:t>
            </a:r>
            <a:endParaRPr lang="en-US" sz="1200" dirty="0"/>
          </a:p>
        </p:txBody>
      </p:sp>
      <p:sp>
        <p:nvSpPr>
          <p:cNvPr id="25" name="Shape 23"/>
          <p:cNvSpPr/>
          <p:nvPr/>
        </p:nvSpPr>
        <p:spPr>
          <a:xfrm>
            <a:off x="594360" y="4855464"/>
            <a:ext cx="6812280" cy="384048"/>
          </a:xfrm>
          <a:prstGeom prst="rect">
            <a:avLst/>
          </a:prstGeom>
          <a:solidFill>
            <a:srgbClr val="F2F1F7"/>
          </a:solidFill>
          <a:ln w="12700">
            <a:solidFill>
              <a:srgbClr val="333333"/>
            </a:solidFill>
            <a:prstDash val="solid"/>
          </a:ln>
        </p:spPr>
      </p:sp>
      <p:sp>
        <p:nvSpPr>
          <p:cNvPr id="26" name="Text 24"/>
          <p:cNvSpPr txBox="1"/>
          <p:nvPr/>
        </p:nvSpPr>
        <p:spPr>
          <a:xfrm>
            <a:off x="740664" y="4855464"/>
            <a:ext cx="2057400" cy="384048"/>
          </a:xfrm>
          <a:prstGeom prst="rect">
            <a:avLst/>
          </a:prstGeom>
          <a:noFill/>
          <a:ln/>
        </p:spPr>
        <p:txBody>
          <a:bodyPr wrap="square" lIns="0" tIns="0" rIns="0" bIns="0" rtlCol="0" anchor="ctr"/>
          <a:lstStyle/>
          <a:p>
            <a:pPr indent="0" marL="0">
              <a:buNone/>
            </a:pPr>
            <a:r>
              <a:rPr lang="en-US" sz="1200" b="1" dirty="0">
                <a:solidFill>
                  <a:srgbClr val="4C3FA6"/>
                </a:solidFill>
                <a:latin typeface="Calibri" pitchFamily="34" charset="0"/>
                <a:ea typeface="Calibri" pitchFamily="34" charset="-122"/>
                <a:cs typeface="Calibri" pitchFamily="34" charset="-120"/>
              </a:rPr>
              <a:t>Control</a:t>
            </a:r>
            <a:endParaRPr lang="en-US" sz="1200" dirty="0"/>
          </a:p>
        </p:txBody>
      </p:sp>
      <p:sp>
        <p:nvSpPr>
          <p:cNvPr id="27" name="Text 25"/>
          <p:cNvSpPr txBox="1"/>
          <p:nvPr/>
        </p:nvSpPr>
        <p:spPr>
          <a:xfrm>
            <a:off x="2834640" y="4855464"/>
            <a:ext cx="4434840" cy="384048"/>
          </a:xfrm>
          <a:prstGeom prst="rect">
            <a:avLst/>
          </a:prstGeom>
          <a:noFill/>
          <a:ln/>
        </p:spPr>
        <p:txBody>
          <a:bodyPr wrap="square" lIns="0" tIns="0" rIns="0" bIns="0" rtlCol="0" anchor="ctr"/>
          <a:lstStyle/>
          <a:p>
            <a:pPr indent="0" marL="0">
              <a:buNone/>
            </a:pPr>
            <a:r>
              <a:rPr lang="en-US" sz="1200" dirty="0">
                <a:solidFill>
                  <a:srgbClr val="1A1633"/>
                </a:solidFill>
                <a:latin typeface="Calibri" pitchFamily="34" charset="0"/>
                <a:ea typeface="Calibri" pitchFamily="34" charset="-122"/>
                <a:cs typeface="Calibri" pitchFamily="34" charset="-120"/>
              </a:rPr>
              <a:t>NI PCIe-6323 + custom LabVIEW</a:t>
            </a:r>
            <a:endParaRPr lang="en-US" sz="1200" dirty="0"/>
          </a:p>
        </p:txBody>
      </p:sp>
      <p:sp>
        <p:nvSpPr>
          <p:cNvPr id="28" name="Text 26"/>
          <p:cNvSpPr txBox="1"/>
          <p:nvPr/>
        </p:nvSpPr>
        <p:spPr>
          <a:xfrm>
            <a:off x="740664" y="5239512"/>
            <a:ext cx="2057400" cy="384048"/>
          </a:xfrm>
          <a:prstGeom prst="rect">
            <a:avLst/>
          </a:prstGeom>
          <a:noFill/>
          <a:ln/>
        </p:spPr>
        <p:txBody>
          <a:bodyPr wrap="square" lIns="0" tIns="0" rIns="0" bIns="0" rtlCol="0" anchor="ctr"/>
          <a:lstStyle/>
          <a:p>
            <a:pPr indent="0" marL="0">
              <a:buNone/>
            </a:pPr>
            <a:r>
              <a:rPr lang="en-US" sz="1200" b="1" dirty="0">
                <a:solidFill>
                  <a:srgbClr val="4C3FA6"/>
                </a:solidFill>
                <a:latin typeface="Calibri" pitchFamily="34" charset="0"/>
                <a:ea typeface="Calibri" pitchFamily="34" charset="-122"/>
                <a:cs typeface="Calibri" pitchFamily="34" charset="-120"/>
              </a:rPr>
              <a:t>Throughput</a:t>
            </a:r>
            <a:endParaRPr lang="en-US" sz="1200" dirty="0"/>
          </a:p>
        </p:txBody>
      </p:sp>
      <p:sp>
        <p:nvSpPr>
          <p:cNvPr id="29" name="Text 27"/>
          <p:cNvSpPr txBox="1"/>
          <p:nvPr/>
        </p:nvSpPr>
        <p:spPr>
          <a:xfrm>
            <a:off x="2834640" y="5239512"/>
            <a:ext cx="4434840" cy="384048"/>
          </a:xfrm>
          <a:prstGeom prst="rect">
            <a:avLst/>
          </a:prstGeom>
          <a:noFill/>
          <a:ln/>
        </p:spPr>
        <p:txBody>
          <a:bodyPr wrap="square" lIns="0" tIns="0" rIns="0" bIns="0" rtlCol="0" anchor="ctr"/>
          <a:lstStyle/>
          <a:p>
            <a:pPr indent="0" marL="0">
              <a:buNone/>
            </a:pPr>
            <a:r>
              <a:rPr lang="en-US" sz="1200" dirty="0">
                <a:solidFill>
                  <a:srgbClr val="1A1633"/>
                </a:solidFill>
                <a:latin typeface="Calibri" pitchFamily="34" charset="0"/>
                <a:ea typeface="Calibri" pitchFamily="34" charset="-122"/>
                <a:cs typeface="Calibri" pitchFamily="34" charset="-120"/>
              </a:rPr>
              <a:t>0.4 mm²/s = 400k pixels/s = 4.2 min per cm²</a:t>
            </a:r>
            <a:endParaRPr lang="en-US" sz="1200" dirty="0"/>
          </a:p>
        </p:txBody>
      </p:sp>
      <p:sp>
        <p:nvSpPr>
          <p:cNvPr id="30" name="Shape 28"/>
          <p:cNvSpPr/>
          <p:nvPr/>
        </p:nvSpPr>
        <p:spPr>
          <a:xfrm>
            <a:off x="7635240" y="1783080"/>
            <a:ext cx="3931920" cy="1874520"/>
          </a:xfrm>
          <a:prstGeom prst="roundRect">
            <a:avLst>
              <a:gd name="adj" fmla="val 2927"/>
            </a:avLst>
          </a:prstGeom>
          <a:solidFill>
            <a:srgbClr val="1A1633"/>
          </a:solidFill>
          <a:ln w="12700">
            <a:solidFill>
              <a:srgbClr val="1A1633"/>
            </a:solidFill>
            <a:prstDash val="solid"/>
          </a:ln>
        </p:spPr>
      </p:sp>
      <p:sp>
        <p:nvSpPr>
          <p:cNvPr id="31" name="Text 29"/>
          <p:cNvSpPr txBox="1"/>
          <p:nvPr/>
        </p:nvSpPr>
        <p:spPr>
          <a:xfrm>
            <a:off x="7882128" y="1956816"/>
            <a:ext cx="3200400" cy="256032"/>
          </a:xfrm>
          <a:prstGeom prst="rect">
            <a:avLst/>
          </a:prstGeom>
          <a:noFill/>
          <a:ln/>
        </p:spPr>
        <p:txBody>
          <a:bodyPr wrap="square" lIns="0" tIns="0" rIns="0" bIns="0" rtlCol="0" anchor="ctr"/>
          <a:lstStyle/>
          <a:p>
            <a:pPr indent="0" marL="0">
              <a:buNone/>
            </a:pPr>
            <a:r>
              <a:rPr lang="en-US" sz="1000" b="1" spc="120" kern="0" dirty="0">
                <a:solidFill>
                  <a:srgbClr val="D98A1F"/>
                </a:solidFill>
                <a:latin typeface="Calibri" pitchFamily="34" charset="0"/>
                <a:ea typeface="Calibri" pitchFamily="34" charset="-122"/>
                <a:cs typeface="Calibri" pitchFamily="34" charset="-120"/>
              </a:rPr>
              <a:t>A NUMBER THAT AFFECTS US TODAY</a:t>
            </a:r>
            <a:endParaRPr lang="en-US" sz="1000" dirty="0"/>
          </a:p>
        </p:txBody>
      </p:sp>
      <p:sp>
        <p:nvSpPr>
          <p:cNvPr id="32" name="Text 30"/>
          <p:cNvSpPr txBox="1"/>
          <p:nvPr/>
        </p:nvSpPr>
        <p:spPr>
          <a:xfrm>
            <a:off x="7882128" y="2212848"/>
            <a:ext cx="3200400" cy="4572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5 mm/s</a:t>
            </a:r>
            <a:endParaRPr lang="en-US" sz="3000" dirty="0"/>
          </a:p>
        </p:txBody>
      </p:sp>
      <p:sp>
        <p:nvSpPr>
          <p:cNvPr id="33" name="Text 31"/>
          <p:cNvSpPr txBox="1"/>
          <p:nvPr/>
        </p:nvSpPr>
        <p:spPr>
          <a:xfrm>
            <a:off x="7882128" y="2697480"/>
            <a:ext cx="3246120" cy="868680"/>
          </a:xfrm>
          <a:prstGeom prst="rect">
            <a:avLst/>
          </a:prstGeom>
          <a:noFill/>
          <a:ln/>
        </p:spPr>
        <p:txBody>
          <a:bodyPr wrap="square" lIns="0" tIns="0" rIns="0" bIns="0" rtlCol="0" anchor="ctr"/>
          <a:lstStyle/>
          <a:p>
            <a:pPr indent="0" marL="0">
              <a:lnSpc>
                <a:spcPts val="1500"/>
              </a:lnSpc>
              <a:buNone/>
            </a:pPr>
            <a:r>
              <a:rPr lang="en-US" sz="1150" dirty="0">
                <a:solidFill>
                  <a:srgbClr val="CFCBE4"/>
                </a:solidFill>
                <a:latin typeface="Calibri" pitchFamily="34" charset="0"/>
                <a:ea typeface="Calibri" pitchFamily="34" charset="-122"/>
                <a:cs typeface="Calibri" pitchFamily="34" charset="-120"/>
              </a:rPr>
              <a:t>is all we get at 1 kHz × 5 µm — half the reference slow-axis speed. If 10 mm/s is the target, the pulse rate has to go up, which makes pulse timing quality matter even more.</a:t>
            </a:r>
            <a:endParaRPr lang="en-US" sz="1150" dirty="0"/>
          </a:p>
        </p:txBody>
      </p:sp>
      <p:sp>
        <p:nvSpPr>
          <p:cNvPr id="34" name="Shape 32"/>
          <p:cNvSpPr/>
          <p:nvPr/>
        </p:nvSpPr>
        <p:spPr>
          <a:xfrm>
            <a:off x="7635240" y="3858768"/>
            <a:ext cx="3931920" cy="1828800"/>
          </a:xfrm>
          <a:prstGeom prst="roundRect">
            <a:avLst>
              <a:gd name="adj" fmla="val 3000"/>
            </a:avLst>
          </a:prstGeom>
          <a:solidFill>
            <a:srgbClr val="FFFFFF"/>
          </a:solidFill>
          <a:ln w="12700">
            <a:solidFill>
              <a:srgbClr val="D6D3E4"/>
            </a:solidFill>
            <a:prstDash val="solid"/>
          </a:ln>
        </p:spPr>
      </p:sp>
      <p:sp>
        <p:nvSpPr>
          <p:cNvPr id="35" name="Text 33"/>
          <p:cNvSpPr txBox="1"/>
          <p:nvPr/>
        </p:nvSpPr>
        <p:spPr>
          <a:xfrm>
            <a:off x="7882128" y="4023360"/>
            <a:ext cx="3246120" cy="274320"/>
          </a:xfrm>
          <a:prstGeom prst="rect">
            <a:avLst/>
          </a:prstGeom>
          <a:noFill/>
          <a:ln/>
        </p:spPr>
        <p:txBody>
          <a:bodyPr wrap="square" lIns="0" tIns="0" rIns="0" bIns="0" rtlCol="0" anchor="ctr"/>
          <a:lstStyle/>
          <a:p>
            <a:pPr indent="0" marL="0">
              <a:buNone/>
            </a:pPr>
            <a:r>
              <a:rPr lang="en-US" sz="1100" b="1" spc="100" kern="0" dirty="0">
                <a:solidFill>
                  <a:srgbClr val="4C3FA6"/>
                </a:solidFill>
                <a:latin typeface="Calibri" pitchFamily="34" charset="0"/>
                <a:ea typeface="Calibri" pitchFamily="34" charset="-122"/>
                <a:cs typeface="Calibri" pitchFamily="34" charset="-120"/>
              </a:rPr>
              <a:t>Two candidate finish lines</a:t>
            </a:r>
            <a:endParaRPr lang="en-US" sz="1100" dirty="0"/>
          </a:p>
        </p:txBody>
      </p:sp>
      <p:sp>
        <p:nvSpPr>
          <p:cNvPr id="36" name="Text 34"/>
          <p:cNvSpPr txBox="1"/>
          <p:nvPr/>
        </p:nvSpPr>
        <p:spPr>
          <a:xfrm>
            <a:off x="7882128" y="4315968"/>
            <a:ext cx="3291840" cy="123444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1A1633"/>
                </a:solidFill>
                <a:latin typeface="Calibri" pitchFamily="34" charset="0"/>
                <a:ea typeface="Calibri" pitchFamily="34" charset="-122"/>
                <a:cs typeface="Calibri" pitchFamily="34" charset="-120"/>
              </a:rPr>
              <a:t>Minimum: 3 axes calibrated + galvo scanning + a triggered PA signal</a:t>
            </a:r>
            <a:endParaRPr lang="en-US" sz="1150" dirty="0"/>
          </a:p>
          <a:p>
            <a:pPr marL="342900" indent="-342900">
              <a:lnSpc>
                <a:spcPts val="1500"/>
              </a:lnSpc>
              <a:spcAft>
                <a:spcPts val="800"/>
              </a:spcAft>
              <a:buSzPct val="100000"/>
              <a:buChar char="•"/>
            </a:pPr>
            <a:r>
              <a:rPr lang="en-US" sz="1150" dirty="0">
                <a:solidFill>
                  <a:srgbClr val="1A1633"/>
                </a:solidFill>
                <a:latin typeface="Calibri" pitchFamily="34" charset="0"/>
                <a:ea typeface="Calibri" pitchFamily="34" charset="-122"/>
                <a:cs typeface="Calibri" pitchFamily="34" charset="-120"/>
              </a:rPr>
              <a:t>Full: a 2D MAP image of a phantom or tissue at comparable resolution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200" kern="0" dirty="0">
                <a:solidFill>
                  <a:srgbClr val="4C3FA6"/>
                </a:solidFill>
                <a:latin typeface="Calibri" pitchFamily="34" charset="0"/>
                <a:ea typeface="Calibri" pitchFamily="34" charset="-122"/>
                <a:cs typeface="Calibri" pitchFamily="34" charset="-120"/>
              </a:rPr>
              <a:t>OUR SYSTEM · CONTROL</a:t>
            </a:r>
            <a:endParaRPr lang="en-US" sz="1100" dirty="0"/>
          </a:p>
        </p:txBody>
      </p:sp>
      <p:sp>
        <p:nvSpPr>
          <p:cNvPr id="3" name="Text 1"/>
          <p:cNvSpPr txBox="1"/>
          <p:nvPr/>
        </p:nvSpPr>
        <p:spPr>
          <a:xfrm>
            <a:off x="594360" y="640080"/>
            <a:ext cx="10972800" cy="658368"/>
          </a:xfrm>
          <a:prstGeom prst="rect">
            <a:avLst/>
          </a:prstGeom>
          <a:noFill/>
          <a:ln/>
        </p:spPr>
        <p:txBody>
          <a:bodyPr wrap="square" lIns="0" tIns="0" rIns="0" bIns="0" rtlCol="0" anchor="t"/>
          <a:lstStyle/>
          <a:p>
            <a:pPr indent="0" marL="0">
              <a:buNone/>
            </a:pPr>
            <a:r>
              <a:rPr lang="en-US" sz="3000" b="1" dirty="0">
                <a:solidFill>
                  <a:srgbClr val="1A1633"/>
                </a:solidFill>
                <a:latin typeface="Cambria" pitchFamily="34" charset="0"/>
                <a:ea typeface="Cambria" pitchFamily="34" charset="-122"/>
                <a:cs typeface="Cambria" pitchFamily="34" charset="-120"/>
              </a:rPr>
              <a:t>The one chain under test today</a:t>
            </a:r>
            <a:endParaRPr lang="en-US" sz="3000" dirty="0"/>
          </a:p>
        </p:txBody>
      </p:sp>
      <p:sp>
        <p:nvSpPr>
          <p:cNvPr id="4" name="Shape 2"/>
          <p:cNvSpPr/>
          <p:nvPr/>
        </p:nvSpPr>
        <p:spPr>
          <a:xfrm>
            <a:off x="594360" y="1691640"/>
            <a:ext cx="2048256" cy="1325880"/>
          </a:xfrm>
          <a:prstGeom prst="roundRect">
            <a:avLst>
              <a:gd name="adj" fmla="val 4138"/>
            </a:avLst>
          </a:prstGeom>
          <a:solidFill>
            <a:srgbClr val="F2F1F7"/>
          </a:solidFill>
          <a:ln w="12700">
            <a:solidFill>
              <a:srgbClr val="F2F1F7"/>
            </a:solidFill>
            <a:prstDash val="solid"/>
          </a:ln>
        </p:spPr>
      </p:sp>
      <p:sp>
        <p:nvSpPr>
          <p:cNvPr id="5" name="Text 3"/>
          <p:cNvSpPr txBox="1"/>
          <p:nvPr/>
        </p:nvSpPr>
        <p:spPr>
          <a:xfrm>
            <a:off x="740664" y="1847088"/>
            <a:ext cx="1755648" cy="457200"/>
          </a:xfrm>
          <a:prstGeom prst="rect">
            <a:avLst/>
          </a:prstGeom>
          <a:noFill/>
          <a:ln/>
        </p:spPr>
        <p:txBody>
          <a:bodyPr wrap="square" lIns="0" tIns="0" rIns="0" bIns="0" rtlCol="0" anchor="t"/>
          <a:lstStyle/>
          <a:p>
            <a:pPr indent="0" marL="0">
              <a:buNone/>
            </a:pPr>
            <a:r>
              <a:rPr lang="en-US" sz="1300" b="1" dirty="0">
                <a:solidFill>
                  <a:srgbClr val="1A1633"/>
                </a:solidFill>
                <a:latin typeface="Calibri" pitchFamily="34" charset="0"/>
                <a:ea typeface="Calibri" pitchFamily="34" charset="-122"/>
                <a:cs typeface="Calibri" pitchFamily="34" charset="-120"/>
              </a:rPr>
              <a:t>LabVIEW</a:t>
            </a:r>
            <a:endParaRPr lang="en-US" sz="1300" dirty="0"/>
          </a:p>
        </p:txBody>
      </p:sp>
      <p:sp>
        <p:nvSpPr>
          <p:cNvPr id="6" name="Text 4"/>
          <p:cNvSpPr txBox="1"/>
          <p:nvPr/>
        </p:nvSpPr>
        <p:spPr>
          <a:xfrm>
            <a:off x="740664" y="2295144"/>
            <a:ext cx="1755648" cy="640080"/>
          </a:xfrm>
          <a:prstGeom prst="rect">
            <a:avLst/>
          </a:prstGeom>
          <a:noFill/>
          <a:ln/>
        </p:spPr>
        <p:txBody>
          <a:bodyPr wrap="square" lIns="0" tIns="0" rIns="0" bIns="0" rtlCol="0" anchor="ctr"/>
          <a:lstStyle/>
          <a:p>
            <a:pPr indent="0" marL="0">
              <a:lnSpc>
                <a:spcPts val="1300"/>
              </a:lnSpc>
              <a:buNone/>
            </a:pPr>
            <a:r>
              <a:rPr lang="en-US" sz="1050" dirty="0">
                <a:solidFill>
                  <a:srgbClr val="6B6880"/>
                </a:solidFill>
                <a:latin typeface="Calibri" pitchFamily="34" charset="0"/>
                <a:ea typeface="Calibri" pitchFamily="34" charset="-122"/>
                <a:cs typeface="Calibri" pitchFamily="34" charset="-120"/>
              </a:rPr>
              <a:t>Move X / Y / Z</a:t>
            </a:r>
            <a:endParaRPr lang="en-US" sz="1050" dirty="0"/>
          </a:p>
          <a:p>
            <a:pPr indent="0" marL="0">
              <a:lnSpc>
                <a:spcPts val="1300"/>
              </a:lnSpc>
              <a:buNone/>
            </a:pPr>
            <a:r>
              <a:rPr lang="en-US" sz="1050" dirty="0">
                <a:solidFill>
                  <a:srgbClr val="6B6880"/>
                </a:solidFill>
                <a:latin typeface="Calibri" pitchFamily="34" charset="0"/>
                <a:ea typeface="Calibri" pitchFamily="34" charset="-122"/>
                <a:cs typeface="Calibri" pitchFamily="34" charset="-120"/>
              </a:rPr>
              <a:t>kx, ky, kz</a:t>
            </a:r>
            <a:endParaRPr lang="en-US" sz="1050" dirty="0"/>
          </a:p>
        </p:txBody>
      </p:sp>
      <p:sp>
        <p:nvSpPr>
          <p:cNvPr id="7" name="Shape 5"/>
          <p:cNvSpPr/>
          <p:nvPr/>
        </p:nvSpPr>
        <p:spPr>
          <a:xfrm>
            <a:off x="2692908" y="2263140"/>
            <a:ext cx="192024" cy="182880"/>
          </a:xfrm>
          <a:prstGeom prst="rightArrow">
            <a:avLst/>
          </a:prstGeom>
          <a:solidFill>
            <a:srgbClr val="1F9AAF"/>
          </a:solidFill>
          <a:ln w="12700">
            <a:solidFill>
              <a:srgbClr val="333333"/>
            </a:solidFill>
            <a:prstDash val="solid"/>
          </a:ln>
        </p:spPr>
      </p:sp>
      <p:sp>
        <p:nvSpPr>
          <p:cNvPr id="8" name="Shape 6"/>
          <p:cNvSpPr/>
          <p:nvPr/>
        </p:nvSpPr>
        <p:spPr>
          <a:xfrm>
            <a:off x="2935224" y="1691640"/>
            <a:ext cx="2048256" cy="1325880"/>
          </a:xfrm>
          <a:prstGeom prst="roundRect">
            <a:avLst>
              <a:gd name="adj" fmla="val 4138"/>
            </a:avLst>
          </a:prstGeom>
          <a:solidFill>
            <a:srgbClr val="F2F1F7"/>
          </a:solidFill>
          <a:ln w="12700">
            <a:solidFill>
              <a:srgbClr val="F2F1F7"/>
            </a:solidFill>
            <a:prstDash val="solid"/>
          </a:ln>
        </p:spPr>
      </p:sp>
      <p:sp>
        <p:nvSpPr>
          <p:cNvPr id="9" name="Text 7"/>
          <p:cNvSpPr txBox="1"/>
          <p:nvPr/>
        </p:nvSpPr>
        <p:spPr>
          <a:xfrm>
            <a:off x="3081528" y="1847088"/>
            <a:ext cx="1755648" cy="457200"/>
          </a:xfrm>
          <a:prstGeom prst="rect">
            <a:avLst/>
          </a:prstGeom>
          <a:noFill/>
          <a:ln/>
        </p:spPr>
        <p:txBody>
          <a:bodyPr wrap="square" lIns="0" tIns="0" rIns="0" bIns="0" rtlCol="0" anchor="t"/>
          <a:lstStyle/>
          <a:p>
            <a:pPr indent="0" marL="0">
              <a:buNone/>
            </a:pPr>
            <a:r>
              <a:rPr lang="en-US" sz="1300" b="1" dirty="0">
                <a:solidFill>
                  <a:srgbClr val="1A1633"/>
                </a:solidFill>
                <a:latin typeface="Calibri" pitchFamily="34" charset="0"/>
                <a:ea typeface="Calibri" pitchFamily="34" charset="-122"/>
                <a:cs typeface="Calibri" pitchFamily="34" charset="-120"/>
              </a:rPr>
              <a:t>NI PCIe-6323</a:t>
            </a:r>
            <a:endParaRPr lang="en-US" sz="1300" dirty="0"/>
          </a:p>
        </p:txBody>
      </p:sp>
      <p:sp>
        <p:nvSpPr>
          <p:cNvPr id="10" name="Text 8"/>
          <p:cNvSpPr txBox="1"/>
          <p:nvPr/>
        </p:nvSpPr>
        <p:spPr>
          <a:xfrm>
            <a:off x="3081528" y="2295144"/>
            <a:ext cx="1755648" cy="640080"/>
          </a:xfrm>
          <a:prstGeom prst="rect">
            <a:avLst/>
          </a:prstGeom>
          <a:noFill/>
          <a:ln/>
        </p:spPr>
        <p:txBody>
          <a:bodyPr wrap="square" lIns="0" tIns="0" rIns="0" bIns="0" rtlCol="0" anchor="ctr"/>
          <a:lstStyle/>
          <a:p>
            <a:pPr indent="0" marL="0">
              <a:lnSpc>
                <a:spcPts val="1300"/>
              </a:lnSpc>
              <a:buNone/>
            </a:pPr>
            <a:r>
              <a:rPr lang="en-US" sz="1050" dirty="0">
                <a:solidFill>
                  <a:srgbClr val="6B6880"/>
                </a:solidFill>
                <a:latin typeface="Calibri" pitchFamily="34" charset="0"/>
                <a:ea typeface="Calibri" pitchFamily="34" charset="-122"/>
                <a:cs typeface="Calibri" pitchFamily="34" charset="-120"/>
              </a:rPr>
              <a:t>digital out</a:t>
            </a:r>
            <a:endParaRPr lang="en-US" sz="1050" dirty="0"/>
          </a:p>
          <a:p>
            <a:pPr indent="0" marL="0">
              <a:lnSpc>
                <a:spcPts val="1300"/>
              </a:lnSpc>
              <a:buNone/>
            </a:pPr>
            <a:r>
              <a:rPr lang="en-US" sz="1050" dirty="0">
                <a:solidFill>
                  <a:srgbClr val="6B6880"/>
                </a:solidFill>
                <a:latin typeface="Calibri" pitchFamily="34" charset="0"/>
                <a:ea typeface="Calibri" pitchFamily="34" charset="-122"/>
                <a:cs typeface="Calibri" pitchFamily="34" charset="-120"/>
              </a:rPr>
              <a:t>(+ 4 counters, unused)</a:t>
            </a:r>
            <a:endParaRPr lang="en-US" sz="1050" dirty="0"/>
          </a:p>
        </p:txBody>
      </p:sp>
      <p:sp>
        <p:nvSpPr>
          <p:cNvPr id="11" name="Shape 9"/>
          <p:cNvSpPr/>
          <p:nvPr/>
        </p:nvSpPr>
        <p:spPr>
          <a:xfrm>
            <a:off x="5033772" y="2263140"/>
            <a:ext cx="192024" cy="182880"/>
          </a:xfrm>
          <a:prstGeom prst="rightArrow">
            <a:avLst/>
          </a:prstGeom>
          <a:solidFill>
            <a:srgbClr val="1F9AAF"/>
          </a:solidFill>
          <a:ln w="12700">
            <a:solidFill>
              <a:srgbClr val="333333"/>
            </a:solidFill>
            <a:prstDash val="solid"/>
          </a:ln>
        </p:spPr>
      </p:sp>
      <p:sp>
        <p:nvSpPr>
          <p:cNvPr id="12" name="Shape 10"/>
          <p:cNvSpPr/>
          <p:nvPr/>
        </p:nvSpPr>
        <p:spPr>
          <a:xfrm>
            <a:off x="5276088" y="1691640"/>
            <a:ext cx="2048256" cy="1325880"/>
          </a:xfrm>
          <a:prstGeom prst="roundRect">
            <a:avLst>
              <a:gd name="adj" fmla="val 4138"/>
            </a:avLst>
          </a:prstGeom>
          <a:solidFill>
            <a:srgbClr val="F2F1F7"/>
          </a:solidFill>
          <a:ln w="12700">
            <a:solidFill>
              <a:srgbClr val="F2F1F7"/>
            </a:solidFill>
            <a:prstDash val="solid"/>
          </a:ln>
        </p:spPr>
      </p:sp>
      <p:sp>
        <p:nvSpPr>
          <p:cNvPr id="13" name="Text 11"/>
          <p:cNvSpPr txBox="1"/>
          <p:nvPr/>
        </p:nvSpPr>
        <p:spPr>
          <a:xfrm>
            <a:off x="5422392" y="1847088"/>
            <a:ext cx="1755648" cy="457200"/>
          </a:xfrm>
          <a:prstGeom prst="rect">
            <a:avLst/>
          </a:prstGeom>
          <a:noFill/>
          <a:ln/>
        </p:spPr>
        <p:txBody>
          <a:bodyPr wrap="square" lIns="0" tIns="0" rIns="0" bIns="0" rtlCol="0" anchor="t"/>
          <a:lstStyle/>
          <a:p>
            <a:pPr indent="0" marL="0">
              <a:buNone/>
            </a:pPr>
            <a:r>
              <a:rPr lang="en-US" sz="1300" b="1" dirty="0">
                <a:solidFill>
                  <a:srgbClr val="1A1633"/>
                </a:solidFill>
                <a:latin typeface="Calibri" pitchFamily="34" charset="0"/>
                <a:ea typeface="Calibri" pitchFamily="34" charset="-122"/>
                <a:cs typeface="Calibri" pitchFamily="34" charset="-120"/>
              </a:rPr>
              <a:t>BNC-2110</a:t>
            </a:r>
            <a:endParaRPr lang="en-US" sz="1300" dirty="0"/>
          </a:p>
        </p:txBody>
      </p:sp>
      <p:sp>
        <p:nvSpPr>
          <p:cNvPr id="14" name="Text 12"/>
          <p:cNvSpPr txBox="1"/>
          <p:nvPr/>
        </p:nvSpPr>
        <p:spPr>
          <a:xfrm>
            <a:off x="5422392" y="2295144"/>
            <a:ext cx="1755648" cy="640080"/>
          </a:xfrm>
          <a:prstGeom prst="rect">
            <a:avLst/>
          </a:prstGeom>
          <a:noFill/>
          <a:ln/>
        </p:spPr>
        <p:txBody>
          <a:bodyPr wrap="square" lIns="0" tIns="0" rIns="0" bIns="0" rtlCol="0" anchor="ctr"/>
          <a:lstStyle/>
          <a:p>
            <a:pPr indent="0" marL="0">
              <a:lnSpc>
                <a:spcPts val="1300"/>
              </a:lnSpc>
              <a:buNone/>
            </a:pPr>
            <a:r>
              <a:rPr lang="en-US" sz="1050" dirty="0">
                <a:solidFill>
                  <a:srgbClr val="6B6880"/>
                </a:solidFill>
                <a:latin typeface="Calibri" pitchFamily="34" charset="0"/>
                <a:ea typeface="Calibri" pitchFamily="34" charset="-122"/>
                <a:cs typeface="Calibri" pitchFamily="34" charset="-120"/>
              </a:rPr>
              <a:t>P0.0 – P0.7</a:t>
            </a:r>
            <a:endParaRPr lang="en-US" sz="1050" dirty="0"/>
          </a:p>
          <a:p>
            <a:pPr indent="0" marL="0">
              <a:lnSpc>
                <a:spcPts val="1300"/>
              </a:lnSpc>
              <a:buNone/>
            </a:pPr>
            <a:r>
              <a:rPr lang="en-US" sz="1050" dirty="0">
                <a:solidFill>
                  <a:srgbClr val="6B6880"/>
                </a:solidFill>
                <a:latin typeface="Calibri" pitchFamily="34" charset="0"/>
                <a:ea typeface="Calibri" pitchFamily="34" charset="-122"/>
                <a:cs typeface="Calibri" pitchFamily="34" charset="-120"/>
              </a:rPr>
              <a:t>PFI 0 / PFI 12 free</a:t>
            </a:r>
            <a:endParaRPr lang="en-US" sz="1050" dirty="0"/>
          </a:p>
        </p:txBody>
      </p:sp>
      <p:sp>
        <p:nvSpPr>
          <p:cNvPr id="15" name="Shape 13"/>
          <p:cNvSpPr/>
          <p:nvPr/>
        </p:nvSpPr>
        <p:spPr>
          <a:xfrm>
            <a:off x="7374636" y="2263140"/>
            <a:ext cx="192024" cy="182880"/>
          </a:xfrm>
          <a:prstGeom prst="rightArrow">
            <a:avLst/>
          </a:prstGeom>
          <a:solidFill>
            <a:srgbClr val="1F9AAF"/>
          </a:solidFill>
          <a:ln w="12700">
            <a:solidFill>
              <a:srgbClr val="333333"/>
            </a:solidFill>
            <a:prstDash val="solid"/>
          </a:ln>
        </p:spPr>
      </p:sp>
      <p:sp>
        <p:nvSpPr>
          <p:cNvPr id="16" name="Shape 14"/>
          <p:cNvSpPr/>
          <p:nvPr/>
        </p:nvSpPr>
        <p:spPr>
          <a:xfrm>
            <a:off x="7616952" y="1691640"/>
            <a:ext cx="2048256" cy="1325880"/>
          </a:xfrm>
          <a:prstGeom prst="roundRect">
            <a:avLst>
              <a:gd name="adj" fmla="val 4138"/>
            </a:avLst>
          </a:prstGeom>
          <a:solidFill>
            <a:srgbClr val="4C3FA6"/>
          </a:solidFill>
          <a:ln w="12700">
            <a:solidFill>
              <a:srgbClr val="4C3FA6"/>
            </a:solidFill>
            <a:prstDash val="solid"/>
          </a:ln>
        </p:spPr>
      </p:sp>
      <p:sp>
        <p:nvSpPr>
          <p:cNvPr id="17" name="Text 15"/>
          <p:cNvSpPr txBox="1"/>
          <p:nvPr/>
        </p:nvSpPr>
        <p:spPr>
          <a:xfrm>
            <a:off x="7763256" y="1847088"/>
            <a:ext cx="1755648"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MOONS’ SR2 × 3</a:t>
            </a:r>
            <a:endParaRPr lang="en-US" sz="1300" dirty="0"/>
          </a:p>
        </p:txBody>
      </p:sp>
      <p:sp>
        <p:nvSpPr>
          <p:cNvPr id="18" name="Text 16"/>
          <p:cNvSpPr txBox="1"/>
          <p:nvPr/>
        </p:nvSpPr>
        <p:spPr>
          <a:xfrm>
            <a:off x="7763256" y="2295144"/>
            <a:ext cx="1755648" cy="640080"/>
          </a:xfrm>
          <a:prstGeom prst="rect">
            <a:avLst/>
          </a:prstGeom>
          <a:noFill/>
          <a:ln/>
        </p:spPr>
        <p:txBody>
          <a:bodyPr wrap="square" lIns="0" tIns="0" rIns="0" bIns="0" rtlCol="0" anchor="ctr"/>
          <a:lstStyle/>
          <a:p>
            <a:pPr indent="0" marL="0">
              <a:lnSpc>
                <a:spcPts val="1300"/>
              </a:lnSpc>
              <a:buNone/>
            </a:pPr>
            <a:r>
              <a:rPr lang="en-US" sz="1050" dirty="0">
                <a:solidFill>
                  <a:srgbClr val="DCD9EC"/>
                </a:solidFill>
                <a:latin typeface="Calibri" pitchFamily="34" charset="0"/>
                <a:ea typeface="Calibri" pitchFamily="34" charset="-122"/>
                <a:cs typeface="Calibri" pitchFamily="34" charset="-120"/>
              </a:rPr>
              <a:t>STEP± · DIR± · EN±</a:t>
            </a:r>
            <a:endParaRPr lang="en-US" sz="1050" dirty="0"/>
          </a:p>
          <a:p>
            <a:pPr indent="0" marL="0">
              <a:lnSpc>
                <a:spcPts val="1300"/>
              </a:lnSpc>
              <a:buNone/>
            </a:pPr>
            <a:r>
              <a:rPr lang="en-US" sz="1050" dirty="0">
                <a:solidFill>
                  <a:srgbClr val="DCD9EC"/>
                </a:solidFill>
                <a:latin typeface="Calibri" pitchFamily="34" charset="0"/>
                <a:ea typeface="Calibri" pitchFamily="34" charset="-122"/>
                <a:cs typeface="Calibri" pitchFamily="34" charset="-120"/>
              </a:rPr>
              <a:t>current + microstep tables</a:t>
            </a:r>
            <a:endParaRPr lang="en-US" sz="1050" dirty="0"/>
          </a:p>
        </p:txBody>
      </p:sp>
      <p:sp>
        <p:nvSpPr>
          <p:cNvPr id="19" name="Shape 17"/>
          <p:cNvSpPr/>
          <p:nvPr/>
        </p:nvSpPr>
        <p:spPr>
          <a:xfrm>
            <a:off x="9715500" y="2263140"/>
            <a:ext cx="192024" cy="182880"/>
          </a:xfrm>
          <a:prstGeom prst="rightArrow">
            <a:avLst/>
          </a:prstGeom>
          <a:solidFill>
            <a:srgbClr val="1F9AAF"/>
          </a:solidFill>
          <a:ln w="12700">
            <a:solidFill>
              <a:srgbClr val="333333"/>
            </a:solidFill>
            <a:prstDash val="solid"/>
          </a:ln>
        </p:spPr>
      </p:sp>
      <p:sp>
        <p:nvSpPr>
          <p:cNvPr id="20" name="Shape 18"/>
          <p:cNvSpPr/>
          <p:nvPr/>
        </p:nvSpPr>
        <p:spPr>
          <a:xfrm>
            <a:off x="9957816" y="1691640"/>
            <a:ext cx="2048256" cy="1325880"/>
          </a:xfrm>
          <a:prstGeom prst="roundRect">
            <a:avLst>
              <a:gd name="adj" fmla="val 4138"/>
            </a:avLst>
          </a:prstGeom>
          <a:solidFill>
            <a:srgbClr val="F2F1F7"/>
          </a:solidFill>
          <a:ln w="12700">
            <a:solidFill>
              <a:srgbClr val="F2F1F7"/>
            </a:solidFill>
            <a:prstDash val="solid"/>
          </a:ln>
        </p:spPr>
      </p:sp>
      <p:sp>
        <p:nvSpPr>
          <p:cNvPr id="21" name="Text 19"/>
          <p:cNvSpPr txBox="1"/>
          <p:nvPr/>
        </p:nvSpPr>
        <p:spPr>
          <a:xfrm>
            <a:off x="10104120" y="1847088"/>
            <a:ext cx="1755648" cy="457200"/>
          </a:xfrm>
          <a:prstGeom prst="rect">
            <a:avLst/>
          </a:prstGeom>
          <a:noFill/>
          <a:ln/>
        </p:spPr>
        <p:txBody>
          <a:bodyPr wrap="square" lIns="0" tIns="0" rIns="0" bIns="0" rtlCol="0" anchor="t"/>
          <a:lstStyle/>
          <a:p>
            <a:pPr indent="0" marL="0">
              <a:buNone/>
            </a:pPr>
            <a:r>
              <a:rPr lang="en-US" sz="1300" b="1" dirty="0">
                <a:solidFill>
                  <a:srgbClr val="1A1633"/>
                </a:solidFill>
                <a:latin typeface="Calibri" pitchFamily="34" charset="0"/>
                <a:ea typeface="Calibri" pitchFamily="34" charset="-122"/>
                <a:cs typeface="Calibri" pitchFamily="34" charset="-120"/>
              </a:rPr>
              <a:t>X / Y / Z stages</a:t>
            </a:r>
            <a:endParaRPr lang="en-US" sz="1300" dirty="0"/>
          </a:p>
        </p:txBody>
      </p:sp>
      <p:sp>
        <p:nvSpPr>
          <p:cNvPr id="22" name="Text 20"/>
          <p:cNvSpPr txBox="1"/>
          <p:nvPr/>
        </p:nvSpPr>
        <p:spPr>
          <a:xfrm>
            <a:off x="10104120" y="2295144"/>
            <a:ext cx="1755648" cy="640080"/>
          </a:xfrm>
          <a:prstGeom prst="rect">
            <a:avLst/>
          </a:prstGeom>
          <a:noFill/>
          <a:ln/>
        </p:spPr>
        <p:txBody>
          <a:bodyPr wrap="square" lIns="0" tIns="0" rIns="0" bIns="0" rtlCol="0" anchor="ctr"/>
          <a:lstStyle/>
          <a:p>
            <a:pPr indent="0" marL="0">
              <a:lnSpc>
                <a:spcPts val="1300"/>
              </a:lnSpc>
              <a:buNone/>
            </a:pPr>
            <a:r>
              <a:rPr lang="en-US" sz="1050" dirty="0">
                <a:solidFill>
                  <a:srgbClr val="6B6880"/>
                </a:solidFill>
                <a:latin typeface="Calibri" pitchFamily="34" charset="0"/>
                <a:ea typeface="Calibri" pitchFamily="34" charset="-122"/>
                <a:cs typeface="Calibri" pitchFamily="34" charset="-120"/>
              </a:rPr>
              <a:t>step motors</a:t>
            </a:r>
            <a:endParaRPr lang="en-US" sz="1050" dirty="0"/>
          </a:p>
          <a:p>
            <a:pPr indent="0" marL="0">
              <a:lnSpc>
                <a:spcPts val="1300"/>
              </a:lnSpc>
              <a:buNone/>
            </a:pPr>
            <a:r>
              <a:rPr lang="en-US" sz="1050" dirty="0">
                <a:solidFill>
                  <a:srgbClr val="6B6880"/>
                </a:solidFill>
                <a:latin typeface="Calibri" pitchFamily="34" charset="0"/>
                <a:ea typeface="Calibri" pitchFamily="34" charset="-122"/>
                <a:cs typeface="Calibri" pitchFamily="34" charset="-120"/>
              </a:rPr>
              <a:t>A± / B± phases</a:t>
            </a:r>
            <a:endParaRPr lang="en-US" sz="1050" dirty="0"/>
          </a:p>
        </p:txBody>
      </p:sp>
      <p:sp>
        <p:nvSpPr>
          <p:cNvPr id="23" name="Text 21"/>
          <p:cNvSpPr txBox="1"/>
          <p:nvPr/>
        </p:nvSpPr>
        <p:spPr>
          <a:xfrm>
            <a:off x="5276088" y="3090672"/>
            <a:ext cx="2340864" cy="237744"/>
          </a:xfrm>
          <a:prstGeom prst="rect">
            <a:avLst/>
          </a:prstGeom>
          <a:noFill/>
          <a:ln/>
        </p:spPr>
        <p:txBody>
          <a:bodyPr wrap="square" lIns="0" tIns="0" rIns="0" bIns="0" rtlCol="0" anchor="ctr"/>
          <a:lstStyle/>
          <a:p>
            <a:pPr algn="ctr" indent="0" marL="0">
              <a:buNone/>
            </a:pPr>
            <a:r>
              <a:rPr lang="en-US" sz="1050" i="1" dirty="0">
                <a:solidFill>
                  <a:srgbClr val="1F9AAF"/>
                </a:solidFill>
                <a:latin typeface="Calibri" pitchFamily="34" charset="0"/>
                <a:ea typeface="Calibri" pitchFamily="34" charset="-122"/>
                <a:cs typeface="Calibri" pitchFamily="34" charset="-120"/>
              </a:rPr>
              <a:t>STEP / DIR pulses</a:t>
            </a:r>
            <a:endParaRPr lang="en-US" sz="1050" dirty="0"/>
          </a:p>
        </p:txBody>
      </p:sp>
      <p:sp>
        <p:nvSpPr>
          <p:cNvPr id="24" name="Shape 22"/>
          <p:cNvSpPr/>
          <p:nvPr/>
        </p:nvSpPr>
        <p:spPr>
          <a:xfrm>
            <a:off x="594360" y="3520440"/>
            <a:ext cx="6720840" cy="2514600"/>
          </a:xfrm>
          <a:prstGeom prst="roundRect">
            <a:avLst>
              <a:gd name="adj" fmla="val 2182"/>
            </a:avLst>
          </a:prstGeom>
          <a:solidFill>
            <a:srgbClr val="FFFFFF"/>
          </a:solidFill>
          <a:ln w="12700">
            <a:solidFill>
              <a:srgbClr val="D6D3E4"/>
            </a:solidFill>
            <a:prstDash val="solid"/>
          </a:ln>
        </p:spPr>
      </p:sp>
      <p:sp>
        <p:nvSpPr>
          <p:cNvPr id="25" name="Text 23"/>
          <p:cNvSpPr txBox="1"/>
          <p:nvPr/>
        </p:nvSpPr>
        <p:spPr>
          <a:xfrm>
            <a:off x="868680" y="3703320"/>
            <a:ext cx="6126480" cy="292608"/>
          </a:xfrm>
          <a:prstGeom prst="rect">
            <a:avLst/>
          </a:prstGeom>
          <a:noFill/>
          <a:ln/>
        </p:spPr>
        <p:txBody>
          <a:bodyPr wrap="square" lIns="0" tIns="0" rIns="0" bIns="0" rtlCol="0" anchor="ctr"/>
          <a:lstStyle/>
          <a:p>
            <a:pPr indent="0" marL="0">
              <a:buNone/>
            </a:pPr>
            <a:r>
              <a:rPr lang="en-US" sz="1700" b="1" dirty="0">
                <a:solidFill>
                  <a:srgbClr val="1A1633"/>
                </a:solidFill>
                <a:latin typeface="Cambria" pitchFamily="34" charset="0"/>
                <a:ea typeface="Cambria" pitchFamily="34" charset="-122"/>
                <a:cs typeface="Cambria" pitchFamily="34" charset="-120"/>
              </a:rPr>
              <a:t>Where the uncertainty sits</a:t>
            </a:r>
            <a:endParaRPr lang="en-US" sz="1700" dirty="0"/>
          </a:p>
        </p:txBody>
      </p:sp>
      <p:sp>
        <p:nvSpPr>
          <p:cNvPr id="26" name="Text 24"/>
          <p:cNvSpPr txBox="1"/>
          <p:nvPr/>
        </p:nvSpPr>
        <p:spPr>
          <a:xfrm>
            <a:off x="868680" y="4069080"/>
            <a:ext cx="6172200" cy="1828800"/>
          </a:xfrm>
          <a:prstGeom prst="rect">
            <a:avLst/>
          </a:prstGeom>
          <a:noFill/>
          <a:ln/>
        </p:spPr>
        <p:txBody>
          <a:bodyPr wrap="square" lIns="0" tIns="0" rIns="0" bIns="0" rtlCol="0" anchor="t"/>
          <a:lstStyle/>
          <a:p>
            <a:pPr marL="342900" indent="-342900">
              <a:lnSpc>
                <a:spcPts val="1550"/>
              </a:lnSpc>
              <a:spcAft>
                <a:spcPts val="600"/>
              </a:spcAft>
              <a:buSzPct val="100000"/>
              <a:buChar char="•"/>
            </a:pPr>
            <a:r>
              <a:rPr lang="en-US" sz="1200" dirty="0">
                <a:solidFill>
                  <a:srgbClr val="1A1633"/>
                </a:solidFill>
                <a:latin typeface="Calibri" pitchFamily="34" charset="0"/>
                <a:ea typeface="Calibri" pitchFamily="34" charset="-122"/>
                <a:cs typeface="Calibri" pitchFamily="34" charset="-120"/>
              </a:rPr>
              <a:t>We command a number of pulses in LabVIEW — but we have never measured what actually leaves P0.x, or what the SR2 does with it.</a:t>
            </a:r>
            <a:endParaRPr lang="en-US" sz="1200" dirty="0"/>
          </a:p>
          <a:p>
            <a:pPr marL="342900" indent="-342900">
              <a:lnSpc>
                <a:spcPts val="1550"/>
              </a:lnSpc>
              <a:spcAft>
                <a:spcPts val="600"/>
              </a:spcAft>
              <a:buSzPct val="100000"/>
              <a:buChar char="•"/>
            </a:pPr>
            <a:r>
              <a:rPr lang="en-US" sz="1200" dirty="0">
                <a:solidFill>
                  <a:srgbClr val="1A1633"/>
                </a:solidFill>
                <a:latin typeface="Calibri" pitchFamily="34" charset="0"/>
                <a:ea typeface="Calibri" pitchFamily="34" charset="-122"/>
                <a:cs typeface="Calibri" pitchFamily="34" charset="-120"/>
              </a:rPr>
              <a:t>The SR2 microstep table sets how many pulses make one full step, so it sets µm-per-pulse. We have not confirmed its current setting.</a:t>
            </a:r>
            <a:endParaRPr lang="en-US" sz="1200" dirty="0"/>
          </a:p>
          <a:p>
            <a:pPr marL="342900" indent="-342900">
              <a:lnSpc>
                <a:spcPts val="1550"/>
              </a:lnSpc>
              <a:spcAft>
                <a:spcPts val="600"/>
              </a:spcAft>
              <a:buSzPct val="100000"/>
              <a:buChar char="•"/>
            </a:pPr>
            <a:r>
              <a:rPr lang="en-US" sz="1200" dirty="0">
                <a:solidFill>
                  <a:srgbClr val="1A1633"/>
                </a:solidFill>
                <a:latin typeface="Calibri" pitchFamily="34" charset="0"/>
                <a:ea typeface="Calibri" pitchFamily="34" charset="-122"/>
                <a:cs typeface="Calibri" pitchFamily="34" charset="-120"/>
              </a:rPr>
              <a:t>STEP± / DIR± are differential inputs driven from single-ended 5 V TTL — worth re-checking the common ground and any series resistor.</a:t>
            </a:r>
            <a:endParaRPr lang="en-US" sz="1200" dirty="0"/>
          </a:p>
          <a:p>
            <a:pPr marL="342900" indent="-342900">
              <a:lnSpc>
                <a:spcPts val="1550"/>
              </a:lnSpc>
              <a:spcAft>
                <a:spcPts val="600"/>
              </a:spcAft>
              <a:buSzPct val="100000"/>
              <a:buChar char="•"/>
            </a:pPr>
            <a:r>
              <a:rPr lang="en-US" sz="1200" dirty="0">
                <a:solidFill>
                  <a:srgbClr val="1A1633"/>
                </a:solidFill>
                <a:latin typeface="Calibri" pitchFamily="34" charset="0"/>
                <a:ea typeface="Calibri" pitchFamily="34" charset="-122"/>
                <a:cs typeface="Calibri" pitchFamily="34" charset="-120"/>
              </a:rPr>
              <a:t>kx = 0.25, ky = 0.9, kz = 0.25 in the VI: unknown whether the step box is raw pulses or already scaled by k.</a:t>
            </a:r>
            <a:endParaRPr lang="en-US" sz="1200" dirty="0"/>
          </a:p>
        </p:txBody>
      </p:sp>
      <p:sp>
        <p:nvSpPr>
          <p:cNvPr id="27" name="Shape 25"/>
          <p:cNvSpPr/>
          <p:nvPr/>
        </p:nvSpPr>
        <p:spPr>
          <a:xfrm>
            <a:off x="7699248" y="3520440"/>
            <a:ext cx="3867912" cy="2514600"/>
          </a:xfrm>
          <a:prstGeom prst="roundRect">
            <a:avLst>
              <a:gd name="adj" fmla="val 2182"/>
            </a:avLst>
          </a:prstGeom>
          <a:solidFill>
            <a:srgbClr val="E9E7F3"/>
          </a:solidFill>
          <a:ln w="12700">
            <a:solidFill>
              <a:srgbClr val="E9E7F3"/>
            </a:solidFill>
            <a:prstDash val="solid"/>
          </a:ln>
        </p:spPr>
      </p:sp>
      <p:sp>
        <p:nvSpPr>
          <p:cNvPr id="28" name="Text 26"/>
          <p:cNvSpPr txBox="1"/>
          <p:nvPr/>
        </p:nvSpPr>
        <p:spPr>
          <a:xfrm>
            <a:off x="7973568" y="3703320"/>
            <a:ext cx="3200400" cy="292608"/>
          </a:xfrm>
          <a:prstGeom prst="rect">
            <a:avLst/>
          </a:prstGeom>
          <a:noFill/>
          <a:ln/>
        </p:spPr>
        <p:txBody>
          <a:bodyPr wrap="square" lIns="0" tIns="0" rIns="0" bIns="0" rtlCol="0" anchor="ctr"/>
          <a:lstStyle/>
          <a:p>
            <a:pPr indent="0" marL="0">
              <a:buNone/>
            </a:pPr>
            <a:r>
              <a:rPr lang="en-US" sz="1700" b="1" dirty="0">
                <a:solidFill>
                  <a:srgbClr val="1A1633"/>
                </a:solidFill>
                <a:latin typeface="Cambria" pitchFamily="34" charset="0"/>
                <a:ea typeface="Cambria" pitchFamily="34" charset="-122"/>
                <a:cs typeface="Cambria" pitchFamily="34" charset="-120"/>
              </a:rPr>
              <a:t>Not in scope today</a:t>
            </a:r>
            <a:endParaRPr lang="en-US" sz="1700" dirty="0"/>
          </a:p>
        </p:txBody>
      </p:sp>
      <p:sp>
        <p:nvSpPr>
          <p:cNvPr id="29" name="Text 27"/>
          <p:cNvSpPr txBox="1"/>
          <p:nvPr/>
        </p:nvSpPr>
        <p:spPr>
          <a:xfrm>
            <a:off x="7973568" y="4069080"/>
            <a:ext cx="3246120" cy="1828800"/>
          </a:xfrm>
          <a:prstGeom prst="rect">
            <a:avLst/>
          </a:prstGeom>
          <a:noFill/>
          <a:ln/>
        </p:spPr>
        <p:txBody>
          <a:bodyPr wrap="square" lIns="0" tIns="0" rIns="0" bIns="0" rtlCol="0" anchor="t"/>
          <a:lstStyle/>
          <a:p>
            <a:pPr marL="342900" indent="-342900">
              <a:lnSpc>
                <a:spcPts val="1550"/>
              </a:lnSpc>
              <a:spcAft>
                <a:spcPts val="800"/>
              </a:spcAft>
              <a:buSzPct val="100000"/>
              <a:buChar char="•"/>
            </a:pPr>
            <a:r>
              <a:rPr lang="en-US" sz="1200" dirty="0">
                <a:solidFill>
                  <a:srgbClr val="1A1633"/>
                </a:solidFill>
                <a:latin typeface="Calibri" pitchFamily="34" charset="0"/>
                <a:ea typeface="Calibri" pitchFamily="34" charset="-122"/>
                <a:cs typeface="Calibri" pitchFamily="34" charset="-120"/>
              </a:rPr>
              <a:t>Galvo — ScannerMAX Mach-DSP (S/N PS502441)</a:t>
            </a:r>
            <a:endParaRPr lang="en-US" sz="1200" dirty="0"/>
          </a:p>
          <a:p>
            <a:pPr marL="342900" indent="-342900">
              <a:lnSpc>
                <a:spcPts val="1550"/>
              </a:lnSpc>
              <a:spcAft>
                <a:spcPts val="800"/>
              </a:spcAft>
              <a:buSzPct val="100000"/>
              <a:buChar char="•"/>
            </a:pPr>
            <a:r>
              <a:rPr lang="en-US" sz="1200" dirty="0">
                <a:solidFill>
                  <a:srgbClr val="1A1633"/>
                </a:solidFill>
                <a:latin typeface="Calibri" pitchFamily="34" charset="0"/>
                <a:ea typeface="Calibri" pitchFamily="34" charset="-122"/>
                <a:cs typeface="Calibri" pitchFamily="34" charset="-120"/>
              </a:rPr>
              <a:t>266 nm laser + photodiode trigger</a:t>
            </a:r>
            <a:endParaRPr lang="en-US" sz="1200" dirty="0"/>
          </a:p>
          <a:p>
            <a:pPr marL="342900" indent="-342900">
              <a:lnSpc>
                <a:spcPts val="1550"/>
              </a:lnSpc>
              <a:spcAft>
                <a:spcPts val="800"/>
              </a:spcAft>
              <a:buSzPct val="100000"/>
              <a:buChar char="•"/>
            </a:pPr>
            <a:r>
              <a:rPr lang="en-US" sz="1200" dirty="0">
                <a:solidFill>
                  <a:srgbClr val="1A1633"/>
                </a:solidFill>
                <a:latin typeface="Calibri" pitchFamily="34" charset="0"/>
                <a:ea typeface="Calibri" pitchFamily="34" charset="-122"/>
                <a:cs typeface="Calibri" pitchFamily="34" charset="-120"/>
              </a:rPr>
              <a:t>AlazarTech digitizer → PA signal capture</a:t>
            </a:r>
            <a:endParaRPr lang="en-US" sz="1200" dirty="0"/>
          </a:p>
          <a:p>
            <a:pPr marL="342900" indent="-342900">
              <a:lnSpc>
                <a:spcPts val="1550"/>
              </a:lnSpc>
              <a:spcAft>
                <a:spcPts val="800"/>
              </a:spcAft>
              <a:buSzPct val="100000"/>
              <a:buChar char="•"/>
            </a:pPr>
            <a:r>
              <a:rPr lang="en-US" sz="1200" dirty="0">
                <a:solidFill>
                  <a:srgbClr val="1A1633"/>
                </a:solidFill>
                <a:latin typeface="Calibri" pitchFamily="34" charset="0"/>
                <a:ea typeface="Calibri" pitchFamily="34" charset="-122"/>
                <a:cs typeface="Calibri" pitchFamily="34" charset="-120"/>
              </a:rPr>
              <a:t>C-Scan / Volumetric Scan controls — untouched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200" kern="0" dirty="0">
                <a:solidFill>
                  <a:srgbClr val="4C3FA6"/>
                </a:solidFill>
                <a:latin typeface="Calibri" pitchFamily="34" charset="0"/>
                <a:ea typeface="Calibri" pitchFamily="34" charset="-122"/>
                <a:cs typeface="Calibri" pitchFamily="34" charset="-120"/>
              </a:rPr>
              <a:t>OUR SYSTEM · OPTICS</a:t>
            </a:r>
            <a:endParaRPr lang="en-US" sz="1100" dirty="0"/>
          </a:p>
        </p:txBody>
      </p:sp>
      <p:sp>
        <p:nvSpPr>
          <p:cNvPr id="3" name="Text 1"/>
          <p:cNvSpPr txBox="1"/>
          <p:nvPr/>
        </p:nvSpPr>
        <p:spPr>
          <a:xfrm>
            <a:off x="594360" y="640080"/>
            <a:ext cx="10972800" cy="658368"/>
          </a:xfrm>
          <a:prstGeom prst="rect">
            <a:avLst/>
          </a:prstGeom>
          <a:noFill/>
          <a:ln/>
        </p:spPr>
        <p:txBody>
          <a:bodyPr wrap="square" lIns="0" tIns="0" rIns="0" bIns="0" rtlCol="0" anchor="t"/>
          <a:lstStyle/>
          <a:p>
            <a:pPr indent="0" marL="0">
              <a:buNone/>
            </a:pPr>
            <a:r>
              <a:rPr lang="en-US" sz="3000" b="1" dirty="0">
                <a:solidFill>
                  <a:srgbClr val="1A1633"/>
                </a:solidFill>
                <a:latin typeface="Cambria" pitchFamily="34" charset="0"/>
                <a:ea typeface="Cambria" pitchFamily="34" charset="-122"/>
                <a:cs typeface="Cambria" pitchFamily="34" charset="-120"/>
              </a:rPr>
              <a:t>Beam path, and what each element is for</a:t>
            </a:r>
            <a:endParaRPr lang="en-US" sz="3000" dirty="0"/>
          </a:p>
        </p:txBody>
      </p:sp>
      <p:sp>
        <p:nvSpPr>
          <p:cNvPr id="4" name="Shape 2"/>
          <p:cNvSpPr/>
          <p:nvPr/>
        </p:nvSpPr>
        <p:spPr>
          <a:xfrm>
            <a:off x="594360" y="1572768"/>
            <a:ext cx="310896" cy="310896"/>
          </a:xfrm>
          <a:prstGeom prst="ellipse">
            <a:avLst/>
          </a:prstGeom>
          <a:solidFill>
            <a:srgbClr val="4C3FA6"/>
          </a:solidFill>
          <a:ln w="12700">
            <a:solidFill>
              <a:srgbClr val="4C3FA6"/>
            </a:solidFill>
            <a:prstDash val="solid"/>
          </a:ln>
        </p:spPr>
      </p:sp>
      <p:sp>
        <p:nvSpPr>
          <p:cNvPr id="5" name="Text 3"/>
          <p:cNvSpPr txBox="1"/>
          <p:nvPr/>
        </p:nvSpPr>
        <p:spPr>
          <a:xfrm>
            <a:off x="594360" y="15727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51560" y="1545336"/>
            <a:ext cx="2606040" cy="274320"/>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266 nm UV laser</a:t>
            </a:r>
            <a:endParaRPr lang="en-US" sz="1250" dirty="0"/>
          </a:p>
        </p:txBody>
      </p:sp>
      <p:sp>
        <p:nvSpPr>
          <p:cNvPr id="7" name="Text 5"/>
          <p:cNvSpPr txBox="1"/>
          <p:nvPr/>
        </p:nvSpPr>
        <p:spPr>
          <a:xfrm>
            <a:off x="3721608" y="1517904"/>
            <a:ext cx="3977640" cy="420624"/>
          </a:xfrm>
          <a:prstGeom prst="rect">
            <a:avLst/>
          </a:prstGeom>
          <a:noFill/>
          <a:ln/>
        </p:spPr>
        <p:txBody>
          <a:bodyPr wrap="square" lIns="0" tIns="0" rIns="0" bIns="0" rtlCol="0" anchor="t"/>
          <a:lstStyle/>
          <a:p>
            <a:pPr indent="0" marL="0">
              <a:lnSpc>
                <a:spcPts val="1500"/>
              </a:lnSpc>
              <a:buNone/>
            </a:pPr>
            <a:r>
              <a:rPr lang="en-US" sz="1150" dirty="0">
                <a:solidFill>
                  <a:srgbClr val="6B6880"/>
                </a:solidFill>
                <a:latin typeface="Calibri" pitchFamily="34" charset="0"/>
                <a:ea typeface="Calibri" pitchFamily="34" charset="-122"/>
                <a:cs typeface="Calibri" pitchFamily="34" charset="-120"/>
              </a:rPr>
              <a:t>excitation source</a:t>
            </a:r>
            <a:endParaRPr lang="en-US" sz="1150" dirty="0"/>
          </a:p>
        </p:txBody>
      </p:sp>
      <p:sp>
        <p:nvSpPr>
          <p:cNvPr id="8" name="Shape 6"/>
          <p:cNvSpPr/>
          <p:nvPr/>
        </p:nvSpPr>
        <p:spPr>
          <a:xfrm>
            <a:off x="594360" y="2121408"/>
            <a:ext cx="310896" cy="310896"/>
          </a:xfrm>
          <a:prstGeom prst="ellipse">
            <a:avLst/>
          </a:prstGeom>
          <a:solidFill>
            <a:srgbClr val="4C3FA6"/>
          </a:solidFill>
          <a:ln w="12700">
            <a:solidFill>
              <a:srgbClr val="4C3FA6"/>
            </a:solidFill>
            <a:prstDash val="solid"/>
          </a:ln>
        </p:spPr>
      </p:sp>
      <p:sp>
        <p:nvSpPr>
          <p:cNvPr id="9" name="Text 7"/>
          <p:cNvSpPr txBox="1"/>
          <p:nvPr/>
        </p:nvSpPr>
        <p:spPr>
          <a:xfrm>
            <a:off x="594360" y="21214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51560" y="2093976"/>
            <a:ext cx="2606040" cy="274320"/>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Beam splitter → photodiode</a:t>
            </a:r>
            <a:endParaRPr lang="en-US" sz="1250" dirty="0"/>
          </a:p>
        </p:txBody>
      </p:sp>
      <p:sp>
        <p:nvSpPr>
          <p:cNvPr id="11" name="Text 9"/>
          <p:cNvSpPr txBox="1"/>
          <p:nvPr/>
        </p:nvSpPr>
        <p:spPr>
          <a:xfrm>
            <a:off x="3721608" y="2066544"/>
            <a:ext cx="3977640" cy="420624"/>
          </a:xfrm>
          <a:prstGeom prst="rect">
            <a:avLst/>
          </a:prstGeom>
          <a:noFill/>
          <a:ln/>
        </p:spPr>
        <p:txBody>
          <a:bodyPr wrap="square" lIns="0" tIns="0" rIns="0" bIns="0" rtlCol="0" anchor="t"/>
          <a:lstStyle/>
          <a:p>
            <a:pPr indent="0" marL="0">
              <a:lnSpc>
                <a:spcPts val="1500"/>
              </a:lnSpc>
              <a:buNone/>
            </a:pPr>
            <a:r>
              <a:rPr lang="en-US" sz="1150" dirty="0">
                <a:solidFill>
                  <a:srgbClr val="6B6880"/>
                </a:solidFill>
                <a:latin typeface="Calibri" pitchFamily="34" charset="0"/>
                <a:ea typeface="Calibri" pitchFamily="34" charset="-122"/>
                <a:cs typeface="Calibri" pitchFamily="34" charset="-120"/>
              </a:rPr>
              <a:t>per-pulse timing + energy, for sync and PA normalization</a:t>
            </a:r>
            <a:endParaRPr lang="en-US" sz="1150" dirty="0"/>
          </a:p>
        </p:txBody>
      </p:sp>
      <p:sp>
        <p:nvSpPr>
          <p:cNvPr id="12" name="Shape 10"/>
          <p:cNvSpPr/>
          <p:nvPr/>
        </p:nvSpPr>
        <p:spPr>
          <a:xfrm>
            <a:off x="594360" y="2670048"/>
            <a:ext cx="310896" cy="310896"/>
          </a:xfrm>
          <a:prstGeom prst="ellipse">
            <a:avLst/>
          </a:prstGeom>
          <a:solidFill>
            <a:srgbClr val="4C3FA6"/>
          </a:solidFill>
          <a:ln w="12700">
            <a:solidFill>
              <a:srgbClr val="4C3FA6"/>
            </a:solidFill>
            <a:prstDash val="solid"/>
          </a:ln>
        </p:spPr>
      </p:sp>
      <p:sp>
        <p:nvSpPr>
          <p:cNvPr id="13" name="Text 11"/>
          <p:cNvSpPr txBox="1"/>
          <p:nvPr/>
        </p:nvSpPr>
        <p:spPr>
          <a:xfrm>
            <a:off x="594360" y="2670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51560" y="2642616"/>
            <a:ext cx="2606040" cy="274320"/>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Galvo mirror</a:t>
            </a:r>
            <a:endParaRPr lang="en-US" sz="1250" dirty="0"/>
          </a:p>
        </p:txBody>
      </p:sp>
      <p:sp>
        <p:nvSpPr>
          <p:cNvPr id="15" name="Text 13"/>
          <p:cNvSpPr txBox="1"/>
          <p:nvPr/>
        </p:nvSpPr>
        <p:spPr>
          <a:xfrm>
            <a:off x="3721608" y="2615184"/>
            <a:ext cx="3977640" cy="420624"/>
          </a:xfrm>
          <a:prstGeom prst="rect">
            <a:avLst/>
          </a:prstGeom>
          <a:noFill/>
          <a:ln/>
        </p:spPr>
        <p:txBody>
          <a:bodyPr wrap="square" lIns="0" tIns="0" rIns="0" bIns="0" rtlCol="0" anchor="t"/>
          <a:lstStyle/>
          <a:p>
            <a:pPr indent="0" marL="0">
              <a:lnSpc>
                <a:spcPts val="1500"/>
              </a:lnSpc>
              <a:buNone/>
            </a:pPr>
            <a:r>
              <a:rPr lang="en-US" sz="1150" dirty="0">
                <a:solidFill>
                  <a:srgbClr val="6B6880"/>
                </a:solidFill>
                <a:latin typeface="Calibri" pitchFamily="34" charset="0"/>
                <a:ea typeface="Calibri" pitchFamily="34" charset="-122"/>
                <a:cs typeface="Calibri" pitchFamily="34" charset="-120"/>
              </a:rPr>
              <a:t>angular scan — the fast axis</a:t>
            </a:r>
            <a:endParaRPr lang="en-US" sz="1150" dirty="0"/>
          </a:p>
        </p:txBody>
      </p:sp>
      <p:sp>
        <p:nvSpPr>
          <p:cNvPr id="16" name="Shape 14"/>
          <p:cNvSpPr/>
          <p:nvPr/>
        </p:nvSpPr>
        <p:spPr>
          <a:xfrm>
            <a:off x="594360" y="3218688"/>
            <a:ext cx="310896" cy="310896"/>
          </a:xfrm>
          <a:prstGeom prst="ellipse">
            <a:avLst/>
          </a:prstGeom>
          <a:solidFill>
            <a:srgbClr val="4C3FA6"/>
          </a:solidFill>
          <a:ln w="12700">
            <a:solidFill>
              <a:srgbClr val="4C3FA6"/>
            </a:solidFill>
            <a:prstDash val="solid"/>
          </a:ln>
        </p:spPr>
      </p:sp>
      <p:sp>
        <p:nvSpPr>
          <p:cNvPr id="17" name="Text 15"/>
          <p:cNvSpPr txBox="1"/>
          <p:nvPr/>
        </p:nvSpPr>
        <p:spPr>
          <a:xfrm>
            <a:off x="594360" y="32186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051560" y="3191256"/>
            <a:ext cx="2606040" cy="274320"/>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Lens L1 + L2</a:t>
            </a:r>
            <a:endParaRPr lang="en-US" sz="1250" dirty="0"/>
          </a:p>
        </p:txBody>
      </p:sp>
      <p:sp>
        <p:nvSpPr>
          <p:cNvPr id="19" name="Text 17"/>
          <p:cNvSpPr txBox="1"/>
          <p:nvPr/>
        </p:nvSpPr>
        <p:spPr>
          <a:xfrm>
            <a:off x="3721608" y="3163824"/>
            <a:ext cx="3977640" cy="420624"/>
          </a:xfrm>
          <a:prstGeom prst="rect">
            <a:avLst/>
          </a:prstGeom>
          <a:noFill/>
          <a:ln/>
        </p:spPr>
        <p:txBody>
          <a:bodyPr wrap="square" lIns="0" tIns="0" rIns="0" bIns="0" rtlCol="0" anchor="t"/>
          <a:lstStyle/>
          <a:p>
            <a:pPr indent="0" marL="0">
              <a:lnSpc>
                <a:spcPts val="1500"/>
              </a:lnSpc>
              <a:buNone/>
            </a:pPr>
            <a:r>
              <a:rPr lang="en-US" sz="1150" dirty="0">
                <a:solidFill>
                  <a:srgbClr val="6B6880"/>
                </a:solidFill>
                <a:latin typeface="Calibri" pitchFamily="34" charset="0"/>
                <a:ea typeface="Calibri" pitchFamily="34" charset="-122"/>
                <a:cs typeface="Calibri" pitchFamily="34" charset="-120"/>
              </a:rPr>
              <a:t>relay / telescope; sets beam diameter (100 mm + 250 mm → M = 2.5)</a:t>
            </a:r>
            <a:endParaRPr lang="en-US" sz="1150" dirty="0"/>
          </a:p>
        </p:txBody>
      </p:sp>
      <p:sp>
        <p:nvSpPr>
          <p:cNvPr id="20" name="Shape 18"/>
          <p:cNvSpPr/>
          <p:nvPr/>
        </p:nvSpPr>
        <p:spPr>
          <a:xfrm>
            <a:off x="594360" y="3767328"/>
            <a:ext cx="310896" cy="310896"/>
          </a:xfrm>
          <a:prstGeom prst="ellipse">
            <a:avLst/>
          </a:prstGeom>
          <a:solidFill>
            <a:srgbClr val="4C3FA6"/>
          </a:solidFill>
          <a:ln w="12700">
            <a:solidFill>
              <a:srgbClr val="4C3FA6"/>
            </a:solidFill>
            <a:prstDash val="solid"/>
          </a:ln>
        </p:spPr>
      </p:sp>
      <p:sp>
        <p:nvSpPr>
          <p:cNvPr id="21" name="Text 19"/>
          <p:cNvSpPr txBox="1"/>
          <p:nvPr/>
        </p:nvSpPr>
        <p:spPr>
          <a:xfrm>
            <a:off x="594360" y="37673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051560" y="3739896"/>
            <a:ext cx="2606040" cy="274320"/>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Lens L3</a:t>
            </a:r>
            <a:endParaRPr lang="en-US" sz="1250" dirty="0"/>
          </a:p>
        </p:txBody>
      </p:sp>
      <p:sp>
        <p:nvSpPr>
          <p:cNvPr id="23" name="Text 21"/>
          <p:cNvSpPr txBox="1"/>
          <p:nvPr/>
        </p:nvSpPr>
        <p:spPr>
          <a:xfrm>
            <a:off x="3721608" y="3712464"/>
            <a:ext cx="3977640" cy="420624"/>
          </a:xfrm>
          <a:prstGeom prst="rect">
            <a:avLst/>
          </a:prstGeom>
          <a:noFill/>
          <a:ln/>
        </p:spPr>
        <p:txBody>
          <a:bodyPr wrap="square" lIns="0" tIns="0" rIns="0" bIns="0" rtlCol="0" anchor="t"/>
          <a:lstStyle/>
          <a:p>
            <a:pPr indent="0" marL="0">
              <a:lnSpc>
                <a:spcPts val="1500"/>
              </a:lnSpc>
              <a:buNone/>
            </a:pPr>
            <a:r>
              <a:rPr lang="en-US" sz="1150" dirty="0">
                <a:solidFill>
                  <a:srgbClr val="6B6880"/>
                </a:solidFill>
                <a:latin typeface="Calibri" pitchFamily="34" charset="0"/>
                <a:ea typeface="Calibri" pitchFamily="34" charset="-122"/>
                <a:cs typeface="Calibri" pitchFamily="34" charset="-120"/>
              </a:rPr>
              <a:t>converts galvo angle into displacement at the sample</a:t>
            </a:r>
            <a:endParaRPr lang="en-US" sz="1150" dirty="0"/>
          </a:p>
        </p:txBody>
      </p:sp>
      <p:sp>
        <p:nvSpPr>
          <p:cNvPr id="24" name="Shape 22"/>
          <p:cNvSpPr/>
          <p:nvPr/>
        </p:nvSpPr>
        <p:spPr>
          <a:xfrm>
            <a:off x="594360" y="4315968"/>
            <a:ext cx="310896" cy="310896"/>
          </a:xfrm>
          <a:prstGeom prst="ellipse">
            <a:avLst/>
          </a:prstGeom>
          <a:solidFill>
            <a:srgbClr val="D98A1F"/>
          </a:solidFill>
          <a:ln w="12700">
            <a:solidFill>
              <a:srgbClr val="D98A1F"/>
            </a:solidFill>
            <a:prstDash val="solid"/>
          </a:ln>
        </p:spPr>
      </p:sp>
      <p:sp>
        <p:nvSpPr>
          <p:cNvPr id="25" name="Text 23"/>
          <p:cNvSpPr txBox="1"/>
          <p:nvPr/>
        </p:nvSpPr>
        <p:spPr>
          <a:xfrm>
            <a:off x="594360" y="43159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4"/>
          <p:cNvSpPr txBox="1"/>
          <p:nvPr/>
        </p:nvSpPr>
        <p:spPr>
          <a:xfrm>
            <a:off x="1051560" y="4288536"/>
            <a:ext cx="2606040" cy="274320"/>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Diffractive grating</a:t>
            </a:r>
            <a:endParaRPr lang="en-US" sz="1250" dirty="0"/>
          </a:p>
        </p:txBody>
      </p:sp>
      <p:sp>
        <p:nvSpPr>
          <p:cNvPr id="27" name="Text 25"/>
          <p:cNvSpPr txBox="1"/>
          <p:nvPr/>
        </p:nvSpPr>
        <p:spPr>
          <a:xfrm>
            <a:off x="3721608" y="4261104"/>
            <a:ext cx="3977640" cy="420624"/>
          </a:xfrm>
          <a:prstGeom prst="rect">
            <a:avLst/>
          </a:prstGeom>
          <a:noFill/>
          <a:ln/>
        </p:spPr>
        <p:txBody>
          <a:bodyPr wrap="square" lIns="0" tIns="0" rIns="0" bIns="0" rtlCol="0" anchor="t"/>
          <a:lstStyle/>
          <a:p>
            <a:pPr indent="0" marL="0">
              <a:lnSpc>
                <a:spcPts val="1500"/>
              </a:lnSpc>
              <a:buNone/>
            </a:pPr>
            <a:r>
              <a:rPr lang="en-US" sz="1150" dirty="0">
                <a:solidFill>
                  <a:srgbClr val="6B6880"/>
                </a:solidFill>
                <a:latin typeface="Calibri" pitchFamily="34" charset="0"/>
                <a:ea typeface="Calibri" pitchFamily="34" charset="-122"/>
                <a:cs typeface="Calibri" pitchFamily="34" charset="-120"/>
              </a:rPr>
              <a:t>splits into multiple orders — this is where “parallel” comes from</a:t>
            </a:r>
            <a:endParaRPr lang="en-US" sz="1150" dirty="0"/>
          </a:p>
        </p:txBody>
      </p:sp>
      <p:sp>
        <p:nvSpPr>
          <p:cNvPr id="28" name="Shape 26"/>
          <p:cNvSpPr/>
          <p:nvPr/>
        </p:nvSpPr>
        <p:spPr>
          <a:xfrm>
            <a:off x="594360" y="4864608"/>
            <a:ext cx="310896" cy="310896"/>
          </a:xfrm>
          <a:prstGeom prst="ellipse">
            <a:avLst/>
          </a:prstGeom>
          <a:solidFill>
            <a:srgbClr val="4C3FA6"/>
          </a:solidFill>
          <a:ln w="12700">
            <a:solidFill>
              <a:srgbClr val="4C3FA6"/>
            </a:solidFill>
            <a:prstDash val="solid"/>
          </a:ln>
        </p:spPr>
      </p:sp>
      <p:sp>
        <p:nvSpPr>
          <p:cNvPr id="29" name="Text 27"/>
          <p:cNvSpPr txBox="1"/>
          <p:nvPr/>
        </p:nvSpPr>
        <p:spPr>
          <a:xfrm>
            <a:off x="594360" y="48646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0" name="Text 28"/>
          <p:cNvSpPr txBox="1"/>
          <p:nvPr/>
        </p:nvSpPr>
        <p:spPr>
          <a:xfrm>
            <a:off x="1051560" y="4837176"/>
            <a:ext cx="2606040" cy="274320"/>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Lens L4 / objective</a:t>
            </a:r>
            <a:endParaRPr lang="en-US" sz="1250" dirty="0"/>
          </a:p>
        </p:txBody>
      </p:sp>
      <p:sp>
        <p:nvSpPr>
          <p:cNvPr id="31" name="Text 29"/>
          <p:cNvSpPr txBox="1"/>
          <p:nvPr/>
        </p:nvSpPr>
        <p:spPr>
          <a:xfrm>
            <a:off x="3721608" y="4809744"/>
            <a:ext cx="3977640" cy="420624"/>
          </a:xfrm>
          <a:prstGeom prst="rect">
            <a:avLst/>
          </a:prstGeom>
          <a:noFill/>
          <a:ln/>
        </p:spPr>
        <p:txBody>
          <a:bodyPr wrap="square" lIns="0" tIns="0" rIns="0" bIns="0" rtlCol="0" anchor="t"/>
          <a:lstStyle/>
          <a:p>
            <a:pPr indent="0" marL="0">
              <a:lnSpc>
                <a:spcPts val="1500"/>
              </a:lnSpc>
              <a:buNone/>
            </a:pPr>
            <a:r>
              <a:rPr lang="en-US" sz="1150" dirty="0">
                <a:solidFill>
                  <a:srgbClr val="6B6880"/>
                </a:solidFill>
                <a:latin typeface="Calibri" pitchFamily="34" charset="0"/>
                <a:ea typeface="Calibri" pitchFamily="34" charset="-122"/>
                <a:cs typeface="Calibri" pitchFamily="34" charset="-120"/>
              </a:rPr>
              <a:t>final focus onto tissue; fills the aperture</a:t>
            </a:r>
            <a:endParaRPr lang="en-US" sz="1150" dirty="0"/>
          </a:p>
        </p:txBody>
      </p:sp>
      <p:sp>
        <p:nvSpPr>
          <p:cNvPr id="32" name="Shape 30"/>
          <p:cNvSpPr/>
          <p:nvPr/>
        </p:nvSpPr>
        <p:spPr>
          <a:xfrm>
            <a:off x="594360" y="5413248"/>
            <a:ext cx="310896" cy="310896"/>
          </a:xfrm>
          <a:prstGeom prst="ellipse">
            <a:avLst/>
          </a:prstGeom>
          <a:solidFill>
            <a:srgbClr val="4C3FA6"/>
          </a:solidFill>
          <a:ln w="12700">
            <a:solidFill>
              <a:srgbClr val="4C3FA6"/>
            </a:solidFill>
            <a:prstDash val="solid"/>
          </a:ln>
        </p:spPr>
      </p:sp>
      <p:sp>
        <p:nvSpPr>
          <p:cNvPr id="33" name="Text 31"/>
          <p:cNvSpPr txBox="1"/>
          <p:nvPr/>
        </p:nvSpPr>
        <p:spPr>
          <a:xfrm>
            <a:off x="594360" y="54132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4" name="Text 32"/>
          <p:cNvSpPr txBox="1"/>
          <p:nvPr/>
        </p:nvSpPr>
        <p:spPr>
          <a:xfrm>
            <a:off x="1051560" y="5385816"/>
            <a:ext cx="2606040" cy="274320"/>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Tissue → 2 transducers</a:t>
            </a:r>
            <a:endParaRPr lang="en-US" sz="1250" dirty="0"/>
          </a:p>
        </p:txBody>
      </p:sp>
      <p:sp>
        <p:nvSpPr>
          <p:cNvPr id="35" name="Text 33"/>
          <p:cNvSpPr txBox="1"/>
          <p:nvPr/>
        </p:nvSpPr>
        <p:spPr>
          <a:xfrm>
            <a:off x="3721608" y="5358384"/>
            <a:ext cx="3977640" cy="420624"/>
          </a:xfrm>
          <a:prstGeom prst="rect">
            <a:avLst/>
          </a:prstGeom>
          <a:noFill/>
          <a:ln/>
        </p:spPr>
        <p:txBody>
          <a:bodyPr wrap="square" lIns="0" tIns="0" rIns="0" bIns="0" rtlCol="0" anchor="t"/>
          <a:lstStyle/>
          <a:p>
            <a:pPr indent="0" marL="0">
              <a:lnSpc>
                <a:spcPts val="1500"/>
              </a:lnSpc>
              <a:buNone/>
            </a:pPr>
            <a:r>
              <a:rPr lang="en-US" sz="1150" dirty="0">
                <a:solidFill>
                  <a:srgbClr val="6B6880"/>
                </a:solidFill>
                <a:latin typeface="Calibri" pitchFamily="34" charset="0"/>
                <a:ea typeface="Calibri" pitchFamily="34" charset="-122"/>
                <a:cs typeface="Calibri" pitchFamily="34" charset="-120"/>
              </a:rPr>
              <a:t>PA wave detection</a:t>
            </a:r>
            <a:endParaRPr lang="en-US" sz="1150" dirty="0"/>
          </a:p>
        </p:txBody>
      </p:sp>
      <p:sp>
        <p:nvSpPr>
          <p:cNvPr id="36" name="Shape 34"/>
          <p:cNvSpPr/>
          <p:nvPr/>
        </p:nvSpPr>
        <p:spPr>
          <a:xfrm>
            <a:off x="7699248" y="1536192"/>
            <a:ext cx="3867912" cy="2057400"/>
          </a:xfrm>
          <a:prstGeom prst="roundRect">
            <a:avLst>
              <a:gd name="adj" fmla="val 2667"/>
            </a:avLst>
          </a:prstGeom>
          <a:solidFill>
            <a:srgbClr val="F2F1F7"/>
          </a:solidFill>
          <a:ln w="12700">
            <a:solidFill>
              <a:srgbClr val="F2F1F7"/>
            </a:solidFill>
            <a:prstDash val="solid"/>
          </a:ln>
        </p:spPr>
      </p:sp>
      <p:sp>
        <p:nvSpPr>
          <p:cNvPr id="37" name="Text 35"/>
          <p:cNvSpPr txBox="1"/>
          <p:nvPr/>
        </p:nvSpPr>
        <p:spPr>
          <a:xfrm>
            <a:off x="7973568" y="1719072"/>
            <a:ext cx="3200400" cy="292608"/>
          </a:xfrm>
          <a:prstGeom prst="rect">
            <a:avLst/>
          </a:prstGeom>
          <a:noFill/>
          <a:ln/>
        </p:spPr>
        <p:txBody>
          <a:bodyPr wrap="square" lIns="0" tIns="0" rIns="0" bIns="0" rtlCol="0" anchor="ctr"/>
          <a:lstStyle/>
          <a:p>
            <a:pPr indent="0" marL="0">
              <a:buNone/>
            </a:pPr>
            <a:r>
              <a:rPr lang="en-US" sz="1700" b="1" dirty="0">
                <a:solidFill>
                  <a:srgbClr val="1A1633"/>
                </a:solidFill>
                <a:latin typeface="Cambria" pitchFamily="34" charset="0"/>
                <a:ea typeface="Cambria" pitchFamily="34" charset="-122"/>
                <a:cs typeface="Cambria" pitchFamily="34" charset="-120"/>
              </a:rPr>
              <a:t>Why so many lenses</a:t>
            </a:r>
            <a:endParaRPr lang="en-US" sz="1700" dirty="0"/>
          </a:p>
        </p:txBody>
      </p:sp>
      <p:sp>
        <p:nvSpPr>
          <p:cNvPr id="38" name="Text 36"/>
          <p:cNvSpPr txBox="1"/>
          <p:nvPr/>
        </p:nvSpPr>
        <p:spPr>
          <a:xfrm>
            <a:off x="7973568" y="2048256"/>
            <a:ext cx="3200400" cy="310896"/>
          </a:xfrm>
          <a:prstGeom prst="rect">
            <a:avLst/>
          </a:prstGeom>
          <a:noFill/>
          <a:ln/>
        </p:spPr>
        <p:txBody>
          <a:bodyPr wrap="square" lIns="0" tIns="0" rIns="0" bIns="0" rtlCol="0" anchor="ctr"/>
          <a:lstStyle/>
          <a:p>
            <a:pPr indent="0" marL="0">
              <a:buNone/>
            </a:pPr>
            <a:r>
              <a:rPr lang="en-US" sz="1800" b="1" i="1" dirty="0">
                <a:solidFill>
                  <a:srgbClr val="4C3FA6"/>
                </a:solidFill>
                <a:latin typeface="Cambria" pitchFamily="34" charset="0"/>
                <a:ea typeface="Cambria" pitchFamily="34" charset="-122"/>
                <a:cs typeface="Cambria" pitchFamily="34" charset="-120"/>
              </a:rPr>
              <a:t>spot size ∝ λf / D</a:t>
            </a:r>
            <a:endParaRPr lang="en-US" sz="1800" dirty="0"/>
          </a:p>
        </p:txBody>
      </p:sp>
      <p:sp>
        <p:nvSpPr>
          <p:cNvPr id="39" name="Text 37"/>
          <p:cNvSpPr txBox="1"/>
          <p:nvPr/>
        </p:nvSpPr>
        <p:spPr>
          <a:xfrm>
            <a:off x="7973568" y="2450592"/>
            <a:ext cx="3246120" cy="1005840"/>
          </a:xfrm>
          <a:prstGeom prst="rect">
            <a:avLst/>
          </a:prstGeom>
          <a:noFill/>
          <a:ln/>
        </p:spPr>
        <p:txBody>
          <a:bodyPr wrap="square" lIns="0" tIns="0" rIns="0" bIns="0" rtlCol="0" anchor="ctr"/>
          <a:lstStyle/>
          <a:p>
            <a:pPr indent="0" marL="0">
              <a:lnSpc>
                <a:spcPts val="1500"/>
              </a:lnSpc>
              <a:buNone/>
            </a:pPr>
            <a:r>
              <a:rPr lang="en-US" sz="1150" dirty="0">
                <a:solidFill>
                  <a:srgbClr val="1A1633"/>
                </a:solidFill>
                <a:latin typeface="Calibri" pitchFamily="34" charset="0"/>
                <a:ea typeface="Calibri" pitchFamily="34" charset="-122"/>
                <a:cs typeface="Calibri" pitchFamily="34" charset="-120"/>
              </a:rPr>
              <a:t>Each lens does a different job — collimate, expand, relay, fill the aperture. A wider beam into the focusing lens gives a smaller spot, so beam expansion is what buys lateral resolution.</a:t>
            </a:r>
            <a:endParaRPr lang="en-US" sz="1150" dirty="0"/>
          </a:p>
        </p:txBody>
      </p:sp>
      <p:sp>
        <p:nvSpPr>
          <p:cNvPr id="40" name="Shape 38"/>
          <p:cNvSpPr/>
          <p:nvPr/>
        </p:nvSpPr>
        <p:spPr>
          <a:xfrm>
            <a:off x="7699248" y="3794760"/>
            <a:ext cx="3867912" cy="1965960"/>
          </a:xfrm>
          <a:prstGeom prst="roundRect">
            <a:avLst>
              <a:gd name="adj" fmla="val 2791"/>
            </a:avLst>
          </a:prstGeom>
          <a:solidFill>
            <a:srgbClr val="FFFFFF"/>
          </a:solidFill>
          <a:ln w="12700">
            <a:solidFill>
              <a:srgbClr val="D98A1F"/>
            </a:solidFill>
            <a:prstDash val="solid"/>
          </a:ln>
        </p:spPr>
      </p:sp>
      <p:sp>
        <p:nvSpPr>
          <p:cNvPr id="41" name="Text 39"/>
          <p:cNvSpPr txBox="1"/>
          <p:nvPr/>
        </p:nvSpPr>
        <p:spPr>
          <a:xfrm>
            <a:off x="7973568" y="3977640"/>
            <a:ext cx="3200400" cy="256032"/>
          </a:xfrm>
          <a:prstGeom prst="rect">
            <a:avLst/>
          </a:prstGeom>
          <a:noFill/>
          <a:ln/>
        </p:spPr>
        <p:txBody>
          <a:bodyPr wrap="square" lIns="0" tIns="0" rIns="0" bIns="0" rtlCol="0" anchor="ctr"/>
          <a:lstStyle/>
          <a:p>
            <a:pPr indent="0" marL="0">
              <a:buNone/>
            </a:pPr>
            <a:r>
              <a:rPr lang="en-US" sz="1000" b="1" spc="120" kern="0" dirty="0">
                <a:solidFill>
                  <a:srgbClr val="D98A1F"/>
                </a:solidFill>
                <a:latin typeface="Calibri" pitchFamily="34" charset="0"/>
                <a:ea typeface="Calibri" pitchFamily="34" charset="-122"/>
                <a:cs typeface="Calibri" pitchFamily="34" charset="-120"/>
              </a:rPr>
              <a:t>OPEN QUESTION</a:t>
            </a:r>
            <a:endParaRPr lang="en-US" sz="1000" dirty="0"/>
          </a:p>
        </p:txBody>
      </p:sp>
      <p:sp>
        <p:nvSpPr>
          <p:cNvPr id="42" name="Text 40"/>
          <p:cNvSpPr txBox="1"/>
          <p:nvPr/>
        </p:nvSpPr>
        <p:spPr>
          <a:xfrm>
            <a:off x="7973568" y="4261104"/>
            <a:ext cx="3246120" cy="1234440"/>
          </a:xfrm>
          <a:prstGeom prst="rect">
            <a:avLst/>
          </a:prstGeom>
          <a:noFill/>
          <a:ln/>
        </p:spPr>
        <p:txBody>
          <a:bodyPr wrap="square" lIns="0" tIns="0" rIns="0" bIns="0" rtlCol="0" anchor="ctr"/>
          <a:lstStyle/>
          <a:p>
            <a:pPr indent="0" marL="0">
              <a:lnSpc>
                <a:spcPts val="1600"/>
              </a:lnSpc>
              <a:buNone/>
            </a:pPr>
            <a:r>
              <a:rPr lang="en-US" sz="1200" dirty="0">
                <a:solidFill>
                  <a:srgbClr val="1A1633"/>
                </a:solidFill>
                <a:latin typeface="Calibri" pitchFamily="34" charset="0"/>
                <a:ea typeface="Calibri" pitchFamily="34" charset="-122"/>
                <a:cs typeface="Calibri" pitchFamily="34" charset="-120"/>
              </a:rPr>
              <a:t>Which physical lens is the 100 mm and which is the 250 mm? I want to walk the bench with the paper schematic and label each mount before the galvo work starts.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200" kern="0" dirty="0">
                <a:solidFill>
                  <a:srgbClr val="4C3FA6"/>
                </a:solidFill>
                <a:latin typeface="Calibri" pitchFamily="34" charset="0"/>
                <a:ea typeface="Calibri" pitchFamily="34" charset="-122"/>
                <a:cs typeface="Calibri" pitchFamily="34" charset="-120"/>
              </a:rPr>
              <a:t>SINCE OUR LAST MEETING</a:t>
            </a:r>
            <a:endParaRPr lang="en-US" sz="1100" dirty="0"/>
          </a:p>
        </p:txBody>
      </p:sp>
      <p:sp>
        <p:nvSpPr>
          <p:cNvPr id="3" name="Text 1"/>
          <p:cNvSpPr txBox="1"/>
          <p:nvPr/>
        </p:nvSpPr>
        <p:spPr>
          <a:xfrm>
            <a:off x="594360" y="640080"/>
            <a:ext cx="10972800" cy="658368"/>
          </a:xfrm>
          <a:prstGeom prst="rect">
            <a:avLst/>
          </a:prstGeom>
          <a:noFill/>
          <a:ln/>
        </p:spPr>
        <p:txBody>
          <a:bodyPr wrap="square" lIns="0" tIns="0" rIns="0" bIns="0" rtlCol="0" anchor="t"/>
          <a:lstStyle/>
          <a:p>
            <a:pPr indent="0" marL="0">
              <a:buNone/>
            </a:pPr>
            <a:r>
              <a:rPr lang="en-US" sz="3000" b="1" dirty="0">
                <a:solidFill>
                  <a:srgbClr val="1A1633"/>
                </a:solidFill>
                <a:latin typeface="Cambria" pitchFamily="34" charset="0"/>
                <a:ea typeface="Cambria" pitchFamily="34" charset="-122"/>
                <a:cs typeface="Cambria" pitchFamily="34" charset="-120"/>
              </a:rPr>
              <a:t>Done, in progress, not started</a:t>
            </a:r>
            <a:endParaRPr lang="en-US" sz="3000" dirty="0"/>
          </a:p>
        </p:txBody>
      </p:sp>
      <p:sp>
        <p:nvSpPr>
          <p:cNvPr id="4" name="Shape 2"/>
          <p:cNvSpPr/>
          <p:nvPr/>
        </p:nvSpPr>
        <p:spPr>
          <a:xfrm>
            <a:off x="594360" y="1572768"/>
            <a:ext cx="3401568" cy="4069080"/>
          </a:xfrm>
          <a:prstGeom prst="roundRect">
            <a:avLst>
              <a:gd name="adj" fmla="val 1613"/>
            </a:avLst>
          </a:prstGeom>
          <a:solidFill>
            <a:srgbClr val="F2F1F7"/>
          </a:solidFill>
          <a:ln w="12700">
            <a:solidFill>
              <a:srgbClr val="F2F1F7"/>
            </a:solidFill>
            <a:prstDash val="solid"/>
          </a:ln>
        </p:spPr>
      </p:sp>
      <p:sp>
        <p:nvSpPr>
          <p:cNvPr id="5" name="Shape 3"/>
          <p:cNvSpPr/>
          <p:nvPr/>
        </p:nvSpPr>
        <p:spPr>
          <a:xfrm>
            <a:off x="850392" y="1847088"/>
            <a:ext cx="155448" cy="155448"/>
          </a:xfrm>
          <a:prstGeom prst="ellipse">
            <a:avLst/>
          </a:prstGeom>
          <a:solidFill>
            <a:srgbClr val="1F9AAF"/>
          </a:solidFill>
          <a:ln w="12700">
            <a:solidFill>
              <a:srgbClr val="333333"/>
            </a:solidFill>
            <a:prstDash val="solid"/>
          </a:ln>
        </p:spPr>
      </p:sp>
      <p:sp>
        <p:nvSpPr>
          <p:cNvPr id="6" name="Text 4"/>
          <p:cNvSpPr txBox="1"/>
          <p:nvPr/>
        </p:nvSpPr>
        <p:spPr>
          <a:xfrm>
            <a:off x="1106424" y="1746504"/>
            <a:ext cx="2670048" cy="347472"/>
          </a:xfrm>
          <a:prstGeom prst="rect">
            <a:avLst/>
          </a:prstGeom>
          <a:noFill/>
          <a:ln/>
        </p:spPr>
        <p:txBody>
          <a:bodyPr wrap="square" lIns="0" tIns="0" rIns="0" bIns="0" rtlCol="0" anchor="ctr"/>
          <a:lstStyle/>
          <a:p>
            <a:pPr indent="0" marL="0">
              <a:buNone/>
            </a:pPr>
            <a:r>
              <a:rPr lang="en-US" sz="1800" b="1" dirty="0">
                <a:solidFill>
                  <a:srgbClr val="1A1633"/>
                </a:solidFill>
                <a:latin typeface="Cambria" pitchFamily="34" charset="0"/>
                <a:ea typeface="Cambria" pitchFamily="34" charset="-122"/>
                <a:cs typeface="Cambria" pitchFamily="34" charset="-120"/>
              </a:rPr>
              <a:t>Done</a:t>
            </a:r>
            <a:endParaRPr lang="en-US" sz="1800" dirty="0"/>
          </a:p>
        </p:txBody>
      </p:sp>
      <p:sp>
        <p:nvSpPr>
          <p:cNvPr id="7" name="Text 5"/>
          <p:cNvSpPr txBox="1"/>
          <p:nvPr/>
        </p:nvSpPr>
        <p:spPr>
          <a:xfrm>
            <a:off x="3337560" y="1746504"/>
            <a:ext cx="457200" cy="347472"/>
          </a:xfrm>
          <a:prstGeom prst="rect">
            <a:avLst/>
          </a:prstGeom>
          <a:noFill/>
          <a:ln/>
        </p:spPr>
        <p:txBody>
          <a:bodyPr wrap="square" lIns="0" tIns="0" rIns="0" bIns="0" rtlCol="0" anchor="ctr"/>
          <a:lstStyle/>
          <a:p>
            <a:pPr algn="r" indent="0" marL="0">
              <a:buNone/>
            </a:pPr>
            <a:r>
              <a:rPr lang="en-US" sz="1800" b="1" dirty="0">
                <a:solidFill>
                  <a:srgbClr val="1F9AAF"/>
                </a:solidFill>
                <a:latin typeface="Cambria" pitchFamily="34" charset="0"/>
                <a:ea typeface="Cambria" pitchFamily="34" charset="-122"/>
                <a:cs typeface="Cambria" pitchFamily="34" charset="-120"/>
              </a:rPr>
              <a:t>5</a:t>
            </a:r>
            <a:endParaRPr lang="en-US" sz="1800" dirty="0"/>
          </a:p>
        </p:txBody>
      </p:sp>
      <p:sp>
        <p:nvSpPr>
          <p:cNvPr id="8" name="Text 6"/>
          <p:cNvSpPr txBox="1"/>
          <p:nvPr/>
        </p:nvSpPr>
        <p:spPr>
          <a:xfrm>
            <a:off x="868680" y="2286000"/>
            <a:ext cx="2852928" cy="3108960"/>
          </a:xfrm>
          <a:prstGeom prst="rect">
            <a:avLst/>
          </a:prstGeom>
          <a:noFill/>
          <a:ln/>
        </p:spPr>
        <p:txBody>
          <a:bodyPr wrap="square" lIns="0" tIns="0" rIns="0" bIns="0" rtlCol="0" anchor="t"/>
          <a:lstStyle/>
          <a:p>
            <a:pPr marL="342900" indent="-342900">
              <a:lnSpc>
                <a:spcPts val="1550"/>
              </a:lnSpc>
              <a:spcAft>
                <a:spcPts val="900"/>
              </a:spcAft>
              <a:buSzPct val="100000"/>
              <a:buChar char="•"/>
            </a:pPr>
            <a:r>
              <a:rPr lang="en-US" sz="1200" dirty="0">
                <a:solidFill>
                  <a:srgbClr val="1A1633"/>
                </a:solidFill>
                <a:latin typeface="Calibri" pitchFamily="34" charset="0"/>
                <a:ea typeface="Calibri" pitchFamily="34" charset="-122"/>
                <a:cs typeface="Calibri" pitchFamily="34" charset="-120"/>
              </a:rPr>
              <a:t>Learned optical alignment (8/25)</a:t>
            </a:r>
            <a:endParaRPr lang="en-US" sz="1200" dirty="0"/>
          </a:p>
          <a:p>
            <a:pPr marL="342900" indent="-342900">
              <a:lnSpc>
                <a:spcPts val="1550"/>
              </a:lnSpc>
              <a:spcAft>
                <a:spcPts val="900"/>
              </a:spcAft>
              <a:buSzPct val="100000"/>
              <a:buChar char="•"/>
            </a:pPr>
            <a:r>
              <a:rPr lang="en-US" sz="1200" dirty="0">
                <a:solidFill>
                  <a:srgbClr val="1A1633"/>
                </a:solidFill>
                <a:latin typeface="Calibri" pitchFamily="34" charset="0"/>
                <a:ea typeface="Calibri" pitchFamily="34" charset="-122"/>
                <a:cs typeface="Calibri" pitchFamily="34" charset="-120"/>
              </a:rPr>
              <a:t>Rewired the motor lines as you asked</a:t>
            </a:r>
            <a:endParaRPr lang="en-US" sz="1200" dirty="0"/>
          </a:p>
          <a:p>
            <a:pPr marL="342900" indent="-342900">
              <a:lnSpc>
                <a:spcPts val="1550"/>
              </a:lnSpc>
              <a:spcAft>
                <a:spcPts val="900"/>
              </a:spcAft>
              <a:buSzPct val="100000"/>
              <a:buChar char="•"/>
            </a:pPr>
            <a:r>
              <a:rPr lang="en-US" sz="1200" dirty="0">
                <a:solidFill>
                  <a:srgbClr val="1A1633"/>
                </a:solidFill>
                <a:latin typeface="Calibri" pitchFamily="34" charset="0"/>
                <a:ea typeface="Calibri" pitchFamily="34" charset="-122"/>
                <a:cs typeface="Calibri" pitchFamily="34" charset="-120"/>
              </a:rPr>
              <a:t>Single-axis motion test on X, Y and Z — all three respond</a:t>
            </a:r>
            <a:endParaRPr lang="en-US" sz="1200" dirty="0"/>
          </a:p>
          <a:p>
            <a:pPr marL="342900" indent="-342900">
              <a:lnSpc>
                <a:spcPts val="1550"/>
              </a:lnSpc>
              <a:spcAft>
                <a:spcPts val="900"/>
              </a:spcAft>
              <a:buSzPct val="100000"/>
              <a:buChar char="•"/>
            </a:pPr>
            <a:r>
              <a:rPr lang="en-US" sz="1200" dirty="0">
                <a:solidFill>
                  <a:srgbClr val="1A1633"/>
                </a:solidFill>
                <a:latin typeface="Calibri" pitchFamily="34" charset="0"/>
                <a:ea typeface="Calibri" pitchFamily="34" charset="-122"/>
                <a:cs typeface="Calibri" pitchFamily="34" charset="-120"/>
              </a:rPr>
              <a:t>Confirmed all three SR2 drivers report no fault (green LED)</a:t>
            </a:r>
            <a:endParaRPr lang="en-US" sz="1200" dirty="0"/>
          </a:p>
          <a:p>
            <a:pPr marL="342900" indent="-342900">
              <a:lnSpc>
                <a:spcPts val="1550"/>
              </a:lnSpc>
              <a:spcAft>
                <a:spcPts val="900"/>
              </a:spcAft>
              <a:buSzPct val="100000"/>
              <a:buChar char="•"/>
            </a:pPr>
            <a:r>
              <a:rPr lang="en-US" sz="1200" dirty="0">
                <a:solidFill>
                  <a:srgbClr val="1A1633"/>
                </a:solidFill>
                <a:latin typeface="Calibri" pitchFamily="34" charset="0"/>
                <a:ea typeface="Calibri" pitchFamily="34" charset="-122"/>
                <a:cs typeface="Calibri" pitchFamily="34" charset="-120"/>
              </a:rPr>
              <a:t>Identified step-size verification as the real gap</a:t>
            </a:r>
            <a:endParaRPr lang="en-US" sz="1200" dirty="0"/>
          </a:p>
        </p:txBody>
      </p:sp>
      <p:sp>
        <p:nvSpPr>
          <p:cNvPr id="9" name="Shape 7"/>
          <p:cNvSpPr/>
          <p:nvPr/>
        </p:nvSpPr>
        <p:spPr>
          <a:xfrm>
            <a:off x="4379976" y="1572768"/>
            <a:ext cx="3401568" cy="4069080"/>
          </a:xfrm>
          <a:prstGeom prst="roundRect">
            <a:avLst>
              <a:gd name="adj" fmla="val 1613"/>
            </a:avLst>
          </a:prstGeom>
          <a:solidFill>
            <a:srgbClr val="FFFFFF"/>
          </a:solidFill>
          <a:ln w="12700">
            <a:solidFill>
              <a:srgbClr val="D6D3E4"/>
            </a:solidFill>
            <a:prstDash val="solid"/>
          </a:ln>
        </p:spPr>
      </p:sp>
      <p:sp>
        <p:nvSpPr>
          <p:cNvPr id="10" name="Shape 8"/>
          <p:cNvSpPr/>
          <p:nvPr/>
        </p:nvSpPr>
        <p:spPr>
          <a:xfrm>
            <a:off x="4636008" y="1847088"/>
            <a:ext cx="155448" cy="155448"/>
          </a:xfrm>
          <a:prstGeom prst="ellipse">
            <a:avLst/>
          </a:prstGeom>
          <a:solidFill>
            <a:srgbClr val="D98A1F"/>
          </a:solidFill>
          <a:ln w="12700">
            <a:solidFill>
              <a:srgbClr val="333333"/>
            </a:solidFill>
            <a:prstDash val="solid"/>
          </a:ln>
        </p:spPr>
      </p:sp>
      <p:sp>
        <p:nvSpPr>
          <p:cNvPr id="11" name="Text 9"/>
          <p:cNvSpPr txBox="1"/>
          <p:nvPr/>
        </p:nvSpPr>
        <p:spPr>
          <a:xfrm>
            <a:off x="4892040" y="1746504"/>
            <a:ext cx="2670048" cy="347472"/>
          </a:xfrm>
          <a:prstGeom prst="rect">
            <a:avLst/>
          </a:prstGeom>
          <a:noFill/>
          <a:ln/>
        </p:spPr>
        <p:txBody>
          <a:bodyPr wrap="square" lIns="0" tIns="0" rIns="0" bIns="0" rtlCol="0" anchor="ctr"/>
          <a:lstStyle/>
          <a:p>
            <a:pPr indent="0" marL="0">
              <a:buNone/>
            </a:pPr>
            <a:r>
              <a:rPr lang="en-US" sz="1800" b="1" dirty="0">
                <a:solidFill>
                  <a:srgbClr val="1A1633"/>
                </a:solidFill>
                <a:latin typeface="Cambria" pitchFamily="34" charset="0"/>
                <a:ea typeface="Cambria" pitchFamily="34" charset="-122"/>
                <a:cs typeface="Cambria" pitchFamily="34" charset="-120"/>
              </a:rPr>
              <a:t>In progress</a:t>
            </a:r>
            <a:endParaRPr lang="en-US" sz="1800" dirty="0"/>
          </a:p>
        </p:txBody>
      </p:sp>
      <p:sp>
        <p:nvSpPr>
          <p:cNvPr id="12" name="Text 10"/>
          <p:cNvSpPr txBox="1"/>
          <p:nvPr/>
        </p:nvSpPr>
        <p:spPr>
          <a:xfrm>
            <a:off x="7123176" y="1746504"/>
            <a:ext cx="457200" cy="347472"/>
          </a:xfrm>
          <a:prstGeom prst="rect">
            <a:avLst/>
          </a:prstGeom>
          <a:noFill/>
          <a:ln/>
        </p:spPr>
        <p:txBody>
          <a:bodyPr wrap="square" lIns="0" tIns="0" rIns="0" bIns="0" rtlCol="0" anchor="ctr"/>
          <a:lstStyle/>
          <a:p>
            <a:pPr algn="r" indent="0" marL="0">
              <a:buNone/>
            </a:pPr>
            <a:r>
              <a:rPr lang="en-US" sz="1800" b="1" dirty="0">
                <a:solidFill>
                  <a:srgbClr val="D98A1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4654296" y="2286000"/>
            <a:ext cx="2852928" cy="3108960"/>
          </a:xfrm>
          <a:prstGeom prst="rect">
            <a:avLst/>
          </a:prstGeom>
          <a:noFill/>
          <a:ln/>
        </p:spPr>
        <p:txBody>
          <a:bodyPr wrap="square" lIns="0" tIns="0" rIns="0" bIns="0" rtlCol="0" anchor="t"/>
          <a:lstStyle/>
          <a:p>
            <a:pPr marL="342900" indent="-342900">
              <a:lnSpc>
                <a:spcPts val="1550"/>
              </a:lnSpc>
              <a:spcAft>
                <a:spcPts val="900"/>
              </a:spcAft>
              <a:buSzPct val="100000"/>
              <a:buChar char="•"/>
            </a:pPr>
            <a:r>
              <a:rPr lang="en-US" sz="1200" dirty="0">
                <a:solidFill>
                  <a:srgbClr val="1A1633"/>
                </a:solidFill>
                <a:latin typeface="Calibri" pitchFamily="34" charset="0"/>
                <a:ea typeface="Calibri" pitchFamily="34" charset="-122"/>
                <a:cs typeface="Calibri" pitchFamily="34" charset="-120"/>
              </a:rPr>
              <a:t>Motor-line correction with Maira — scheduled 9/2 afternoon</a:t>
            </a:r>
            <a:endParaRPr lang="en-US" sz="1200" dirty="0"/>
          </a:p>
          <a:p>
            <a:pPr marL="342900" indent="-342900">
              <a:lnSpc>
                <a:spcPts val="1550"/>
              </a:lnSpc>
              <a:spcAft>
                <a:spcPts val="900"/>
              </a:spcAft>
              <a:buSzPct val="100000"/>
              <a:buChar char="•"/>
            </a:pPr>
            <a:r>
              <a:rPr lang="en-US" sz="1200" dirty="0">
                <a:solidFill>
                  <a:srgbClr val="1A1633"/>
                </a:solidFill>
                <a:latin typeface="Calibri" pitchFamily="34" charset="0"/>
                <a:ea typeface="Calibri" pitchFamily="34" charset="-122"/>
                <a:cs typeface="Calibri" pitchFamily="34" charset="-120"/>
              </a:rPr>
              <a:t>Reading the reference paper’s methods section for target specs</a:t>
            </a:r>
            <a:endParaRPr lang="en-US" sz="1200" dirty="0"/>
          </a:p>
        </p:txBody>
      </p:sp>
      <p:sp>
        <p:nvSpPr>
          <p:cNvPr id="14" name="Shape 12"/>
          <p:cNvSpPr/>
          <p:nvPr/>
        </p:nvSpPr>
        <p:spPr>
          <a:xfrm>
            <a:off x="8165592" y="1572768"/>
            <a:ext cx="3401568" cy="4069080"/>
          </a:xfrm>
          <a:prstGeom prst="roundRect">
            <a:avLst>
              <a:gd name="adj" fmla="val 1613"/>
            </a:avLst>
          </a:prstGeom>
          <a:solidFill>
            <a:srgbClr val="FFFFFF"/>
          </a:solidFill>
          <a:ln w="12700">
            <a:solidFill>
              <a:srgbClr val="D6D3E4"/>
            </a:solidFill>
            <a:prstDash val="solid"/>
          </a:ln>
        </p:spPr>
      </p:sp>
      <p:sp>
        <p:nvSpPr>
          <p:cNvPr id="15" name="Shape 13"/>
          <p:cNvSpPr/>
          <p:nvPr/>
        </p:nvSpPr>
        <p:spPr>
          <a:xfrm>
            <a:off x="8421624" y="1847088"/>
            <a:ext cx="155448" cy="155448"/>
          </a:xfrm>
          <a:prstGeom prst="ellipse">
            <a:avLst/>
          </a:prstGeom>
          <a:solidFill>
            <a:srgbClr val="6B6880"/>
          </a:solidFill>
          <a:ln w="12700">
            <a:solidFill>
              <a:srgbClr val="333333"/>
            </a:solidFill>
            <a:prstDash val="solid"/>
          </a:ln>
        </p:spPr>
      </p:sp>
      <p:sp>
        <p:nvSpPr>
          <p:cNvPr id="16" name="Text 14"/>
          <p:cNvSpPr txBox="1"/>
          <p:nvPr/>
        </p:nvSpPr>
        <p:spPr>
          <a:xfrm>
            <a:off x="8677656" y="1746504"/>
            <a:ext cx="2670048" cy="347472"/>
          </a:xfrm>
          <a:prstGeom prst="rect">
            <a:avLst/>
          </a:prstGeom>
          <a:noFill/>
          <a:ln/>
        </p:spPr>
        <p:txBody>
          <a:bodyPr wrap="square" lIns="0" tIns="0" rIns="0" bIns="0" rtlCol="0" anchor="ctr"/>
          <a:lstStyle/>
          <a:p>
            <a:pPr indent="0" marL="0">
              <a:buNone/>
            </a:pPr>
            <a:r>
              <a:rPr lang="en-US" sz="1800" b="1" dirty="0">
                <a:solidFill>
                  <a:srgbClr val="1A1633"/>
                </a:solidFill>
                <a:latin typeface="Cambria" pitchFamily="34" charset="0"/>
                <a:ea typeface="Cambria" pitchFamily="34" charset="-122"/>
                <a:cs typeface="Cambria" pitchFamily="34" charset="-120"/>
              </a:rPr>
              <a:t>Not started</a:t>
            </a:r>
            <a:endParaRPr lang="en-US" sz="1800" dirty="0"/>
          </a:p>
        </p:txBody>
      </p:sp>
      <p:sp>
        <p:nvSpPr>
          <p:cNvPr id="17" name="Text 15"/>
          <p:cNvSpPr txBox="1"/>
          <p:nvPr/>
        </p:nvSpPr>
        <p:spPr>
          <a:xfrm>
            <a:off x="10908792" y="1746504"/>
            <a:ext cx="457200" cy="347472"/>
          </a:xfrm>
          <a:prstGeom prst="rect">
            <a:avLst/>
          </a:prstGeom>
          <a:noFill/>
          <a:ln/>
        </p:spPr>
        <p:txBody>
          <a:bodyPr wrap="square" lIns="0" tIns="0" rIns="0" bIns="0" rtlCol="0" anchor="ctr"/>
          <a:lstStyle/>
          <a:p>
            <a:pPr algn="r" indent="0" marL="0">
              <a:buNone/>
            </a:pPr>
            <a:r>
              <a:rPr lang="en-US" sz="1800" b="1" dirty="0">
                <a:solidFill>
                  <a:srgbClr val="6B6880"/>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8439912" y="2286000"/>
            <a:ext cx="2852928" cy="3108960"/>
          </a:xfrm>
          <a:prstGeom prst="rect">
            <a:avLst/>
          </a:prstGeom>
          <a:noFill/>
          <a:ln/>
        </p:spPr>
        <p:txBody>
          <a:bodyPr wrap="square" lIns="0" tIns="0" rIns="0" bIns="0" rtlCol="0" anchor="t"/>
          <a:lstStyle/>
          <a:p>
            <a:pPr marL="342900" indent="-342900">
              <a:lnSpc>
                <a:spcPts val="1550"/>
              </a:lnSpc>
              <a:spcAft>
                <a:spcPts val="900"/>
              </a:spcAft>
              <a:buSzPct val="100000"/>
              <a:buChar char="•"/>
            </a:pPr>
            <a:r>
              <a:rPr lang="en-US" sz="1200" dirty="0">
                <a:solidFill>
                  <a:srgbClr val="6B6880"/>
                </a:solidFill>
                <a:latin typeface="Calibri" pitchFamily="34" charset="0"/>
                <a:ea typeface="Calibri" pitchFamily="34" charset="-122"/>
                <a:cs typeface="Calibri" pitchFamily="34" charset="-120"/>
              </a:rPr>
              <a:t>Step-size / pulse-sequence verification — blocked, see next slide</a:t>
            </a:r>
            <a:endParaRPr lang="en-US" sz="1200" dirty="0"/>
          </a:p>
          <a:p>
            <a:pPr marL="342900" indent="-342900">
              <a:lnSpc>
                <a:spcPts val="1550"/>
              </a:lnSpc>
              <a:spcAft>
                <a:spcPts val="900"/>
              </a:spcAft>
              <a:buSzPct val="100000"/>
              <a:buChar char="•"/>
            </a:pPr>
            <a:r>
              <a:rPr lang="en-US" sz="1200" dirty="0">
                <a:solidFill>
                  <a:srgbClr val="6B6880"/>
                </a:solidFill>
                <a:latin typeface="Calibri" pitchFamily="34" charset="0"/>
                <a:ea typeface="Calibri" pitchFamily="34" charset="-122"/>
                <a:cs typeface="Calibri" pitchFamily="34" charset="-120"/>
              </a:rPr>
              <a:t>Galvo (ScannerMAX) testing</a:t>
            </a:r>
            <a:endParaRPr lang="en-US" sz="1200" dirty="0"/>
          </a:p>
          <a:p>
            <a:pPr marL="342900" indent="-342900">
              <a:lnSpc>
                <a:spcPts val="1550"/>
              </a:lnSpc>
              <a:spcAft>
                <a:spcPts val="900"/>
              </a:spcAft>
              <a:buSzPct val="100000"/>
              <a:buChar char="•"/>
            </a:pPr>
            <a:r>
              <a:rPr lang="en-US" sz="1200" dirty="0">
                <a:solidFill>
                  <a:srgbClr val="6B6880"/>
                </a:solidFill>
                <a:latin typeface="Calibri" pitchFamily="34" charset="0"/>
                <a:ea typeface="Calibri" pitchFamily="34" charset="-122"/>
                <a:cs typeface="Calibri" pitchFamily="34" charset="-120"/>
              </a:rPr>
              <a:t>AlazarTech acquisition chain</a:t>
            </a:r>
            <a:endParaRPr lang="en-US" sz="1200" dirty="0"/>
          </a:p>
          <a:p>
            <a:pPr marL="342900" indent="-342900">
              <a:lnSpc>
                <a:spcPts val="1550"/>
              </a:lnSpc>
              <a:spcAft>
                <a:spcPts val="900"/>
              </a:spcAft>
              <a:buSzPct val="100000"/>
              <a:buChar char="•"/>
            </a:pPr>
            <a:r>
              <a:rPr lang="en-US" sz="1200" dirty="0">
                <a:solidFill>
                  <a:srgbClr val="6B6880"/>
                </a:solidFill>
                <a:latin typeface="Calibri" pitchFamily="34" charset="0"/>
                <a:ea typeface="Calibri" pitchFamily="34" charset="-122"/>
                <a:cs typeface="Calibri" pitchFamily="34" charset="-120"/>
              </a:rPr>
              <a:t>Transducer alignment</a:t>
            </a:r>
            <a:endParaRPr lang="en-US" sz="1200" dirty="0"/>
          </a:p>
        </p:txBody>
      </p:sp>
      <p:sp>
        <p:nvSpPr>
          <p:cNvPr id="19" name="Text 17"/>
          <p:cNvSpPr txBox="1"/>
          <p:nvPr/>
        </p:nvSpPr>
        <p:spPr>
          <a:xfrm>
            <a:off x="594360" y="5870448"/>
            <a:ext cx="10972800" cy="292608"/>
          </a:xfrm>
          <a:prstGeom prst="rect">
            <a:avLst/>
          </a:prstGeom>
          <a:noFill/>
          <a:ln/>
        </p:spPr>
        <p:txBody>
          <a:bodyPr wrap="square" lIns="0" tIns="0" rIns="0" bIns="0" rtlCol="0" anchor="ctr"/>
          <a:lstStyle/>
          <a:p>
            <a:pPr indent="0" marL="0">
              <a:buNone/>
            </a:pPr>
            <a:r>
              <a:rPr lang="en-US" sz="1100" i="1" dirty="0">
                <a:solidFill>
                  <a:srgbClr val="6B6880"/>
                </a:solidFill>
                <a:latin typeface="Calibri" pitchFamily="34" charset="0"/>
                <a:ea typeface="Calibri" pitchFamily="34" charset="-122"/>
                <a:cs typeface="Calibri" pitchFamily="34" charset="-120"/>
              </a:rPr>
              <a:t>Panel values used for the motion test (unchanged from what I found):   X 8000 / IN / kx 0.25    ·    Y 200 / RIGHT / ky 0.9    ·    Z 320 / UP / kz 0.25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200" kern="0" dirty="0">
                <a:solidFill>
                  <a:srgbClr val="4C3FA6"/>
                </a:solidFill>
                <a:latin typeface="Calibri" pitchFamily="34" charset="0"/>
                <a:ea typeface="Calibri" pitchFamily="34" charset="-122"/>
                <a:cs typeface="Calibri" pitchFamily="34" charset="-120"/>
              </a:rPr>
              <a:t>RESULT · MOTION TEST</a:t>
            </a:r>
            <a:endParaRPr lang="en-US" sz="1100" dirty="0"/>
          </a:p>
        </p:txBody>
      </p:sp>
      <p:sp>
        <p:nvSpPr>
          <p:cNvPr id="3" name="Text 1"/>
          <p:cNvSpPr txBox="1"/>
          <p:nvPr/>
        </p:nvSpPr>
        <p:spPr>
          <a:xfrm>
            <a:off x="594360" y="640080"/>
            <a:ext cx="10972800" cy="658368"/>
          </a:xfrm>
          <a:prstGeom prst="rect">
            <a:avLst/>
          </a:prstGeom>
          <a:noFill/>
          <a:ln/>
        </p:spPr>
        <p:txBody>
          <a:bodyPr wrap="square" lIns="0" tIns="0" rIns="0" bIns="0" rtlCol="0" anchor="t"/>
          <a:lstStyle/>
          <a:p>
            <a:pPr indent="0" marL="0">
              <a:buNone/>
            </a:pPr>
            <a:r>
              <a:rPr lang="en-US" sz="3000" b="1" dirty="0">
                <a:solidFill>
                  <a:srgbClr val="1A1633"/>
                </a:solidFill>
                <a:latin typeface="Cambria" pitchFamily="34" charset="0"/>
                <a:ea typeface="Cambria" pitchFamily="34" charset="-122"/>
                <a:cs typeface="Cambria" pitchFamily="34" charset="-120"/>
              </a:rPr>
              <a:t>All three axes move — and all three are loud</a:t>
            </a:r>
            <a:endParaRPr lang="en-US" sz="3000" dirty="0"/>
          </a:p>
        </p:txBody>
      </p:sp>
      <p:sp>
        <p:nvSpPr>
          <p:cNvPr id="4" name="Text 2"/>
          <p:cNvSpPr txBox="1"/>
          <p:nvPr/>
        </p:nvSpPr>
        <p:spPr>
          <a:xfrm>
            <a:off x="594360" y="1536192"/>
            <a:ext cx="777240" cy="402336"/>
          </a:xfrm>
          <a:prstGeom prst="rect">
            <a:avLst/>
          </a:prstGeom>
          <a:noFill/>
          <a:ln/>
        </p:spPr>
        <p:txBody>
          <a:bodyPr wrap="square" lIns="0" tIns="0" rIns="0" bIns="0" rtlCol="0" anchor="ctr"/>
          <a:lstStyle/>
          <a:p>
            <a:pPr indent="0" marL="0">
              <a:buNone/>
            </a:pPr>
            <a:r>
              <a:rPr lang="en-US" sz="1100" b="1" spc="80" kern="0" dirty="0">
                <a:solidFill>
                  <a:srgbClr val="4C3FA6"/>
                </a:solidFill>
                <a:latin typeface="Calibri" pitchFamily="34" charset="0"/>
                <a:ea typeface="Calibri" pitchFamily="34" charset="-122"/>
                <a:cs typeface="Calibri" pitchFamily="34" charset="-120"/>
              </a:rPr>
              <a:t>Axis</a:t>
            </a:r>
            <a:endParaRPr lang="en-US" sz="1100" dirty="0"/>
          </a:p>
        </p:txBody>
      </p:sp>
      <p:sp>
        <p:nvSpPr>
          <p:cNvPr id="5" name="Text 3"/>
          <p:cNvSpPr txBox="1"/>
          <p:nvPr/>
        </p:nvSpPr>
        <p:spPr>
          <a:xfrm>
            <a:off x="1371600" y="1536192"/>
            <a:ext cx="2331720" cy="402336"/>
          </a:xfrm>
          <a:prstGeom prst="rect">
            <a:avLst/>
          </a:prstGeom>
          <a:noFill/>
          <a:ln/>
        </p:spPr>
        <p:txBody>
          <a:bodyPr wrap="square" lIns="0" tIns="0" rIns="0" bIns="0" rtlCol="0" anchor="ctr"/>
          <a:lstStyle/>
          <a:p>
            <a:pPr indent="0" marL="0">
              <a:buNone/>
            </a:pPr>
            <a:r>
              <a:rPr lang="en-US" sz="1100" b="1" spc="80" kern="0" dirty="0">
                <a:solidFill>
                  <a:srgbClr val="4C3FA6"/>
                </a:solidFill>
                <a:latin typeface="Calibri" pitchFamily="34" charset="0"/>
                <a:ea typeface="Calibri" pitchFamily="34" charset="-122"/>
                <a:cs typeface="Calibri" pitchFamily="34" charset="-120"/>
              </a:rPr>
              <a:t>Commanded</a:t>
            </a:r>
            <a:endParaRPr lang="en-US" sz="1100" dirty="0"/>
          </a:p>
        </p:txBody>
      </p:sp>
      <p:sp>
        <p:nvSpPr>
          <p:cNvPr id="6" name="Text 4"/>
          <p:cNvSpPr txBox="1"/>
          <p:nvPr/>
        </p:nvSpPr>
        <p:spPr>
          <a:xfrm>
            <a:off x="3703320" y="1536192"/>
            <a:ext cx="960120" cy="402336"/>
          </a:xfrm>
          <a:prstGeom prst="rect">
            <a:avLst/>
          </a:prstGeom>
          <a:noFill/>
          <a:ln/>
        </p:spPr>
        <p:txBody>
          <a:bodyPr wrap="square" lIns="0" tIns="0" rIns="0" bIns="0" rtlCol="0" anchor="ctr"/>
          <a:lstStyle/>
          <a:p>
            <a:pPr indent="0" marL="0">
              <a:buNone/>
            </a:pPr>
            <a:r>
              <a:rPr lang="en-US" sz="1100" b="1" spc="80" kern="0" dirty="0">
                <a:solidFill>
                  <a:srgbClr val="4C3FA6"/>
                </a:solidFill>
                <a:latin typeface="Calibri" pitchFamily="34" charset="0"/>
                <a:ea typeface="Calibri" pitchFamily="34" charset="-122"/>
                <a:cs typeface="Calibri" pitchFamily="34" charset="-120"/>
              </a:rPr>
              <a:t>Moves?</a:t>
            </a:r>
            <a:endParaRPr lang="en-US" sz="1100" dirty="0"/>
          </a:p>
        </p:txBody>
      </p:sp>
      <p:sp>
        <p:nvSpPr>
          <p:cNvPr id="7" name="Text 5"/>
          <p:cNvSpPr txBox="1"/>
          <p:nvPr/>
        </p:nvSpPr>
        <p:spPr>
          <a:xfrm>
            <a:off x="4663440" y="1536192"/>
            <a:ext cx="1874520" cy="402336"/>
          </a:xfrm>
          <a:prstGeom prst="rect">
            <a:avLst/>
          </a:prstGeom>
          <a:noFill/>
          <a:ln/>
        </p:spPr>
        <p:txBody>
          <a:bodyPr wrap="square" lIns="0" tIns="0" rIns="0" bIns="0" rtlCol="0" anchor="ctr"/>
          <a:lstStyle/>
          <a:p>
            <a:pPr indent="0" marL="0">
              <a:buNone/>
            </a:pPr>
            <a:r>
              <a:rPr lang="en-US" sz="1100" b="1" spc="80" kern="0" dirty="0">
                <a:solidFill>
                  <a:srgbClr val="4C3FA6"/>
                </a:solidFill>
                <a:latin typeface="Calibri" pitchFamily="34" charset="0"/>
                <a:ea typeface="Calibri" pitchFamily="34" charset="-122"/>
                <a:cs typeface="Calibri" pitchFamily="34" charset="-120"/>
              </a:rPr>
              <a:t>Driver LED</a:t>
            </a:r>
            <a:endParaRPr lang="en-US" sz="1100" dirty="0"/>
          </a:p>
        </p:txBody>
      </p:sp>
      <p:sp>
        <p:nvSpPr>
          <p:cNvPr id="8" name="Text 6"/>
          <p:cNvSpPr txBox="1"/>
          <p:nvPr/>
        </p:nvSpPr>
        <p:spPr>
          <a:xfrm>
            <a:off x="6537960" y="1536192"/>
            <a:ext cx="1691640" cy="402336"/>
          </a:xfrm>
          <a:prstGeom prst="rect">
            <a:avLst/>
          </a:prstGeom>
          <a:noFill/>
          <a:ln/>
        </p:spPr>
        <p:txBody>
          <a:bodyPr wrap="square" lIns="0" tIns="0" rIns="0" bIns="0" rtlCol="0" anchor="ctr"/>
          <a:lstStyle/>
          <a:p>
            <a:pPr indent="0" marL="0">
              <a:buNone/>
            </a:pPr>
            <a:r>
              <a:rPr lang="en-US" sz="1100" b="1" spc="80" kern="0" dirty="0">
                <a:solidFill>
                  <a:srgbClr val="4C3FA6"/>
                </a:solidFill>
                <a:latin typeface="Calibri" pitchFamily="34" charset="0"/>
                <a:ea typeface="Calibri" pitchFamily="34" charset="-122"/>
                <a:cs typeface="Calibri" pitchFamily="34" charset="-120"/>
              </a:rPr>
              <a:t>µm per pulse</a:t>
            </a:r>
            <a:endParaRPr lang="en-US" sz="1100" dirty="0"/>
          </a:p>
        </p:txBody>
      </p:sp>
      <p:sp>
        <p:nvSpPr>
          <p:cNvPr id="9" name="Text 7"/>
          <p:cNvSpPr txBox="1"/>
          <p:nvPr/>
        </p:nvSpPr>
        <p:spPr>
          <a:xfrm>
            <a:off x="8229600" y="1536192"/>
            <a:ext cx="1051560" cy="402336"/>
          </a:xfrm>
          <a:prstGeom prst="rect">
            <a:avLst/>
          </a:prstGeom>
          <a:noFill/>
          <a:ln/>
        </p:spPr>
        <p:txBody>
          <a:bodyPr wrap="square" lIns="0" tIns="0" rIns="0" bIns="0" rtlCol="0" anchor="ctr"/>
          <a:lstStyle/>
          <a:p>
            <a:pPr indent="0" marL="0">
              <a:buNone/>
            </a:pPr>
            <a:r>
              <a:rPr lang="en-US" sz="1100" b="1" spc="80" kern="0" dirty="0">
                <a:solidFill>
                  <a:srgbClr val="4C3FA6"/>
                </a:solidFill>
                <a:latin typeface="Calibri" pitchFamily="34" charset="0"/>
                <a:ea typeface="Calibri" pitchFamily="34" charset="-122"/>
                <a:cs typeface="Calibri" pitchFamily="34" charset="-120"/>
              </a:rPr>
              <a:t>Noise</a:t>
            </a:r>
            <a:endParaRPr lang="en-US" sz="1100" dirty="0"/>
          </a:p>
        </p:txBody>
      </p:sp>
      <p:sp>
        <p:nvSpPr>
          <p:cNvPr id="10" name="Shape 8"/>
          <p:cNvSpPr/>
          <p:nvPr/>
        </p:nvSpPr>
        <p:spPr>
          <a:xfrm>
            <a:off x="594360" y="1938528"/>
            <a:ext cx="8686800" cy="13716"/>
          </a:xfrm>
          <a:prstGeom prst="rect">
            <a:avLst/>
          </a:prstGeom>
          <a:solidFill>
            <a:srgbClr val="4C3FA6"/>
          </a:solidFill>
          <a:ln w="12700">
            <a:solidFill>
              <a:srgbClr val="333333"/>
            </a:solidFill>
            <a:prstDash val="solid"/>
          </a:ln>
        </p:spPr>
      </p:sp>
      <p:sp>
        <p:nvSpPr>
          <p:cNvPr id="11" name="Shape 9"/>
          <p:cNvSpPr/>
          <p:nvPr/>
        </p:nvSpPr>
        <p:spPr>
          <a:xfrm>
            <a:off x="594360" y="1984248"/>
            <a:ext cx="8686800" cy="402336"/>
          </a:xfrm>
          <a:prstGeom prst="rect">
            <a:avLst/>
          </a:prstGeom>
          <a:solidFill>
            <a:srgbClr val="F2F1F7"/>
          </a:solidFill>
          <a:ln w="12700">
            <a:solidFill>
              <a:srgbClr val="333333"/>
            </a:solidFill>
            <a:prstDash val="solid"/>
          </a:ln>
        </p:spPr>
      </p:sp>
      <p:sp>
        <p:nvSpPr>
          <p:cNvPr id="12" name="Text 10"/>
          <p:cNvSpPr txBox="1"/>
          <p:nvPr/>
        </p:nvSpPr>
        <p:spPr>
          <a:xfrm>
            <a:off x="594360" y="1984248"/>
            <a:ext cx="777240" cy="402336"/>
          </a:xfrm>
          <a:prstGeom prst="rect">
            <a:avLst/>
          </a:prstGeom>
          <a:noFill/>
          <a:ln/>
        </p:spPr>
        <p:txBody>
          <a:bodyPr wrap="square" lIns="0" tIns="0" rIns="0" bIns="0" rtlCol="0" anchor="ctr"/>
          <a:lstStyle/>
          <a:p>
            <a:pPr indent="0" marL="0">
              <a:buNone/>
            </a:pPr>
            <a:r>
              <a:rPr lang="en-US" sz="1300" b="1" dirty="0">
                <a:solidFill>
                  <a:srgbClr val="1A1633"/>
                </a:solidFill>
                <a:latin typeface="Calibri" pitchFamily="34" charset="0"/>
                <a:ea typeface="Calibri" pitchFamily="34" charset="-122"/>
                <a:cs typeface="Calibri" pitchFamily="34" charset="-120"/>
              </a:rPr>
              <a:t>X</a:t>
            </a:r>
            <a:endParaRPr lang="en-US" sz="1300" dirty="0"/>
          </a:p>
        </p:txBody>
      </p:sp>
      <p:sp>
        <p:nvSpPr>
          <p:cNvPr id="13" name="Text 11"/>
          <p:cNvSpPr txBox="1"/>
          <p:nvPr/>
        </p:nvSpPr>
        <p:spPr>
          <a:xfrm>
            <a:off x="1371600" y="1984248"/>
            <a:ext cx="2331720" cy="402336"/>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8000 · IN · kx 0.25</a:t>
            </a:r>
            <a:endParaRPr lang="en-US" sz="1150" dirty="0"/>
          </a:p>
        </p:txBody>
      </p:sp>
      <p:sp>
        <p:nvSpPr>
          <p:cNvPr id="14" name="Text 12"/>
          <p:cNvSpPr txBox="1"/>
          <p:nvPr/>
        </p:nvSpPr>
        <p:spPr>
          <a:xfrm>
            <a:off x="3703320" y="1984248"/>
            <a:ext cx="960120" cy="402336"/>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Yes</a:t>
            </a:r>
            <a:endParaRPr lang="en-US" sz="1150" dirty="0"/>
          </a:p>
        </p:txBody>
      </p:sp>
      <p:sp>
        <p:nvSpPr>
          <p:cNvPr id="15" name="Text 13"/>
          <p:cNvSpPr txBox="1"/>
          <p:nvPr/>
        </p:nvSpPr>
        <p:spPr>
          <a:xfrm>
            <a:off x="4663440" y="1984248"/>
            <a:ext cx="1874520" cy="402336"/>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Green — no fault</a:t>
            </a:r>
            <a:endParaRPr lang="en-US" sz="1150" dirty="0"/>
          </a:p>
        </p:txBody>
      </p:sp>
      <p:sp>
        <p:nvSpPr>
          <p:cNvPr id="16" name="Text 14"/>
          <p:cNvSpPr txBox="1"/>
          <p:nvPr/>
        </p:nvSpPr>
        <p:spPr>
          <a:xfrm>
            <a:off x="6537960" y="1984248"/>
            <a:ext cx="1691640" cy="402336"/>
          </a:xfrm>
          <a:prstGeom prst="rect">
            <a:avLst/>
          </a:prstGeom>
          <a:noFill/>
          <a:ln/>
        </p:spPr>
        <p:txBody>
          <a:bodyPr wrap="square" lIns="0" tIns="0" rIns="0" bIns="0" rtlCol="0" anchor="ctr"/>
          <a:lstStyle/>
          <a:p>
            <a:pPr indent="0" marL="0">
              <a:buNone/>
            </a:pPr>
            <a:r>
              <a:rPr lang="en-US" sz="1150" i="1" dirty="0">
                <a:solidFill>
                  <a:srgbClr val="B33A3A"/>
                </a:solidFill>
                <a:latin typeface="Calibri" pitchFamily="34" charset="0"/>
                <a:ea typeface="Calibri" pitchFamily="34" charset="-122"/>
                <a:cs typeface="Calibri" pitchFamily="34" charset="-120"/>
              </a:rPr>
              <a:t>not measured</a:t>
            </a:r>
            <a:endParaRPr lang="en-US" sz="1150" dirty="0"/>
          </a:p>
        </p:txBody>
      </p:sp>
      <p:sp>
        <p:nvSpPr>
          <p:cNvPr id="17" name="Text 15"/>
          <p:cNvSpPr txBox="1"/>
          <p:nvPr/>
        </p:nvSpPr>
        <p:spPr>
          <a:xfrm>
            <a:off x="8229600" y="1984248"/>
            <a:ext cx="1051560" cy="402336"/>
          </a:xfrm>
          <a:prstGeom prst="rect">
            <a:avLst/>
          </a:prstGeom>
          <a:noFill/>
          <a:ln/>
        </p:spPr>
        <p:txBody>
          <a:bodyPr wrap="square" lIns="0" tIns="0" rIns="0" bIns="0" rtlCol="0" anchor="ctr"/>
          <a:lstStyle/>
          <a:p>
            <a:pPr indent="0" marL="0">
              <a:buNone/>
            </a:pPr>
            <a:r>
              <a:rPr lang="en-US" sz="1150" i="1" dirty="0">
                <a:solidFill>
                  <a:srgbClr val="B33A3A"/>
                </a:solidFill>
                <a:latin typeface="Calibri" pitchFamily="34" charset="0"/>
                <a:ea typeface="Calibri" pitchFamily="34" charset="-122"/>
                <a:cs typeface="Calibri" pitchFamily="34" charset="-120"/>
              </a:rPr>
              <a:t>loud</a:t>
            </a:r>
            <a:endParaRPr lang="en-US" sz="1150" dirty="0"/>
          </a:p>
        </p:txBody>
      </p:sp>
      <p:sp>
        <p:nvSpPr>
          <p:cNvPr id="18" name="Text 16"/>
          <p:cNvSpPr txBox="1"/>
          <p:nvPr/>
        </p:nvSpPr>
        <p:spPr>
          <a:xfrm>
            <a:off x="594360" y="2386584"/>
            <a:ext cx="777240" cy="402336"/>
          </a:xfrm>
          <a:prstGeom prst="rect">
            <a:avLst/>
          </a:prstGeom>
          <a:noFill/>
          <a:ln/>
        </p:spPr>
        <p:txBody>
          <a:bodyPr wrap="square" lIns="0" tIns="0" rIns="0" bIns="0" rtlCol="0" anchor="ctr"/>
          <a:lstStyle/>
          <a:p>
            <a:pPr indent="0" marL="0">
              <a:buNone/>
            </a:pPr>
            <a:r>
              <a:rPr lang="en-US" sz="1300" b="1" dirty="0">
                <a:solidFill>
                  <a:srgbClr val="1A1633"/>
                </a:solidFill>
                <a:latin typeface="Calibri" pitchFamily="34" charset="0"/>
                <a:ea typeface="Calibri" pitchFamily="34" charset="-122"/>
                <a:cs typeface="Calibri" pitchFamily="34" charset="-120"/>
              </a:rPr>
              <a:t>Y</a:t>
            </a:r>
            <a:endParaRPr lang="en-US" sz="1300" dirty="0"/>
          </a:p>
        </p:txBody>
      </p:sp>
      <p:sp>
        <p:nvSpPr>
          <p:cNvPr id="19" name="Text 17"/>
          <p:cNvSpPr txBox="1"/>
          <p:nvPr/>
        </p:nvSpPr>
        <p:spPr>
          <a:xfrm>
            <a:off x="1371600" y="2386584"/>
            <a:ext cx="2331720" cy="402336"/>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200 · RIGHT · ky 0.9</a:t>
            </a:r>
            <a:endParaRPr lang="en-US" sz="1150" dirty="0"/>
          </a:p>
        </p:txBody>
      </p:sp>
      <p:sp>
        <p:nvSpPr>
          <p:cNvPr id="20" name="Text 18"/>
          <p:cNvSpPr txBox="1"/>
          <p:nvPr/>
        </p:nvSpPr>
        <p:spPr>
          <a:xfrm>
            <a:off x="3703320" y="2386584"/>
            <a:ext cx="960120" cy="402336"/>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Yes</a:t>
            </a:r>
            <a:endParaRPr lang="en-US" sz="1150" dirty="0"/>
          </a:p>
        </p:txBody>
      </p:sp>
      <p:sp>
        <p:nvSpPr>
          <p:cNvPr id="21" name="Text 19"/>
          <p:cNvSpPr txBox="1"/>
          <p:nvPr/>
        </p:nvSpPr>
        <p:spPr>
          <a:xfrm>
            <a:off x="4663440" y="2386584"/>
            <a:ext cx="1874520" cy="402336"/>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Green — no fault</a:t>
            </a:r>
            <a:endParaRPr lang="en-US" sz="1150" dirty="0"/>
          </a:p>
        </p:txBody>
      </p:sp>
      <p:sp>
        <p:nvSpPr>
          <p:cNvPr id="22" name="Text 20"/>
          <p:cNvSpPr txBox="1"/>
          <p:nvPr/>
        </p:nvSpPr>
        <p:spPr>
          <a:xfrm>
            <a:off x="6537960" y="2386584"/>
            <a:ext cx="1691640" cy="402336"/>
          </a:xfrm>
          <a:prstGeom prst="rect">
            <a:avLst/>
          </a:prstGeom>
          <a:noFill/>
          <a:ln/>
        </p:spPr>
        <p:txBody>
          <a:bodyPr wrap="square" lIns="0" tIns="0" rIns="0" bIns="0" rtlCol="0" anchor="ctr"/>
          <a:lstStyle/>
          <a:p>
            <a:pPr indent="0" marL="0">
              <a:buNone/>
            </a:pPr>
            <a:r>
              <a:rPr lang="en-US" sz="1150" i="1" dirty="0">
                <a:solidFill>
                  <a:srgbClr val="B33A3A"/>
                </a:solidFill>
                <a:latin typeface="Calibri" pitchFamily="34" charset="0"/>
                <a:ea typeface="Calibri" pitchFamily="34" charset="-122"/>
                <a:cs typeface="Calibri" pitchFamily="34" charset="-120"/>
              </a:rPr>
              <a:t>not measured</a:t>
            </a:r>
            <a:endParaRPr lang="en-US" sz="1150" dirty="0"/>
          </a:p>
        </p:txBody>
      </p:sp>
      <p:sp>
        <p:nvSpPr>
          <p:cNvPr id="23" name="Text 21"/>
          <p:cNvSpPr txBox="1"/>
          <p:nvPr/>
        </p:nvSpPr>
        <p:spPr>
          <a:xfrm>
            <a:off x="8229600" y="2386584"/>
            <a:ext cx="1051560" cy="402336"/>
          </a:xfrm>
          <a:prstGeom prst="rect">
            <a:avLst/>
          </a:prstGeom>
          <a:noFill/>
          <a:ln/>
        </p:spPr>
        <p:txBody>
          <a:bodyPr wrap="square" lIns="0" tIns="0" rIns="0" bIns="0" rtlCol="0" anchor="ctr"/>
          <a:lstStyle/>
          <a:p>
            <a:pPr indent="0" marL="0">
              <a:buNone/>
            </a:pPr>
            <a:r>
              <a:rPr lang="en-US" sz="1150" i="1" dirty="0">
                <a:solidFill>
                  <a:srgbClr val="B33A3A"/>
                </a:solidFill>
                <a:latin typeface="Calibri" pitchFamily="34" charset="0"/>
                <a:ea typeface="Calibri" pitchFamily="34" charset="-122"/>
                <a:cs typeface="Calibri" pitchFamily="34" charset="-120"/>
              </a:rPr>
              <a:t>loud</a:t>
            </a:r>
            <a:endParaRPr lang="en-US" sz="1150" dirty="0"/>
          </a:p>
        </p:txBody>
      </p:sp>
      <p:sp>
        <p:nvSpPr>
          <p:cNvPr id="24" name="Shape 22"/>
          <p:cNvSpPr/>
          <p:nvPr/>
        </p:nvSpPr>
        <p:spPr>
          <a:xfrm>
            <a:off x="594360" y="2788920"/>
            <a:ext cx="8686800" cy="402336"/>
          </a:xfrm>
          <a:prstGeom prst="rect">
            <a:avLst/>
          </a:prstGeom>
          <a:solidFill>
            <a:srgbClr val="F2F1F7"/>
          </a:solidFill>
          <a:ln w="12700">
            <a:solidFill>
              <a:srgbClr val="333333"/>
            </a:solidFill>
            <a:prstDash val="solid"/>
          </a:ln>
        </p:spPr>
      </p:sp>
      <p:sp>
        <p:nvSpPr>
          <p:cNvPr id="25" name="Text 23"/>
          <p:cNvSpPr txBox="1"/>
          <p:nvPr/>
        </p:nvSpPr>
        <p:spPr>
          <a:xfrm>
            <a:off x="594360" y="2788920"/>
            <a:ext cx="777240" cy="402336"/>
          </a:xfrm>
          <a:prstGeom prst="rect">
            <a:avLst/>
          </a:prstGeom>
          <a:noFill/>
          <a:ln/>
        </p:spPr>
        <p:txBody>
          <a:bodyPr wrap="square" lIns="0" tIns="0" rIns="0" bIns="0" rtlCol="0" anchor="ctr"/>
          <a:lstStyle/>
          <a:p>
            <a:pPr indent="0" marL="0">
              <a:buNone/>
            </a:pPr>
            <a:r>
              <a:rPr lang="en-US" sz="1300" b="1" dirty="0">
                <a:solidFill>
                  <a:srgbClr val="1A1633"/>
                </a:solidFill>
                <a:latin typeface="Calibri" pitchFamily="34" charset="0"/>
                <a:ea typeface="Calibri" pitchFamily="34" charset="-122"/>
                <a:cs typeface="Calibri" pitchFamily="34" charset="-120"/>
              </a:rPr>
              <a:t>Z</a:t>
            </a:r>
            <a:endParaRPr lang="en-US" sz="1300" dirty="0"/>
          </a:p>
        </p:txBody>
      </p:sp>
      <p:sp>
        <p:nvSpPr>
          <p:cNvPr id="26" name="Text 24"/>
          <p:cNvSpPr txBox="1"/>
          <p:nvPr/>
        </p:nvSpPr>
        <p:spPr>
          <a:xfrm>
            <a:off x="1371600" y="2788920"/>
            <a:ext cx="2331720" cy="402336"/>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320 · UP · kz 0.25</a:t>
            </a:r>
            <a:endParaRPr lang="en-US" sz="1150" dirty="0"/>
          </a:p>
        </p:txBody>
      </p:sp>
      <p:sp>
        <p:nvSpPr>
          <p:cNvPr id="27" name="Text 25"/>
          <p:cNvSpPr txBox="1"/>
          <p:nvPr/>
        </p:nvSpPr>
        <p:spPr>
          <a:xfrm>
            <a:off x="3703320" y="2788920"/>
            <a:ext cx="960120" cy="402336"/>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Yes</a:t>
            </a:r>
            <a:endParaRPr lang="en-US" sz="1150" dirty="0"/>
          </a:p>
        </p:txBody>
      </p:sp>
      <p:sp>
        <p:nvSpPr>
          <p:cNvPr id="28" name="Text 26"/>
          <p:cNvSpPr txBox="1"/>
          <p:nvPr/>
        </p:nvSpPr>
        <p:spPr>
          <a:xfrm>
            <a:off x="4663440" y="2788920"/>
            <a:ext cx="1874520" cy="402336"/>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Green — no fault</a:t>
            </a:r>
            <a:endParaRPr lang="en-US" sz="1150" dirty="0"/>
          </a:p>
        </p:txBody>
      </p:sp>
      <p:sp>
        <p:nvSpPr>
          <p:cNvPr id="29" name="Text 27"/>
          <p:cNvSpPr txBox="1"/>
          <p:nvPr/>
        </p:nvSpPr>
        <p:spPr>
          <a:xfrm>
            <a:off x="6537960" y="2788920"/>
            <a:ext cx="1691640" cy="402336"/>
          </a:xfrm>
          <a:prstGeom prst="rect">
            <a:avLst/>
          </a:prstGeom>
          <a:noFill/>
          <a:ln/>
        </p:spPr>
        <p:txBody>
          <a:bodyPr wrap="square" lIns="0" tIns="0" rIns="0" bIns="0" rtlCol="0" anchor="ctr"/>
          <a:lstStyle/>
          <a:p>
            <a:pPr indent="0" marL="0">
              <a:buNone/>
            </a:pPr>
            <a:r>
              <a:rPr lang="en-US" sz="1150" i="1" dirty="0">
                <a:solidFill>
                  <a:srgbClr val="B33A3A"/>
                </a:solidFill>
                <a:latin typeface="Calibri" pitchFamily="34" charset="0"/>
                <a:ea typeface="Calibri" pitchFamily="34" charset="-122"/>
                <a:cs typeface="Calibri" pitchFamily="34" charset="-120"/>
              </a:rPr>
              <a:t>not measured</a:t>
            </a:r>
            <a:endParaRPr lang="en-US" sz="1150" dirty="0"/>
          </a:p>
        </p:txBody>
      </p:sp>
      <p:sp>
        <p:nvSpPr>
          <p:cNvPr id="30" name="Text 28"/>
          <p:cNvSpPr txBox="1"/>
          <p:nvPr/>
        </p:nvSpPr>
        <p:spPr>
          <a:xfrm>
            <a:off x="8229600" y="2788920"/>
            <a:ext cx="1051560" cy="402336"/>
          </a:xfrm>
          <a:prstGeom prst="rect">
            <a:avLst/>
          </a:prstGeom>
          <a:noFill/>
          <a:ln/>
        </p:spPr>
        <p:txBody>
          <a:bodyPr wrap="square" lIns="0" tIns="0" rIns="0" bIns="0" rtlCol="0" anchor="ctr"/>
          <a:lstStyle/>
          <a:p>
            <a:pPr indent="0" marL="0">
              <a:buNone/>
            </a:pPr>
            <a:r>
              <a:rPr lang="en-US" sz="1150" i="1" dirty="0">
                <a:solidFill>
                  <a:srgbClr val="B33A3A"/>
                </a:solidFill>
                <a:latin typeface="Calibri" pitchFamily="34" charset="0"/>
                <a:ea typeface="Calibri" pitchFamily="34" charset="-122"/>
                <a:cs typeface="Calibri" pitchFamily="34" charset="-120"/>
              </a:rPr>
              <a:t>loud</a:t>
            </a:r>
            <a:endParaRPr lang="en-US" sz="1150" dirty="0"/>
          </a:p>
        </p:txBody>
      </p:sp>
      <p:sp>
        <p:nvSpPr>
          <p:cNvPr id="31" name="Shape 29"/>
          <p:cNvSpPr/>
          <p:nvPr/>
        </p:nvSpPr>
        <p:spPr>
          <a:xfrm>
            <a:off x="594360" y="3456432"/>
            <a:ext cx="5532120" cy="1298448"/>
          </a:xfrm>
          <a:prstGeom prst="roundRect">
            <a:avLst>
              <a:gd name="adj" fmla="val 4225"/>
            </a:avLst>
          </a:prstGeom>
          <a:solidFill>
            <a:srgbClr val="FFFFFF"/>
          </a:solidFill>
          <a:ln w="12700">
            <a:solidFill>
              <a:srgbClr val="D6D3E4"/>
            </a:solidFill>
            <a:prstDash val="solid"/>
          </a:ln>
        </p:spPr>
      </p:sp>
      <p:sp>
        <p:nvSpPr>
          <p:cNvPr id="32" name="Text 30"/>
          <p:cNvSpPr txBox="1"/>
          <p:nvPr/>
        </p:nvSpPr>
        <p:spPr>
          <a:xfrm>
            <a:off x="850392" y="3602736"/>
            <a:ext cx="5029200" cy="274320"/>
          </a:xfrm>
          <a:prstGeom prst="rect">
            <a:avLst/>
          </a:prstGeom>
          <a:noFill/>
          <a:ln/>
        </p:spPr>
        <p:txBody>
          <a:bodyPr wrap="square" lIns="0" tIns="0" rIns="0" bIns="0" rtlCol="0" anchor="ctr"/>
          <a:lstStyle/>
          <a:p>
            <a:pPr indent="0" marL="0">
              <a:buNone/>
            </a:pPr>
            <a:r>
              <a:rPr lang="en-US" sz="1100" b="1" spc="100" kern="0" dirty="0">
                <a:solidFill>
                  <a:srgbClr val="1F9AAF"/>
                </a:solidFill>
                <a:latin typeface="Calibri" pitchFamily="34" charset="0"/>
                <a:ea typeface="Calibri" pitchFamily="34" charset="-122"/>
                <a:cs typeface="Calibri" pitchFamily="34" charset="-120"/>
              </a:rPr>
              <a:t>What we can claim</a:t>
            </a:r>
            <a:endParaRPr lang="en-US" sz="1100" dirty="0"/>
          </a:p>
        </p:txBody>
      </p:sp>
      <p:sp>
        <p:nvSpPr>
          <p:cNvPr id="33" name="Text 31"/>
          <p:cNvSpPr txBox="1"/>
          <p:nvPr/>
        </p:nvSpPr>
        <p:spPr>
          <a:xfrm>
            <a:off x="850392" y="3877056"/>
            <a:ext cx="5029200" cy="822960"/>
          </a:xfrm>
          <a:prstGeom prst="rect">
            <a:avLst/>
          </a:prstGeom>
          <a:noFill/>
          <a:ln/>
        </p:spPr>
        <p:txBody>
          <a:bodyPr wrap="square" lIns="0" tIns="0" rIns="0" bIns="0" rtlCol="0" anchor="t"/>
          <a:lstStyle/>
          <a:p>
            <a:pPr marL="342900" indent="-342900">
              <a:lnSpc>
                <a:spcPts val="1550"/>
              </a:lnSpc>
              <a:spcAft>
                <a:spcPts val="600"/>
              </a:spcAft>
              <a:buSzPct val="100000"/>
              <a:buChar char="•"/>
            </a:pPr>
            <a:r>
              <a:rPr lang="en-US" sz="1200" dirty="0">
                <a:solidFill>
                  <a:srgbClr val="1A1633"/>
                </a:solidFill>
                <a:latin typeface="Calibri" pitchFamily="34" charset="0"/>
                <a:ea typeface="Calibri" pitchFamily="34" charset="-122"/>
                <a:cs typeface="Calibri" pitchFamily="34" charset="-120"/>
              </a:rPr>
              <a:t>Wiring, enable and power are correct on all three drivers.</a:t>
            </a:r>
            <a:endParaRPr lang="en-US" sz="1200" dirty="0"/>
          </a:p>
          <a:p>
            <a:pPr marL="342900" indent="-342900">
              <a:lnSpc>
                <a:spcPts val="1550"/>
              </a:lnSpc>
              <a:spcAft>
                <a:spcPts val="600"/>
              </a:spcAft>
              <a:buSzPct val="100000"/>
              <a:buChar char="•"/>
            </a:pPr>
            <a:r>
              <a:rPr lang="en-US" sz="1200" dirty="0">
                <a:solidFill>
                  <a:srgbClr val="1A1633"/>
                </a:solidFill>
                <a:latin typeface="Calibri" pitchFamily="34" charset="0"/>
                <a:ea typeface="Calibri" pitchFamily="34" charset="-122"/>
                <a:cs typeface="Calibri" pitchFamily="34" charset="-120"/>
              </a:rPr>
              <a:t>DIR polarity is set such that each axis moves; direction sign not yet logged systematically.</a:t>
            </a:r>
            <a:endParaRPr lang="en-US" sz="1200" dirty="0"/>
          </a:p>
        </p:txBody>
      </p:sp>
      <p:sp>
        <p:nvSpPr>
          <p:cNvPr id="34" name="Shape 32"/>
          <p:cNvSpPr/>
          <p:nvPr/>
        </p:nvSpPr>
        <p:spPr>
          <a:xfrm>
            <a:off x="6446520" y="3456432"/>
            <a:ext cx="5120640" cy="1298448"/>
          </a:xfrm>
          <a:prstGeom prst="roundRect">
            <a:avLst>
              <a:gd name="adj" fmla="val 4225"/>
            </a:avLst>
          </a:prstGeom>
          <a:solidFill>
            <a:srgbClr val="FFFFFF"/>
          </a:solidFill>
          <a:ln w="12700">
            <a:solidFill>
              <a:srgbClr val="B33A3A"/>
            </a:solidFill>
            <a:prstDash val="solid"/>
          </a:ln>
        </p:spPr>
      </p:sp>
      <p:sp>
        <p:nvSpPr>
          <p:cNvPr id="35" name="Text 33"/>
          <p:cNvSpPr txBox="1"/>
          <p:nvPr/>
        </p:nvSpPr>
        <p:spPr>
          <a:xfrm>
            <a:off x="6702552" y="3602736"/>
            <a:ext cx="4754880" cy="274320"/>
          </a:xfrm>
          <a:prstGeom prst="rect">
            <a:avLst/>
          </a:prstGeom>
          <a:noFill/>
          <a:ln/>
        </p:spPr>
        <p:txBody>
          <a:bodyPr wrap="square" lIns="0" tIns="0" rIns="0" bIns="0" rtlCol="0" anchor="ctr"/>
          <a:lstStyle/>
          <a:p>
            <a:pPr indent="0" marL="0">
              <a:buNone/>
            </a:pPr>
            <a:r>
              <a:rPr lang="en-US" sz="1100" b="1" spc="100" kern="0" dirty="0">
                <a:solidFill>
                  <a:srgbClr val="B33A3A"/>
                </a:solidFill>
                <a:latin typeface="Calibri" pitchFamily="34" charset="0"/>
                <a:ea typeface="Calibri" pitchFamily="34" charset="-122"/>
                <a:cs typeface="Calibri" pitchFamily="34" charset="-120"/>
              </a:rPr>
              <a:t>What we cannot claim</a:t>
            </a:r>
            <a:endParaRPr lang="en-US" sz="1100" dirty="0"/>
          </a:p>
        </p:txBody>
      </p:sp>
      <p:sp>
        <p:nvSpPr>
          <p:cNvPr id="36" name="Text 34"/>
          <p:cNvSpPr txBox="1"/>
          <p:nvPr/>
        </p:nvSpPr>
        <p:spPr>
          <a:xfrm>
            <a:off x="6702552" y="3877056"/>
            <a:ext cx="4754880" cy="822960"/>
          </a:xfrm>
          <a:prstGeom prst="rect">
            <a:avLst/>
          </a:prstGeom>
          <a:noFill/>
          <a:ln/>
        </p:spPr>
        <p:txBody>
          <a:bodyPr wrap="square" lIns="0" tIns="0" rIns="0" bIns="0" rtlCol="0" anchor="t"/>
          <a:lstStyle/>
          <a:p>
            <a:pPr marL="342900" indent="-342900">
              <a:lnSpc>
                <a:spcPts val="1550"/>
              </a:lnSpc>
              <a:spcAft>
                <a:spcPts val="600"/>
              </a:spcAft>
              <a:buSzPct val="100000"/>
              <a:buChar char="•"/>
            </a:pPr>
            <a:r>
              <a:rPr lang="en-US" sz="1200" dirty="0">
                <a:solidFill>
                  <a:srgbClr val="1A1633"/>
                </a:solidFill>
                <a:latin typeface="Calibri" pitchFamily="34" charset="0"/>
                <a:ea typeface="Calibri" pitchFamily="34" charset="-122"/>
                <a:cs typeface="Calibri" pitchFamily="34" charset="-120"/>
              </a:rPr>
              <a:t>That N commanded pulses produce N motor steps.</a:t>
            </a:r>
            <a:endParaRPr lang="en-US" sz="1200" dirty="0"/>
          </a:p>
          <a:p>
            <a:pPr marL="342900" indent="-342900">
              <a:lnSpc>
                <a:spcPts val="1550"/>
              </a:lnSpc>
              <a:spcAft>
                <a:spcPts val="600"/>
              </a:spcAft>
              <a:buSzPct val="100000"/>
              <a:buChar char="•"/>
            </a:pPr>
            <a:r>
              <a:rPr lang="en-US" sz="1200" dirty="0">
                <a:solidFill>
                  <a:srgbClr val="1A1633"/>
                </a:solidFill>
                <a:latin typeface="Calibri" pitchFamily="34" charset="0"/>
                <a:ea typeface="Calibri" pitchFamily="34" charset="-122"/>
                <a:cs typeface="Calibri" pitchFamily="34" charset="-120"/>
              </a:rPr>
              <a:t>That the stage travelled the distance LabVIEW reports — Position X/Y/Z is open-loop.</a:t>
            </a:r>
            <a:endParaRPr lang="en-US" sz="1200" dirty="0"/>
          </a:p>
        </p:txBody>
      </p:sp>
      <p:sp>
        <p:nvSpPr>
          <p:cNvPr id="37" name="Shape 35"/>
          <p:cNvSpPr/>
          <p:nvPr/>
        </p:nvSpPr>
        <p:spPr>
          <a:xfrm>
            <a:off x="594360" y="4974336"/>
            <a:ext cx="10972800" cy="1188720"/>
          </a:xfrm>
          <a:prstGeom prst="roundRect">
            <a:avLst>
              <a:gd name="adj" fmla="val 4615"/>
            </a:avLst>
          </a:prstGeom>
          <a:solidFill>
            <a:srgbClr val="1A1633"/>
          </a:solidFill>
          <a:ln w="12700">
            <a:solidFill>
              <a:srgbClr val="1A1633"/>
            </a:solidFill>
            <a:prstDash val="solid"/>
          </a:ln>
        </p:spPr>
      </p:sp>
      <p:sp>
        <p:nvSpPr>
          <p:cNvPr id="38" name="Text 36"/>
          <p:cNvSpPr txBox="1"/>
          <p:nvPr/>
        </p:nvSpPr>
        <p:spPr>
          <a:xfrm>
            <a:off x="868680" y="5120640"/>
            <a:ext cx="3657600" cy="274320"/>
          </a:xfrm>
          <a:prstGeom prst="rect">
            <a:avLst/>
          </a:prstGeom>
          <a:noFill/>
          <a:ln/>
        </p:spPr>
        <p:txBody>
          <a:bodyPr wrap="square" lIns="0" tIns="0" rIns="0" bIns="0" rtlCol="0" anchor="ctr"/>
          <a:lstStyle/>
          <a:p>
            <a:pPr indent="0" marL="0">
              <a:buNone/>
            </a:pPr>
            <a:r>
              <a:rPr lang="en-US" sz="1050" b="1" spc="120" kern="0" dirty="0">
                <a:solidFill>
                  <a:srgbClr val="D98A1F"/>
                </a:solidFill>
                <a:latin typeface="Calibri" pitchFamily="34" charset="0"/>
                <a:ea typeface="Calibri" pitchFamily="34" charset="-122"/>
                <a:cs typeface="Calibri" pitchFamily="34" charset="-120"/>
              </a:rPr>
              <a:t>Your note from last week</a:t>
            </a:r>
            <a:endParaRPr lang="en-US" sz="1050" dirty="0"/>
          </a:p>
        </p:txBody>
      </p:sp>
      <p:sp>
        <p:nvSpPr>
          <p:cNvPr id="39" name="Text 37"/>
          <p:cNvSpPr txBox="1"/>
          <p:nvPr/>
        </p:nvSpPr>
        <p:spPr>
          <a:xfrm>
            <a:off x="868680" y="5413248"/>
            <a:ext cx="10424160" cy="594360"/>
          </a:xfrm>
          <a:prstGeom prst="rect">
            <a:avLst/>
          </a:prstGeom>
          <a:noFill/>
          <a:ln/>
        </p:spPr>
        <p:txBody>
          <a:bodyPr wrap="square" lIns="0" tIns="0" rIns="0" bIns="0" rtlCol="0" anchor="ctr"/>
          <a:lstStyle/>
          <a:p>
            <a:pPr indent="0" marL="0">
              <a:lnSpc>
                <a:spcPts val="2000"/>
              </a:lnSpc>
              <a:buNone/>
            </a:pPr>
            <a:r>
              <a:rPr lang="en-US" sz="1450" i="1" dirty="0">
                <a:solidFill>
                  <a:srgbClr val="FFFFFF"/>
                </a:solidFill>
                <a:latin typeface="Cambria" pitchFamily="34" charset="0"/>
                <a:ea typeface="Cambria" pitchFamily="34" charset="-122"/>
                <a:cs typeface="Cambria" pitchFamily="34" charset="-120"/>
              </a:rPr>
              <a:t>“The noise during scanning is too loud — the positioning will not be accurate. Check the step size (~5 µm), the driver settings, and whether the default configuration needs to change.”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200" kern="0" dirty="0">
                <a:solidFill>
                  <a:srgbClr val="4C3FA6"/>
                </a:solidFill>
                <a:latin typeface="Calibri" pitchFamily="34" charset="0"/>
                <a:ea typeface="Calibri" pitchFamily="34" charset="-122"/>
                <a:cs typeface="Calibri" pitchFamily="34" charset="-120"/>
              </a:rPr>
              <a:t>THE BLOCKER</a:t>
            </a:r>
            <a:endParaRPr lang="en-US" sz="1100" dirty="0"/>
          </a:p>
        </p:txBody>
      </p:sp>
      <p:sp>
        <p:nvSpPr>
          <p:cNvPr id="3" name="Text 1"/>
          <p:cNvSpPr txBox="1"/>
          <p:nvPr/>
        </p:nvSpPr>
        <p:spPr>
          <a:xfrm>
            <a:off x="594360" y="640080"/>
            <a:ext cx="10972800" cy="658368"/>
          </a:xfrm>
          <a:prstGeom prst="rect">
            <a:avLst/>
          </a:prstGeom>
          <a:noFill/>
          <a:ln/>
        </p:spPr>
        <p:txBody>
          <a:bodyPr wrap="square" lIns="0" tIns="0" rIns="0" bIns="0" rtlCol="0" anchor="t"/>
          <a:lstStyle/>
          <a:p>
            <a:pPr indent="0" marL="0">
              <a:buNone/>
            </a:pPr>
            <a:r>
              <a:rPr lang="en-US" sz="3000" b="1" dirty="0">
                <a:solidFill>
                  <a:srgbClr val="1A1633"/>
                </a:solidFill>
                <a:latin typeface="Cambria" pitchFamily="34" charset="0"/>
                <a:ea typeface="Cambria" pitchFamily="34" charset="-122"/>
                <a:cs typeface="Cambria" pitchFamily="34" charset="-120"/>
              </a:rPr>
              <a:t>Three things could make it growl — all three break µm/pulse</a:t>
            </a:r>
            <a:endParaRPr lang="en-US" sz="3000" dirty="0"/>
          </a:p>
        </p:txBody>
      </p:sp>
      <p:sp>
        <p:nvSpPr>
          <p:cNvPr id="4" name="Shape 2"/>
          <p:cNvSpPr/>
          <p:nvPr/>
        </p:nvSpPr>
        <p:spPr>
          <a:xfrm>
            <a:off x="594360" y="1554480"/>
            <a:ext cx="10972800" cy="1298448"/>
          </a:xfrm>
          <a:prstGeom prst="roundRect">
            <a:avLst>
              <a:gd name="adj" fmla="val 4225"/>
            </a:avLst>
          </a:prstGeom>
          <a:solidFill>
            <a:srgbClr val="F2F1F7"/>
          </a:solidFill>
          <a:ln w="12700">
            <a:solidFill>
              <a:srgbClr val="F2F1F7"/>
            </a:solidFill>
            <a:prstDash val="solid"/>
          </a:ln>
        </p:spPr>
      </p:sp>
      <p:sp>
        <p:nvSpPr>
          <p:cNvPr id="5" name="Shape 3"/>
          <p:cNvSpPr/>
          <p:nvPr/>
        </p:nvSpPr>
        <p:spPr>
          <a:xfrm>
            <a:off x="850392" y="1810512"/>
            <a:ext cx="566928" cy="566928"/>
          </a:xfrm>
          <a:prstGeom prst="ellipse">
            <a:avLst/>
          </a:prstGeom>
          <a:solidFill>
            <a:srgbClr val="4C3FA6"/>
          </a:solidFill>
          <a:ln w="12700">
            <a:solidFill>
              <a:srgbClr val="333333"/>
            </a:solidFill>
            <a:prstDash val="solid"/>
          </a:ln>
        </p:spPr>
      </p:sp>
      <p:sp>
        <p:nvSpPr>
          <p:cNvPr id="6" name="Text 4"/>
          <p:cNvSpPr txBox="1"/>
          <p:nvPr/>
        </p:nvSpPr>
        <p:spPr>
          <a:xfrm>
            <a:off x="850392" y="181051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H1</a:t>
            </a:r>
            <a:endParaRPr lang="en-US" sz="1500" dirty="0"/>
          </a:p>
        </p:txBody>
      </p:sp>
      <p:sp>
        <p:nvSpPr>
          <p:cNvPr id="7" name="Text 5"/>
          <p:cNvSpPr txBox="1"/>
          <p:nvPr/>
        </p:nvSpPr>
        <p:spPr>
          <a:xfrm>
            <a:off x="1600200" y="1737360"/>
            <a:ext cx="9692640" cy="310896"/>
          </a:xfrm>
          <a:prstGeom prst="rect">
            <a:avLst/>
          </a:prstGeom>
          <a:noFill/>
          <a:ln/>
        </p:spPr>
        <p:txBody>
          <a:bodyPr wrap="square" lIns="0" tIns="0" rIns="0" bIns="0" rtlCol="0" anchor="ctr"/>
          <a:lstStyle/>
          <a:p>
            <a:pPr indent="0" marL="0">
              <a:buNone/>
            </a:pPr>
            <a:r>
              <a:rPr lang="en-US" sz="1700" b="1" dirty="0">
                <a:solidFill>
                  <a:srgbClr val="1A1633"/>
                </a:solidFill>
                <a:latin typeface="Cambria" pitchFamily="34" charset="0"/>
                <a:ea typeface="Cambria" pitchFamily="34" charset="-122"/>
                <a:cs typeface="Cambria" pitchFamily="34" charset="-120"/>
              </a:rPr>
              <a:t>Microstep setting too coarse</a:t>
            </a:r>
            <a:endParaRPr lang="en-US" sz="1700" dirty="0"/>
          </a:p>
        </p:txBody>
      </p:sp>
      <p:sp>
        <p:nvSpPr>
          <p:cNvPr id="8" name="Text 6"/>
          <p:cNvSpPr txBox="1"/>
          <p:nvPr/>
        </p:nvSpPr>
        <p:spPr>
          <a:xfrm>
            <a:off x="1600200" y="2084832"/>
            <a:ext cx="9646920" cy="713232"/>
          </a:xfrm>
          <a:prstGeom prst="rect">
            <a:avLst/>
          </a:prstGeom>
          <a:noFill/>
          <a:ln/>
        </p:spPr>
        <p:txBody>
          <a:bodyPr wrap="square" lIns="0" tIns="0" rIns="0" bIns="0" rtlCol="0" anchor="ctr"/>
          <a:lstStyle/>
          <a:p>
            <a:pPr indent="0" marL="0">
              <a:lnSpc>
                <a:spcPts val="1550"/>
              </a:lnSpc>
              <a:buNone/>
            </a:pPr>
            <a:r>
              <a:rPr lang="en-US" sz="1200" dirty="0">
                <a:solidFill>
                  <a:srgbClr val="1A1633"/>
                </a:solidFill>
                <a:latin typeface="Calibri" pitchFamily="34" charset="0"/>
                <a:ea typeface="Calibri" pitchFamily="34" charset="-122"/>
                <a:cs typeface="Calibri" pitchFamily="34" charset="-120"/>
              </a:rPr>
              <a:t>If the SR2 microstep table is at or near full step, a 1 kHz pulse rate lands in the range where steppers are loudest and most resonance-prone. Finer microstepping smooths torque and quiets the motor — but it also changes µm per pulse, so this setting and the step-size calibration have to be decided together.</a:t>
            </a:r>
            <a:endParaRPr lang="en-US" sz="1200" dirty="0"/>
          </a:p>
        </p:txBody>
      </p:sp>
      <p:sp>
        <p:nvSpPr>
          <p:cNvPr id="9" name="Shape 7"/>
          <p:cNvSpPr/>
          <p:nvPr/>
        </p:nvSpPr>
        <p:spPr>
          <a:xfrm>
            <a:off x="594360" y="3072384"/>
            <a:ext cx="10972800" cy="1298448"/>
          </a:xfrm>
          <a:prstGeom prst="roundRect">
            <a:avLst>
              <a:gd name="adj" fmla="val 4225"/>
            </a:avLst>
          </a:prstGeom>
          <a:solidFill>
            <a:srgbClr val="F2F1F7"/>
          </a:solidFill>
          <a:ln w="12700">
            <a:solidFill>
              <a:srgbClr val="F2F1F7"/>
            </a:solidFill>
            <a:prstDash val="solid"/>
          </a:ln>
        </p:spPr>
      </p:sp>
      <p:sp>
        <p:nvSpPr>
          <p:cNvPr id="10" name="Shape 8"/>
          <p:cNvSpPr/>
          <p:nvPr/>
        </p:nvSpPr>
        <p:spPr>
          <a:xfrm>
            <a:off x="850392" y="3328416"/>
            <a:ext cx="566928" cy="566928"/>
          </a:xfrm>
          <a:prstGeom prst="ellipse">
            <a:avLst/>
          </a:prstGeom>
          <a:solidFill>
            <a:srgbClr val="D98A1F"/>
          </a:solidFill>
          <a:ln w="12700">
            <a:solidFill>
              <a:srgbClr val="333333"/>
            </a:solidFill>
            <a:prstDash val="solid"/>
          </a:ln>
        </p:spPr>
      </p:sp>
      <p:sp>
        <p:nvSpPr>
          <p:cNvPr id="11" name="Text 9"/>
          <p:cNvSpPr txBox="1"/>
          <p:nvPr/>
        </p:nvSpPr>
        <p:spPr>
          <a:xfrm>
            <a:off x="850392" y="332841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H2</a:t>
            </a:r>
            <a:endParaRPr lang="en-US" sz="1500" dirty="0"/>
          </a:p>
        </p:txBody>
      </p:sp>
      <p:sp>
        <p:nvSpPr>
          <p:cNvPr id="12" name="Text 10"/>
          <p:cNvSpPr txBox="1"/>
          <p:nvPr/>
        </p:nvSpPr>
        <p:spPr>
          <a:xfrm>
            <a:off x="1600200" y="3255264"/>
            <a:ext cx="9692640" cy="310896"/>
          </a:xfrm>
          <a:prstGeom prst="rect">
            <a:avLst/>
          </a:prstGeom>
          <a:noFill/>
          <a:ln/>
        </p:spPr>
        <p:txBody>
          <a:bodyPr wrap="square" lIns="0" tIns="0" rIns="0" bIns="0" rtlCol="0" anchor="ctr"/>
          <a:lstStyle/>
          <a:p>
            <a:pPr indent="0" marL="0">
              <a:buNone/>
            </a:pPr>
            <a:r>
              <a:rPr lang="en-US" sz="1700" b="1" dirty="0">
                <a:solidFill>
                  <a:srgbClr val="1A1633"/>
                </a:solidFill>
                <a:latin typeface="Cambria" pitchFamily="34" charset="0"/>
                <a:ea typeface="Cambria" pitchFamily="34" charset="-122"/>
                <a:cs typeface="Cambria" pitchFamily="34" charset="-120"/>
              </a:rPr>
              <a:t>Pulse train is not hardware-timed</a:t>
            </a:r>
            <a:endParaRPr lang="en-US" sz="1700" dirty="0"/>
          </a:p>
        </p:txBody>
      </p:sp>
      <p:sp>
        <p:nvSpPr>
          <p:cNvPr id="13" name="Text 11"/>
          <p:cNvSpPr txBox="1"/>
          <p:nvPr/>
        </p:nvSpPr>
        <p:spPr>
          <a:xfrm>
            <a:off x="1600200" y="3602736"/>
            <a:ext cx="9646920" cy="713232"/>
          </a:xfrm>
          <a:prstGeom prst="rect">
            <a:avLst/>
          </a:prstGeom>
          <a:noFill/>
          <a:ln/>
        </p:spPr>
        <p:txBody>
          <a:bodyPr wrap="square" lIns="0" tIns="0" rIns="0" bIns="0" rtlCol="0" anchor="ctr"/>
          <a:lstStyle/>
          <a:p>
            <a:pPr indent="0" marL="0">
              <a:lnSpc>
                <a:spcPts val="1550"/>
              </a:lnSpc>
              <a:buNone/>
            </a:pPr>
            <a:r>
              <a:rPr lang="en-US" sz="1200" dirty="0">
                <a:solidFill>
                  <a:srgbClr val="1A1633"/>
                </a:solidFill>
                <a:latin typeface="Calibri" pitchFamily="34" charset="0"/>
                <a:ea typeface="Calibri" pitchFamily="34" charset="-122"/>
                <a:cs typeface="Calibri" pitchFamily="34" charset="-120"/>
              </a:rPr>
              <a:t>If STEP is generated by writing to P0.x in a software loop, the interval between pulses inherits operating-system jitter — milliseconds, irregularly. A stepper fed an uneven train growls, and near its torque limit it drops steps. The PCIe-6323 has four counter/timers that can emit an exact finite pulse train instead.</a:t>
            </a:r>
            <a:endParaRPr lang="en-US" sz="1200" dirty="0"/>
          </a:p>
        </p:txBody>
      </p:sp>
      <p:sp>
        <p:nvSpPr>
          <p:cNvPr id="14" name="Shape 12"/>
          <p:cNvSpPr/>
          <p:nvPr/>
        </p:nvSpPr>
        <p:spPr>
          <a:xfrm>
            <a:off x="594360" y="4590288"/>
            <a:ext cx="10972800" cy="1298448"/>
          </a:xfrm>
          <a:prstGeom prst="roundRect">
            <a:avLst>
              <a:gd name="adj" fmla="val 4225"/>
            </a:avLst>
          </a:prstGeom>
          <a:solidFill>
            <a:srgbClr val="F2F1F7"/>
          </a:solidFill>
          <a:ln w="12700">
            <a:solidFill>
              <a:srgbClr val="F2F1F7"/>
            </a:solidFill>
            <a:prstDash val="solid"/>
          </a:ln>
        </p:spPr>
      </p:sp>
      <p:sp>
        <p:nvSpPr>
          <p:cNvPr id="15" name="Shape 13"/>
          <p:cNvSpPr/>
          <p:nvPr/>
        </p:nvSpPr>
        <p:spPr>
          <a:xfrm>
            <a:off x="850392" y="4846320"/>
            <a:ext cx="566928" cy="566928"/>
          </a:xfrm>
          <a:prstGeom prst="ellipse">
            <a:avLst/>
          </a:prstGeom>
          <a:solidFill>
            <a:srgbClr val="1F9AAF"/>
          </a:solidFill>
          <a:ln w="12700">
            <a:solidFill>
              <a:srgbClr val="333333"/>
            </a:solidFill>
            <a:prstDash val="solid"/>
          </a:ln>
        </p:spPr>
      </p:sp>
      <p:sp>
        <p:nvSpPr>
          <p:cNvPr id="16" name="Text 14"/>
          <p:cNvSpPr txBox="1"/>
          <p:nvPr/>
        </p:nvSpPr>
        <p:spPr>
          <a:xfrm>
            <a:off x="850392" y="4846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H3</a:t>
            </a:r>
            <a:endParaRPr lang="en-US" sz="1500" dirty="0"/>
          </a:p>
        </p:txBody>
      </p:sp>
      <p:sp>
        <p:nvSpPr>
          <p:cNvPr id="17" name="Text 15"/>
          <p:cNvSpPr txBox="1"/>
          <p:nvPr/>
        </p:nvSpPr>
        <p:spPr>
          <a:xfrm>
            <a:off x="1600200" y="4773168"/>
            <a:ext cx="9692640" cy="310896"/>
          </a:xfrm>
          <a:prstGeom prst="rect">
            <a:avLst/>
          </a:prstGeom>
          <a:noFill/>
          <a:ln/>
        </p:spPr>
        <p:txBody>
          <a:bodyPr wrap="square" lIns="0" tIns="0" rIns="0" bIns="0" rtlCol="0" anchor="ctr"/>
          <a:lstStyle/>
          <a:p>
            <a:pPr indent="0" marL="0">
              <a:buNone/>
            </a:pPr>
            <a:r>
              <a:rPr lang="en-US" sz="1700" b="1" dirty="0">
                <a:solidFill>
                  <a:srgbClr val="1A1633"/>
                </a:solidFill>
                <a:latin typeface="Cambria" pitchFamily="34" charset="0"/>
                <a:ea typeface="Cambria" pitchFamily="34" charset="-122"/>
                <a:cs typeface="Cambria" pitchFamily="34" charset="-120"/>
              </a:rPr>
              <a:t>Drive current or input wiring</a:t>
            </a:r>
            <a:endParaRPr lang="en-US" sz="1700" dirty="0"/>
          </a:p>
        </p:txBody>
      </p:sp>
      <p:sp>
        <p:nvSpPr>
          <p:cNvPr id="18" name="Text 16"/>
          <p:cNvSpPr txBox="1"/>
          <p:nvPr/>
        </p:nvSpPr>
        <p:spPr>
          <a:xfrm>
            <a:off x="1600200" y="5120640"/>
            <a:ext cx="9646920" cy="713232"/>
          </a:xfrm>
          <a:prstGeom prst="rect">
            <a:avLst/>
          </a:prstGeom>
          <a:noFill/>
          <a:ln/>
        </p:spPr>
        <p:txBody>
          <a:bodyPr wrap="square" lIns="0" tIns="0" rIns="0" bIns="0" rtlCol="0" anchor="ctr"/>
          <a:lstStyle/>
          <a:p>
            <a:pPr indent="0" marL="0">
              <a:lnSpc>
                <a:spcPts val="1550"/>
              </a:lnSpc>
              <a:buNone/>
            </a:pPr>
            <a:r>
              <a:rPr lang="en-US" sz="1200" dirty="0">
                <a:solidFill>
                  <a:srgbClr val="1A1633"/>
                </a:solidFill>
                <a:latin typeface="Calibri" pitchFamily="34" charset="0"/>
                <a:ea typeface="Calibri" pitchFamily="34" charset="-122"/>
                <a:cs typeface="Calibri" pitchFamily="34" charset="-120"/>
              </a:rPr>
              <a:t>Current set too high adds noise and heat; too low loses steps under load. Separately, STEP± and DIR± are differential opto-isolated inputs being driven from single-ended 5 V TTL — worth confirming the common ground and whether a series resistor is required.</a:t>
            </a:r>
            <a:endParaRPr lang="en-US" sz="1200" dirty="0"/>
          </a:p>
        </p:txBody>
      </p:sp>
      <p:sp>
        <p:nvSpPr>
          <p:cNvPr id="19" name="Text 17"/>
          <p:cNvSpPr txBox="1"/>
          <p:nvPr/>
        </p:nvSpPr>
        <p:spPr>
          <a:xfrm>
            <a:off x="594360" y="6035040"/>
            <a:ext cx="10972800" cy="329184"/>
          </a:xfrm>
          <a:prstGeom prst="rect">
            <a:avLst/>
          </a:prstGeom>
          <a:noFill/>
          <a:ln/>
        </p:spPr>
        <p:txBody>
          <a:bodyPr wrap="square" lIns="0" tIns="0" rIns="0" bIns="0" rtlCol="0" anchor="ctr"/>
          <a:lstStyle/>
          <a:p>
            <a:pPr indent="0" marL="0">
              <a:buNone/>
            </a:pPr>
            <a:r>
              <a:rPr lang="en-US" sz="1250" i="1" dirty="0">
                <a:solidFill>
                  <a:srgbClr val="4C3FA6"/>
                </a:solidFill>
                <a:latin typeface="Calibri" pitchFamily="34" charset="0"/>
                <a:ea typeface="Calibri" pitchFamily="34" charset="-122"/>
                <a:cs typeface="Calibri" pitchFamily="34" charset="-120"/>
              </a:rPr>
              <a:t>None of these is visible from the LabVIEW front panel, and none of them trips the driver’s fault LED. That is why the next slide is about measuring, not about trying settings.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200" kern="0" dirty="0">
                <a:solidFill>
                  <a:srgbClr val="4C3FA6"/>
                </a:solidFill>
                <a:latin typeface="Calibri" pitchFamily="34" charset="0"/>
                <a:ea typeface="Calibri" pitchFamily="34" charset="-122"/>
                <a:cs typeface="Calibri" pitchFamily="34" charset="-120"/>
              </a:rPr>
              <a:t>DECISION 1</a:t>
            </a:r>
            <a:endParaRPr lang="en-US" sz="1100" dirty="0"/>
          </a:p>
        </p:txBody>
      </p:sp>
      <p:sp>
        <p:nvSpPr>
          <p:cNvPr id="3" name="Text 1"/>
          <p:cNvSpPr txBox="1"/>
          <p:nvPr/>
        </p:nvSpPr>
        <p:spPr>
          <a:xfrm>
            <a:off x="594360" y="640080"/>
            <a:ext cx="10972800" cy="658368"/>
          </a:xfrm>
          <a:prstGeom prst="rect">
            <a:avLst/>
          </a:prstGeom>
          <a:noFill/>
          <a:ln/>
        </p:spPr>
        <p:txBody>
          <a:bodyPr wrap="square" lIns="0" tIns="0" rIns="0" bIns="0" rtlCol="0" anchor="t"/>
          <a:lstStyle/>
          <a:p>
            <a:pPr indent="0" marL="0">
              <a:buNone/>
            </a:pPr>
            <a:r>
              <a:rPr lang="en-US" sz="3000" b="1" dirty="0">
                <a:solidFill>
                  <a:srgbClr val="1A1633"/>
                </a:solidFill>
                <a:latin typeface="Cambria" pitchFamily="34" charset="0"/>
                <a:ea typeface="Cambria" pitchFamily="34" charset="-122"/>
                <a:cs typeface="Cambria" pitchFamily="34" charset="-120"/>
              </a:rPr>
              <a:t>Two ways to verify — which do you want first?</a:t>
            </a:r>
            <a:endParaRPr lang="en-US" sz="3000" dirty="0"/>
          </a:p>
        </p:txBody>
      </p:sp>
      <p:sp>
        <p:nvSpPr>
          <p:cNvPr id="4" name="Shape 2"/>
          <p:cNvSpPr/>
          <p:nvPr/>
        </p:nvSpPr>
        <p:spPr>
          <a:xfrm>
            <a:off x="594360" y="1554480"/>
            <a:ext cx="5394960" cy="3364992"/>
          </a:xfrm>
          <a:prstGeom prst="roundRect">
            <a:avLst>
              <a:gd name="adj" fmla="val 1630"/>
            </a:avLst>
          </a:prstGeom>
          <a:solidFill>
            <a:srgbClr val="FFFFFF"/>
          </a:solidFill>
          <a:ln w="12700">
            <a:solidFill>
              <a:srgbClr val="1F9AAF"/>
            </a:solidFill>
            <a:prstDash val="solid"/>
          </a:ln>
        </p:spPr>
      </p:sp>
      <p:sp>
        <p:nvSpPr>
          <p:cNvPr id="5" name="Text 3"/>
          <p:cNvSpPr txBox="1"/>
          <p:nvPr/>
        </p:nvSpPr>
        <p:spPr>
          <a:xfrm>
            <a:off x="868680" y="1755648"/>
            <a:ext cx="1828800" cy="256032"/>
          </a:xfrm>
          <a:prstGeom prst="rect">
            <a:avLst/>
          </a:prstGeom>
          <a:noFill/>
          <a:ln/>
        </p:spPr>
        <p:txBody>
          <a:bodyPr wrap="square" lIns="0" tIns="0" rIns="0" bIns="0" rtlCol="0" anchor="ctr"/>
          <a:lstStyle/>
          <a:p>
            <a:pPr indent="0" marL="0">
              <a:buNone/>
            </a:pPr>
            <a:r>
              <a:rPr lang="en-US" sz="1050" b="1" spc="140" kern="0" dirty="0">
                <a:solidFill>
                  <a:srgbClr val="1F9AAF"/>
                </a:solidFill>
                <a:latin typeface="Calibri" pitchFamily="34" charset="0"/>
                <a:ea typeface="Calibri" pitchFamily="34" charset="-122"/>
                <a:cs typeface="Calibri" pitchFamily="34" charset="-120"/>
              </a:rPr>
              <a:t>PATH A</a:t>
            </a:r>
            <a:endParaRPr lang="en-US" sz="1050" dirty="0"/>
          </a:p>
        </p:txBody>
      </p:sp>
      <p:sp>
        <p:nvSpPr>
          <p:cNvPr id="6" name="Text 4"/>
          <p:cNvSpPr txBox="1"/>
          <p:nvPr/>
        </p:nvSpPr>
        <p:spPr>
          <a:xfrm>
            <a:off x="868680" y="2029968"/>
            <a:ext cx="4846320" cy="347472"/>
          </a:xfrm>
          <a:prstGeom prst="rect">
            <a:avLst/>
          </a:prstGeom>
          <a:noFill/>
          <a:ln/>
        </p:spPr>
        <p:txBody>
          <a:bodyPr wrap="square" lIns="0" tIns="0" rIns="0" bIns="0" rtlCol="0" anchor="ctr"/>
          <a:lstStyle/>
          <a:p>
            <a:pPr indent="0" marL="0">
              <a:buNone/>
            </a:pPr>
            <a:r>
              <a:rPr lang="en-US" sz="2000" b="1" dirty="0">
                <a:solidFill>
                  <a:srgbClr val="1A1633"/>
                </a:solidFill>
                <a:latin typeface="Cambria" pitchFamily="34" charset="0"/>
                <a:ea typeface="Cambria" pitchFamily="34" charset="-122"/>
                <a:cs typeface="Cambria" pitchFamily="34" charset="-120"/>
              </a:rPr>
              <a:t>Measure it on the bench</a:t>
            </a:r>
            <a:endParaRPr lang="en-US" sz="2000" dirty="0"/>
          </a:p>
        </p:txBody>
      </p:sp>
      <p:sp>
        <p:nvSpPr>
          <p:cNvPr id="7" name="Text 5"/>
          <p:cNvSpPr txBox="1"/>
          <p:nvPr/>
        </p:nvSpPr>
        <p:spPr>
          <a:xfrm>
            <a:off x="868680" y="2414016"/>
            <a:ext cx="4846320" cy="256032"/>
          </a:xfrm>
          <a:prstGeom prst="rect">
            <a:avLst/>
          </a:prstGeom>
          <a:noFill/>
          <a:ln/>
        </p:spPr>
        <p:txBody>
          <a:bodyPr wrap="square" lIns="0" tIns="0" rIns="0" bIns="0" rtlCol="0" anchor="ctr"/>
          <a:lstStyle/>
          <a:p>
            <a:pPr indent="0" marL="0">
              <a:buNone/>
            </a:pPr>
            <a:r>
              <a:rPr lang="en-US" sz="1100" i="1" dirty="0">
                <a:solidFill>
                  <a:srgbClr val="6B6880"/>
                </a:solidFill>
                <a:latin typeface="Calibri" pitchFamily="34" charset="0"/>
                <a:ea typeface="Calibri" pitchFamily="34" charset="-122"/>
                <a:cs typeface="Calibri" pitchFamily="34" charset="-120"/>
              </a:rPr>
              <a:t>~1 day  ·  no code  ·  equipment already on the table</a:t>
            </a:r>
            <a:endParaRPr lang="en-US" sz="1100" dirty="0"/>
          </a:p>
        </p:txBody>
      </p:sp>
      <p:sp>
        <p:nvSpPr>
          <p:cNvPr id="8" name="Text 6"/>
          <p:cNvSpPr txBox="1"/>
          <p:nvPr/>
        </p:nvSpPr>
        <p:spPr>
          <a:xfrm>
            <a:off x="868680" y="2779776"/>
            <a:ext cx="4828032" cy="192024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1A1633"/>
                </a:solidFill>
                <a:latin typeface="Calibri" pitchFamily="34" charset="0"/>
                <a:ea typeface="Calibri" pitchFamily="34" charset="-122"/>
                <a:cs typeface="Calibri" pitchFamily="34" charset="-120"/>
              </a:rPr>
              <a:t>Rigol DS1000Z scope on STEP at the SR2 terminal, DIR on ch2: count edges for a commanded N, check period uniformity, amplitude and rise time.</a:t>
            </a:r>
            <a:endParaRPr lang="en-US" sz="1150" dirty="0"/>
          </a:p>
          <a:p>
            <a:pPr marL="342900" indent="-342900">
              <a:lnSpc>
                <a:spcPts val="1500"/>
              </a:lnSpc>
              <a:spcAft>
                <a:spcPts val="800"/>
              </a:spcAft>
              <a:buSzPct val="100000"/>
              <a:buChar char="•"/>
            </a:pPr>
            <a:r>
              <a:rPr lang="en-US" sz="1150" dirty="0">
                <a:solidFill>
                  <a:srgbClr val="1A1633"/>
                </a:solidFill>
                <a:latin typeface="Calibri" pitchFamily="34" charset="0"/>
                <a:ea typeface="Calibri" pitchFamily="34" charset="-122"/>
                <a:cs typeface="Calibri" pitchFamily="34" charset="-120"/>
              </a:rPr>
              <a:t>Rigol DG852 Pro in N-cycle burst: send exactly N clean TTL pulses straight into STEP, bypassing LabVIEW → measure travel → ground-truth µm per pulse.</a:t>
            </a:r>
            <a:endParaRPr lang="en-US" sz="1150" dirty="0"/>
          </a:p>
          <a:p>
            <a:pPr marL="342900" indent="-342900">
              <a:lnSpc>
                <a:spcPts val="1500"/>
              </a:lnSpc>
              <a:spcAft>
                <a:spcPts val="800"/>
              </a:spcAft>
              <a:buSzPct val="100000"/>
              <a:buChar char="•"/>
            </a:pPr>
            <a:r>
              <a:rPr lang="en-US" sz="1150" dirty="0">
                <a:solidFill>
                  <a:srgbClr val="1A1633"/>
                </a:solidFill>
                <a:latin typeface="Calibri" pitchFamily="34" charset="0"/>
                <a:ea typeface="Calibri" pitchFamily="34" charset="-122"/>
                <a:cs typeface="Calibri" pitchFamily="34" charset="-120"/>
              </a:rPr>
              <a:t>Sweep 200 Hz → 5 kHz to find the quiet band and the resonance.</a:t>
            </a:r>
            <a:endParaRPr lang="en-US" sz="1150" dirty="0"/>
          </a:p>
        </p:txBody>
      </p:sp>
      <p:sp>
        <p:nvSpPr>
          <p:cNvPr id="9" name="Text 7"/>
          <p:cNvSpPr txBox="1"/>
          <p:nvPr/>
        </p:nvSpPr>
        <p:spPr>
          <a:xfrm>
            <a:off x="868680" y="4389120"/>
            <a:ext cx="4846320" cy="365760"/>
          </a:xfrm>
          <a:prstGeom prst="rect">
            <a:avLst/>
          </a:prstGeom>
          <a:noFill/>
          <a:ln/>
        </p:spPr>
        <p:txBody>
          <a:bodyPr wrap="square" lIns="0" tIns="0" rIns="0" bIns="0" rtlCol="0" anchor="ctr"/>
          <a:lstStyle/>
          <a:p>
            <a:pPr indent="0" marL="0">
              <a:buNone/>
            </a:pPr>
            <a:r>
              <a:rPr lang="en-US" sz="1150" b="1" dirty="0">
                <a:solidFill>
                  <a:srgbClr val="1F9AAF"/>
                </a:solidFill>
                <a:latin typeface="Calibri" pitchFamily="34" charset="0"/>
                <a:ea typeface="Calibri" pitchFamily="34" charset="-122"/>
                <a:cs typeface="Calibri" pitchFamily="34" charset="-120"/>
              </a:rPr>
              <a:t>Answers: is the problem LabVIEW, or the drive and mechanics?</a:t>
            </a:r>
            <a:endParaRPr lang="en-US" sz="1150" dirty="0"/>
          </a:p>
        </p:txBody>
      </p:sp>
      <p:sp>
        <p:nvSpPr>
          <p:cNvPr id="10" name="Shape 8"/>
          <p:cNvSpPr/>
          <p:nvPr/>
        </p:nvSpPr>
        <p:spPr>
          <a:xfrm>
            <a:off x="6446520" y="1554480"/>
            <a:ext cx="5394960" cy="3364992"/>
          </a:xfrm>
          <a:prstGeom prst="roundRect">
            <a:avLst>
              <a:gd name="adj" fmla="val 1630"/>
            </a:avLst>
          </a:prstGeom>
          <a:solidFill>
            <a:srgbClr val="FFFFFF"/>
          </a:solidFill>
          <a:ln w="12700">
            <a:solidFill>
              <a:srgbClr val="D98A1F"/>
            </a:solidFill>
            <a:prstDash val="solid"/>
          </a:ln>
        </p:spPr>
      </p:sp>
      <p:sp>
        <p:nvSpPr>
          <p:cNvPr id="11" name="Text 9"/>
          <p:cNvSpPr txBox="1"/>
          <p:nvPr/>
        </p:nvSpPr>
        <p:spPr>
          <a:xfrm>
            <a:off x="6720840" y="1755648"/>
            <a:ext cx="1828800" cy="256032"/>
          </a:xfrm>
          <a:prstGeom prst="rect">
            <a:avLst/>
          </a:prstGeom>
          <a:noFill/>
          <a:ln/>
        </p:spPr>
        <p:txBody>
          <a:bodyPr wrap="square" lIns="0" tIns="0" rIns="0" bIns="0" rtlCol="0" anchor="ctr"/>
          <a:lstStyle/>
          <a:p>
            <a:pPr indent="0" marL="0">
              <a:buNone/>
            </a:pPr>
            <a:r>
              <a:rPr lang="en-US" sz="1050" b="1" spc="140" kern="0" dirty="0">
                <a:solidFill>
                  <a:srgbClr val="D98A1F"/>
                </a:solidFill>
                <a:latin typeface="Calibri" pitchFamily="34" charset="0"/>
                <a:ea typeface="Calibri" pitchFamily="34" charset="-122"/>
                <a:cs typeface="Calibri" pitchFamily="34" charset="-120"/>
              </a:rPr>
              <a:t>PATH B</a:t>
            </a:r>
            <a:endParaRPr lang="en-US" sz="1050" dirty="0"/>
          </a:p>
        </p:txBody>
      </p:sp>
      <p:sp>
        <p:nvSpPr>
          <p:cNvPr id="12" name="Text 10"/>
          <p:cNvSpPr txBox="1"/>
          <p:nvPr/>
        </p:nvSpPr>
        <p:spPr>
          <a:xfrm>
            <a:off x="6720840" y="2029968"/>
            <a:ext cx="4846320" cy="347472"/>
          </a:xfrm>
          <a:prstGeom prst="rect">
            <a:avLst/>
          </a:prstGeom>
          <a:noFill/>
          <a:ln/>
        </p:spPr>
        <p:txBody>
          <a:bodyPr wrap="square" lIns="0" tIns="0" rIns="0" bIns="0" rtlCol="0" anchor="ctr"/>
          <a:lstStyle/>
          <a:p>
            <a:pPr indent="0" marL="0">
              <a:buNone/>
            </a:pPr>
            <a:r>
              <a:rPr lang="en-US" sz="2000" b="1" dirty="0">
                <a:solidFill>
                  <a:srgbClr val="1A1633"/>
                </a:solidFill>
                <a:latin typeface="Cambria" pitchFamily="34" charset="0"/>
                <a:ea typeface="Cambria" pitchFamily="34" charset="-122"/>
                <a:cs typeface="Cambria" pitchFamily="34" charset="-120"/>
              </a:rPr>
              <a:t>Instrument the VI</a:t>
            </a:r>
            <a:endParaRPr lang="en-US" sz="2000" dirty="0"/>
          </a:p>
        </p:txBody>
      </p:sp>
      <p:sp>
        <p:nvSpPr>
          <p:cNvPr id="13" name="Text 11"/>
          <p:cNvSpPr txBox="1"/>
          <p:nvPr/>
        </p:nvSpPr>
        <p:spPr>
          <a:xfrm>
            <a:off x="6720840" y="2414016"/>
            <a:ext cx="4846320" cy="256032"/>
          </a:xfrm>
          <a:prstGeom prst="rect">
            <a:avLst/>
          </a:prstGeom>
          <a:noFill/>
          <a:ln/>
        </p:spPr>
        <p:txBody>
          <a:bodyPr wrap="square" lIns="0" tIns="0" rIns="0" bIns="0" rtlCol="0" anchor="ctr"/>
          <a:lstStyle/>
          <a:p>
            <a:pPr indent="0" marL="0">
              <a:buNone/>
            </a:pPr>
            <a:r>
              <a:rPr lang="en-US" sz="1100" i="1" dirty="0">
                <a:solidFill>
                  <a:srgbClr val="6B6880"/>
                </a:solidFill>
                <a:latin typeface="Calibri" pitchFamily="34" charset="0"/>
                <a:ea typeface="Calibri" pitchFamily="34" charset="-122"/>
                <a:cs typeface="Calibri" pitchFamily="34" charset="-120"/>
              </a:rPr>
              <a:t>~2–3 days  ·  LabVIEW work  ·  permanent readback</a:t>
            </a:r>
            <a:endParaRPr lang="en-US" sz="1100" dirty="0"/>
          </a:p>
        </p:txBody>
      </p:sp>
      <p:sp>
        <p:nvSpPr>
          <p:cNvPr id="14" name="Text 12"/>
          <p:cNvSpPr txBox="1"/>
          <p:nvPr/>
        </p:nvSpPr>
        <p:spPr>
          <a:xfrm>
            <a:off x="6720840" y="2779776"/>
            <a:ext cx="4828032" cy="192024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1A1633"/>
                </a:solidFill>
                <a:latin typeface="Calibri" pitchFamily="34" charset="0"/>
                <a:ea typeface="Calibri" pitchFamily="34" charset="-122"/>
                <a:cs typeface="Calibri" pitchFamily="34" charset="-120"/>
              </a:rPr>
              <a:t>Loop STEP back into a PCIe-6323 counter input (PFI 0 or PFI 12, both free) and display actual edge count next to commanded N.</a:t>
            </a:r>
            <a:endParaRPr lang="en-US" sz="1150" dirty="0"/>
          </a:p>
          <a:p>
            <a:pPr marL="342900" indent="-342900">
              <a:lnSpc>
                <a:spcPts val="1500"/>
              </a:lnSpc>
              <a:spcAft>
                <a:spcPts val="800"/>
              </a:spcAft>
              <a:buSzPct val="100000"/>
              <a:buChar char="•"/>
            </a:pPr>
            <a:r>
              <a:rPr lang="en-US" sz="1150" dirty="0">
                <a:solidFill>
                  <a:srgbClr val="1A1633"/>
                </a:solidFill>
                <a:latin typeface="Calibri" pitchFamily="34" charset="0"/>
                <a:ea typeface="Calibri" pitchFamily="34" charset="-122"/>
                <a:cs typeface="Calibri" pitchFamily="34" charset="-120"/>
              </a:rPr>
              <a:t>Move STEP generation from a software-timed digital write to a hardware-timed counter pulse-train output.</a:t>
            </a:r>
            <a:endParaRPr lang="en-US" sz="1150" dirty="0"/>
          </a:p>
          <a:p>
            <a:pPr marL="342900" indent="-342900">
              <a:lnSpc>
                <a:spcPts val="1500"/>
              </a:lnSpc>
              <a:spcAft>
                <a:spcPts val="800"/>
              </a:spcAft>
              <a:buSzPct val="100000"/>
              <a:buChar char="•"/>
            </a:pPr>
            <a:r>
              <a:rPr lang="en-US" sz="1150" dirty="0">
                <a:solidFill>
                  <a:srgbClr val="1A1633"/>
                </a:solidFill>
                <a:latin typeface="Calibri" pitchFamily="34" charset="0"/>
                <a:ea typeface="Calibri" pitchFamily="34" charset="-122"/>
                <a:cs typeface="Calibri" pitchFamily="34" charset="-120"/>
              </a:rPr>
              <a:t>Log commanded vs. counted per move, so every future scan self-checks.</a:t>
            </a:r>
            <a:endParaRPr lang="en-US" sz="1150" dirty="0"/>
          </a:p>
        </p:txBody>
      </p:sp>
      <p:sp>
        <p:nvSpPr>
          <p:cNvPr id="15" name="Text 13"/>
          <p:cNvSpPr txBox="1"/>
          <p:nvPr/>
        </p:nvSpPr>
        <p:spPr>
          <a:xfrm>
            <a:off x="6720840" y="4389120"/>
            <a:ext cx="4846320" cy="365760"/>
          </a:xfrm>
          <a:prstGeom prst="rect">
            <a:avLst/>
          </a:prstGeom>
          <a:noFill/>
          <a:ln/>
        </p:spPr>
        <p:txBody>
          <a:bodyPr wrap="square" lIns="0" tIns="0" rIns="0" bIns="0" rtlCol="0" anchor="ctr"/>
          <a:lstStyle/>
          <a:p>
            <a:pPr indent="0" marL="0">
              <a:buNone/>
            </a:pPr>
            <a:r>
              <a:rPr lang="en-US" sz="1150" b="1" dirty="0">
                <a:solidFill>
                  <a:srgbClr val="D98A1F"/>
                </a:solidFill>
                <a:latin typeface="Calibri" pitchFamily="34" charset="0"/>
                <a:ea typeface="Calibri" pitchFamily="34" charset="-122"/>
                <a:cs typeface="Calibri" pitchFamily="34" charset="-120"/>
              </a:rPr>
              <a:t>Fixes the root cause if H2 is right, and never has to be redone.</a:t>
            </a:r>
            <a:endParaRPr lang="en-US" sz="1150" dirty="0"/>
          </a:p>
        </p:txBody>
      </p:sp>
      <p:sp>
        <p:nvSpPr>
          <p:cNvPr id="16" name="Shape 14"/>
          <p:cNvSpPr/>
          <p:nvPr/>
        </p:nvSpPr>
        <p:spPr>
          <a:xfrm>
            <a:off x="594360" y="5230368"/>
            <a:ext cx="10972800" cy="841248"/>
          </a:xfrm>
          <a:prstGeom prst="roundRect">
            <a:avLst>
              <a:gd name="adj" fmla="val 6522"/>
            </a:avLst>
          </a:prstGeom>
          <a:solidFill>
            <a:srgbClr val="1A1633"/>
          </a:solidFill>
          <a:ln w="12700">
            <a:solidFill>
              <a:srgbClr val="1A1633"/>
            </a:solidFill>
            <a:prstDash val="solid"/>
          </a:ln>
        </p:spPr>
      </p:sp>
      <p:sp>
        <p:nvSpPr>
          <p:cNvPr id="17" name="Text 15"/>
          <p:cNvSpPr txBox="1"/>
          <p:nvPr/>
        </p:nvSpPr>
        <p:spPr>
          <a:xfrm>
            <a:off x="868680" y="5413248"/>
            <a:ext cx="10424160" cy="502920"/>
          </a:xfrm>
          <a:prstGeom prst="rect">
            <a:avLst/>
          </a:prstGeom>
          <a:noFill/>
          <a:ln/>
        </p:spPr>
        <p:txBody>
          <a:bodyPr wrap="square" lIns="0" tIns="0" rIns="0" bIns="0" rtlCol="0" anchor="ctr"/>
          <a:lstStyle/>
          <a:p>
            <a:pPr indent="0" marL="0">
              <a:lnSpc>
                <a:spcPts val="1700"/>
              </a:lnSpc>
              <a:buNone/>
            </a:pPr>
            <a:r>
              <a:rPr lang="en-US" sz="1300" b="1" dirty="0">
                <a:solidFill>
                  <a:srgbClr val="D98A1F"/>
                </a:solidFill>
                <a:latin typeface="Calibri" pitchFamily="34" charset="0"/>
                <a:ea typeface="Calibri" pitchFamily="34" charset="-122"/>
                <a:cs typeface="Calibri" pitchFamily="34" charset="-120"/>
              </a:rPr>
              <a:t>My suggestion:  </a:t>
            </a:r>
            <a:pPr indent="0" marL="0">
              <a:lnSpc>
                <a:spcPts val="1700"/>
              </a:lnSpc>
              <a:buNone/>
            </a:pPr>
            <a:r>
              <a:rPr lang="en-US" sz="1300" dirty="0">
                <a:solidFill>
                  <a:srgbClr val="FFFFFF"/>
                </a:solidFill>
                <a:latin typeface="Calibri" pitchFamily="34" charset="0"/>
                <a:ea typeface="Calibri" pitchFamily="34" charset="-122"/>
                <a:cs typeface="Calibri" pitchFamily="34" charset="-120"/>
              </a:rPr>
              <a:t>run Path A first — it uses hardware already on the table and gives a number by Wednesday. Then do Path B only if A shows jitter or a count mismatch.</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200" kern="0" dirty="0">
                <a:solidFill>
                  <a:srgbClr val="4C3FA6"/>
                </a:solidFill>
                <a:latin typeface="Calibri" pitchFamily="34" charset="0"/>
                <a:ea typeface="Calibri" pitchFamily="34" charset="-122"/>
                <a:cs typeface="Calibri" pitchFamily="34" charset="-120"/>
              </a:rPr>
              <a:t>DECISION 2</a:t>
            </a:r>
            <a:endParaRPr lang="en-US" sz="1100" dirty="0"/>
          </a:p>
        </p:txBody>
      </p:sp>
      <p:sp>
        <p:nvSpPr>
          <p:cNvPr id="3" name="Text 1"/>
          <p:cNvSpPr txBox="1"/>
          <p:nvPr/>
        </p:nvSpPr>
        <p:spPr>
          <a:xfrm>
            <a:off x="594360" y="640080"/>
            <a:ext cx="10972800" cy="658368"/>
          </a:xfrm>
          <a:prstGeom prst="rect">
            <a:avLst/>
          </a:prstGeom>
          <a:noFill/>
          <a:ln/>
        </p:spPr>
        <p:txBody>
          <a:bodyPr wrap="square" lIns="0" tIns="0" rIns="0" bIns="0" rtlCol="0" anchor="t"/>
          <a:lstStyle/>
          <a:p>
            <a:pPr indent="0" marL="0">
              <a:buNone/>
            </a:pPr>
            <a:r>
              <a:rPr lang="en-US" sz="3000" b="1" dirty="0">
                <a:solidFill>
                  <a:srgbClr val="1A1633"/>
                </a:solidFill>
                <a:latin typeface="Cambria" pitchFamily="34" charset="0"/>
                <a:ea typeface="Cambria" pitchFamily="34" charset="-122"/>
                <a:cs typeface="Cambria" pitchFamily="34" charset="-120"/>
              </a:rPr>
              <a:t>Three to four weeks to a first image</a:t>
            </a:r>
            <a:endParaRPr lang="en-US" sz="3000" dirty="0"/>
          </a:p>
        </p:txBody>
      </p:sp>
      <p:sp>
        <p:nvSpPr>
          <p:cNvPr id="4" name="Text 2"/>
          <p:cNvSpPr txBox="1"/>
          <p:nvPr/>
        </p:nvSpPr>
        <p:spPr>
          <a:xfrm>
            <a:off x="594360" y="1298448"/>
            <a:ext cx="10972800" cy="274320"/>
          </a:xfrm>
          <a:prstGeom prst="rect">
            <a:avLst/>
          </a:prstGeom>
          <a:noFill/>
          <a:ln/>
        </p:spPr>
        <p:txBody>
          <a:bodyPr wrap="square" lIns="0" tIns="0" rIns="0" bIns="0" rtlCol="0" anchor="ctr"/>
          <a:lstStyle/>
          <a:p>
            <a:pPr indent="0" marL="0">
              <a:buNone/>
            </a:pPr>
            <a:r>
              <a:rPr lang="en-US" sz="1300" i="1" dirty="0">
                <a:solidFill>
                  <a:srgbClr val="6B6880"/>
                </a:solidFill>
                <a:latin typeface="Calibri" pitchFamily="34" charset="0"/>
                <a:ea typeface="Calibri" pitchFamily="34" charset="-122"/>
                <a:cs typeface="Calibri" pitchFamily="34" charset="-120"/>
              </a:rPr>
              <a:t>Does this match the pace you have in mind?</a:t>
            </a:r>
            <a:endParaRPr lang="en-US" sz="1300" dirty="0"/>
          </a:p>
        </p:txBody>
      </p:sp>
      <p:sp>
        <p:nvSpPr>
          <p:cNvPr id="5" name="Shape 3"/>
          <p:cNvSpPr/>
          <p:nvPr/>
        </p:nvSpPr>
        <p:spPr>
          <a:xfrm>
            <a:off x="594360" y="1627632"/>
            <a:ext cx="2697480" cy="3794760"/>
          </a:xfrm>
          <a:prstGeom prst="roundRect">
            <a:avLst>
              <a:gd name="adj" fmla="val 2034"/>
            </a:avLst>
          </a:prstGeom>
          <a:solidFill>
            <a:srgbClr val="F2F1F7"/>
          </a:solidFill>
          <a:ln w="12700">
            <a:solidFill>
              <a:srgbClr val="F2F1F7"/>
            </a:solidFill>
            <a:prstDash val="solid"/>
          </a:ln>
        </p:spPr>
      </p:sp>
      <p:sp>
        <p:nvSpPr>
          <p:cNvPr id="6" name="Shape 4"/>
          <p:cNvSpPr/>
          <p:nvPr/>
        </p:nvSpPr>
        <p:spPr>
          <a:xfrm>
            <a:off x="832104" y="1865376"/>
            <a:ext cx="347472" cy="347472"/>
          </a:xfrm>
          <a:prstGeom prst="ellipse">
            <a:avLst/>
          </a:prstGeom>
          <a:solidFill>
            <a:srgbClr val="4C3FA6"/>
          </a:solidFill>
          <a:ln w="12700">
            <a:solidFill>
              <a:srgbClr val="4C3FA6"/>
            </a:solidFill>
            <a:prstDash val="solid"/>
          </a:ln>
        </p:spPr>
      </p:sp>
      <p:sp>
        <p:nvSpPr>
          <p:cNvPr id="7" name="Text 5"/>
          <p:cNvSpPr txBox="1"/>
          <p:nvPr/>
        </p:nvSpPr>
        <p:spPr>
          <a:xfrm>
            <a:off x="832104" y="18653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71016" y="1847088"/>
            <a:ext cx="1783080" cy="237744"/>
          </a:xfrm>
          <a:prstGeom prst="rect">
            <a:avLst/>
          </a:prstGeom>
          <a:noFill/>
          <a:ln/>
        </p:spPr>
        <p:txBody>
          <a:bodyPr wrap="square" lIns="0" tIns="0" rIns="0" bIns="0" rtlCol="0" anchor="ctr"/>
          <a:lstStyle/>
          <a:p>
            <a:pPr indent="0" marL="0">
              <a:buNone/>
            </a:pPr>
            <a:r>
              <a:rPr lang="en-US" sz="1100" b="1" spc="100" kern="0" dirty="0">
                <a:solidFill>
                  <a:srgbClr val="4C3FA6"/>
                </a:solidFill>
                <a:latin typeface="Calibri" pitchFamily="34" charset="0"/>
                <a:ea typeface="Calibri" pitchFamily="34" charset="-122"/>
                <a:cs typeface="Calibri" pitchFamily="34" charset="-120"/>
              </a:rPr>
              <a:t>Week 1</a:t>
            </a:r>
            <a:endParaRPr lang="en-US" sz="1100" dirty="0"/>
          </a:p>
        </p:txBody>
      </p:sp>
      <p:sp>
        <p:nvSpPr>
          <p:cNvPr id="9" name="Text 7"/>
          <p:cNvSpPr txBox="1"/>
          <p:nvPr/>
        </p:nvSpPr>
        <p:spPr>
          <a:xfrm>
            <a:off x="1271016" y="2066544"/>
            <a:ext cx="1783080" cy="219456"/>
          </a:xfrm>
          <a:prstGeom prst="rect">
            <a:avLst/>
          </a:prstGeom>
          <a:noFill/>
          <a:ln/>
        </p:spPr>
        <p:txBody>
          <a:bodyPr wrap="square" lIns="0" tIns="0" rIns="0" bIns="0" rtlCol="0" anchor="ctr"/>
          <a:lstStyle/>
          <a:p>
            <a:pPr indent="0" marL="0">
              <a:buNone/>
            </a:pPr>
            <a:r>
              <a:rPr lang="en-US" sz="1050" dirty="0">
                <a:solidFill>
                  <a:srgbClr val="6B6880"/>
                </a:solidFill>
                <a:latin typeface="Calibri" pitchFamily="34" charset="0"/>
                <a:ea typeface="Calibri" pitchFamily="34" charset="-122"/>
                <a:cs typeface="Calibri" pitchFamily="34" charset="-120"/>
              </a:rPr>
              <a:t>Sep 1 – 5</a:t>
            </a:r>
            <a:endParaRPr lang="en-US" sz="1050" dirty="0"/>
          </a:p>
        </p:txBody>
      </p:sp>
      <p:sp>
        <p:nvSpPr>
          <p:cNvPr id="10" name="Text 8"/>
          <p:cNvSpPr txBox="1"/>
          <p:nvPr/>
        </p:nvSpPr>
        <p:spPr>
          <a:xfrm>
            <a:off x="832104" y="2414016"/>
            <a:ext cx="2221992" cy="566928"/>
          </a:xfrm>
          <a:prstGeom prst="rect">
            <a:avLst/>
          </a:prstGeom>
          <a:noFill/>
          <a:ln/>
        </p:spPr>
        <p:txBody>
          <a:bodyPr wrap="square" lIns="0" tIns="0" rIns="0" bIns="0" rtlCol="0" anchor="t"/>
          <a:lstStyle/>
          <a:p>
            <a:pPr indent="0" marL="0">
              <a:buNone/>
            </a:pPr>
            <a:r>
              <a:rPr lang="en-US" sz="1700" b="1" dirty="0">
                <a:solidFill>
                  <a:srgbClr val="1A1633"/>
                </a:solidFill>
                <a:latin typeface="Cambria" pitchFamily="34" charset="0"/>
                <a:ea typeface="Cambria" pitchFamily="34" charset="-122"/>
                <a:cs typeface="Cambria" pitchFamily="34" charset="-120"/>
              </a:rPr>
              <a:t>Motor calibration</a:t>
            </a:r>
            <a:endParaRPr lang="en-US" sz="1700" dirty="0"/>
          </a:p>
        </p:txBody>
      </p:sp>
      <p:sp>
        <p:nvSpPr>
          <p:cNvPr id="11" name="Text 9"/>
          <p:cNvSpPr txBox="1"/>
          <p:nvPr/>
        </p:nvSpPr>
        <p:spPr>
          <a:xfrm>
            <a:off x="832104" y="3017520"/>
            <a:ext cx="2221992" cy="137160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100" dirty="0">
                <a:solidFill>
                  <a:srgbClr val="1A1633"/>
                </a:solidFill>
                <a:latin typeface="Calibri" pitchFamily="34" charset="0"/>
                <a:ea typeface="Calibri" pitchFamily="34" charset="-122"/>
                <a:cs typeface="Calibri" pitchFamily="34" charset="-120"/>
              </a:rPr>
              <a:t>Run the chosen verification path</a:t>
            </a:r>
            <a:endParaRPr lang="en-US" sz="1100" dirty="0"/>
          </a:p>
          <a:p>
            <a:pPr marL="342900" indent="-342900">
              <a:lnSpc>
                <a:spcPts val="1400"/>
              </a:lnSpc>
              <a:spcAft>
                <a:spcPts val="600"/>
              </a:spcAft>
              <a:buSzPct val="100000"/>
              <a:buChar char="•"/>
            </a:pPr>
            <a:r>
              <a:rPr lang="en-US" sz="1100" dirty="0">
                <a:solidFill>
                  <a:srgbClr val="1A1633"/>
                </a:solidFill>
                <a:latin typeface="Calibri" pitchFamily="34" charset="0"/>
                <a:ea typeface="Calibri" pitchFamily="34" charset="-122"/>
                <a:cs typeface="Calibri" pitchFamily="34" charset="-120"/>
              </a:rPr>
              <a:t>Settle SR2 microstep + current</a:t>
            </a:r>
            <a:endParaRPr lang="en-US" sz="1100" dirty="0"/>
          </a:p>
          <a:p>
            <a:pPr marL="342900" indent="-342900">
              <a:lnSpc>
                <a:spcPts val="1400"/>
              </a:lnSpc>
              <a:spcAft>
                <a:spcPts val="600"/>
              </a:spcAft>
              <a:buSzPct val="100000"/>
              <a:buChar char="•"/>
            </a:pPr>
            <a:r>
              <a:rPr lang="en-US" sz="1100" dirty="0">
                <a:solidFill>
                  <a:srgbClr val="1A1633"/>
                </a:solidFill>
                <a:latin typeface="Calibri" pitchFamily="34" charset="0"/>
                <a:ea typeface="Calibri" pitchFamily="34" charset="-122"/>
                <a:cs typeface="Calibri" pitchFamily="34" charset="-120"/>
              </a:rPr>
              <a:t>Motor lines with Maira (9/2)</a:t>
            </a:r>
            <a:endParaRPr lang="en-US" sz="1100" dirty="0"/>
          </a:p>
        </p:txBody>
      </p:sp>
      <p:sp>
        <p:nvSpPr>
          <p:cNvPr id="12" name="Shape 10"/>
          <p:cNvSpPr/>
          <p:nvPr/>
        </p:nvSpPr>
        <p:spPr>
          <a:xfrm>
            <a:off x="832104" y="4389120"/>
            <a:ext cx="2221992" cy="10973"/>
          </a:xfrm>
          <a:prstGeom prst="rect">
            <a:avLst/>
          </a:prstGeom>
          <a:solidFill>
            <a:srgbClr val="D6D3E4"/>
          </a:solidFill>
          <a:ln w="12700">
            <a:solidFill>
              <a:srgbClr val="333333"/>
            </a:solidFill>
            <a:prstDash val="solid"/>
          </a:ln>
        </p:spPr>
      </p:sp>
      <p:sp>
        <p:nvSpPr>
          <p:cNvPr id="13" name="Text 11"/>
          <p:cNvSpPr txBox="1"/>
          <p:nvPr/>
        </p:nvSpPr>
        <p:spPr>
          <a:xfrm>
            <a:off x="832104" y="4480560"/>
            <a:ext cx="2221992" cy="219456"/>
          </a:xfrm>
          <a:prstGeom prst="rect">
            <a:avLst/>
          </a:prstGeom>
          <a:noFill/>
          <a:ln/>
        </p:spPr>
        <p:txBody>
          <a:bodyPr wrap="square" lIns="0" tIns="0" rIns="0" bIns="0" rtlCol="0" anchor="ctr"/>
          <a:lstStyle/>
          <a:p>
            <a:pPr indent="0" marL="0">
              <a:buNone/>
            </a:pPr>
            <a:r>
              <a:rPr lang="en-US" sz="900" b="1" spc="100" kern="0" dirty="0">
                <a:solidFill>
                  <a:srgbClr val="4C3FA6"/>
                </a:solidFill>
                <a:latin typeface="Calibri" pitchFamily="34" charset="0"/>
                <a:ea typeface="Calibri" pitchFamily="34" charset="-122"/>
                <a:cs typeface="Calibri" pitchFamily="34" charset="-120"/>
              </a:rPr>
              <a:t>EXIT CRITERION</a:t>
            </a:r>
            <a:endParaRPr lang="en-US" sz="900" dirty="0"/>
          </a:p>
        </p:txBody>
      </p:sp>
      <p:sp>
        <p:nvSpPr>
          <p:cNvPr id="14" name="Text 12"/>
          <p:cNvSpPr txBox="1"/>
          <p:nvPr/>
        </p:nvSpPr>
        <p:spPr>
          <a:xfrm>
            <a:off x="832104" y="4700016"/>
            <a:ext cx="2221992" cy="640080"/>
          </a:xfrm>
          <a:prstGeom prst="rect">
            <a:avLst/>
          </a:prstGeom>
          <a:noFill/>
          <a:ln/>
        </p:spPr>
        <p:txBody>
          <a:bodyPr wrap="square" lIns="0" tIns="0" rIns="0" bIns="0" rtlCol="0" anchor="ctr"/>
          <a:lstStyle/>
          <a:p>
            <a:pPr indent="0" marL="0">
              <a:lnSpc>
                <a:spcPts val="1400"/>
              </a:lnSpc>
              <a:buNone/>
            </a:pPr>
            <a:r>
              <a:rPr lang="en-US" sz="1100" i="1" dirty="0">
                <a:solidFill>
                  <a:srgbClr val="1A1633"/>
                </a:solidFill>
                <a:latin typeface="Calibri" pitchFamily="34" charset="0"/>
                <a:ea typeface="Calibri" pitchFamily="34" charset="-122"/>
                <a:cs typeface="Calibri" pitchFamily="34" charset="-120"/>
              </a:rPr>
              <a:t>µm per pulse known and repeatable on X, Y, Z</a:t>
            </a:r>
            <a:endParaRPr lang="en-US" sz="1100" dirty="0"/>
          </a:p>
        </p:txBody>
      </p:sp>
      <p:sp>
        <p:nvSpPr>
          <p:cNvPr id="15" name="Shape 13"/>
          <p:cNvSpPr/>
          <p:nvPr/>
        </p:nvSpPr>
        <p:spPr>
          <a:xfrm>
            <a:off x="3520440" y="1627632"/>
            <a:ext cx="2697480" cy="3794760"/>
          </a:xfrm>
          <a:prstGeom prst="roundRect">
            <a:avLst>
              <a:gd name="adj" fmla="val 2034"/>
            </a:avLst>
          </a:prstGeom>
          <a:solidFill>
            <a:srgbClr val="F2F1F7"/>
          </a:solidFill>
          <a:ln w="12700">
            <a:solidFill>
              <a:srgbClr val="F2F1F7"/>
            </a:solidFill>
            <a:prstDash val="solid"/>
          </a:ln>
        </p:spPr>
      </p:sp>
      <p:sp>
        <p:nvSpPr>
          <p:cNvPr id="16" name="Shape 14"/>
          <p:cNvSpPr/>
          <p:nvPr/>
        </p:nvSpPr>
        <p:spPr>
          <a:xfrm>
            <a:off x="3758184" y="1865376"/>
            <a:ext cx="347472" cy="347472"/>
          </a:xfrm>
          <a:prstGeom prst="ellipse">
            <a:avLst/>
          </a:prstGeom>
          <a:solidFill>
            <a:srgbClr val="1F9AAF"/>
          </a:solidFill>
          <a:ln w="12700">
            <a:solidFill>
              <a:srgbClr val="1F9AAF"/>
            </a:solidFill>
            <a:prstDash val="solid"/>
          </a:ln>
        </p:spPr>
      </p:sp>
      <p:sp>
        <p:nvSpPr>
          <p:cNvPr id="17" name="Text 15"/>
          <p:cNvSpPr txBox="1"/>
          <p:nvPr/>
        </p:nvSpPr>
        <p:spPr>
          <a:xfrm>
            <a:off x="3758184" y="18653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txBox="1"/>
          <p:nvPr/>
        </p:nvSpPr>
        <p:spPr>
          <a:xfrm>
            <a:off x="4197096" y="1847088"/>
            <a:ext cx="1783080" cy="237744"/>
          </a:xfrm>
          <a:prstGeom prst="rect">
            <a:avLst/>
          </a:prstGeom>
          <a:noFill/>
          <a:ln/>
        </p:spPr>
        <p:txBody>
          <a:bodyPr wrap="square" lIns="0" tIns="0" rIns="0" bIns="0" rtlCol="0" anchor="ctr"/>
          <a:lstStyle/>
          <a:p>
            <a:pPr indent="0" marL="0">
              <a:buNone/>
            </a:pPr>
            <a:r>
              <a:rPr lang="en-US" sz="1100" b="1" spc="100" kern="0" dirty="0">
                <a:solidFill>
                  <a:srgbClr val="1F9AAF"/>
                </a:solidFill>
                <a:latin typeface="Calibri" pitchFamily="34" charset="0"/>
                <a:ea typeface="Calibri" pitchFamily="34" charset="-122"/>
                <a:cs typeface="Calibri" pitchFamily="34" charset="-120"/>
              </a:rPr>
              <a:t>Week 2</a:t>
            </a:r>
            <a:endParaRPr lang="en-US" sz="1100" dirty="0"/>
          </a:p>
        </p:txBody>
      </p:sp>
      <p:sp>
        <p:nvSpPr>
          <p:cNvPr id="19" name="Text 17"/>
          <p:cNvSpPr txBox="1"/>
          <p:nvPr/>
        </p:nvSpPr>
        <p:spPr>
          <a:xfrm>
            <a:off x="4197096" y="2066544"/>
            <a:ext cx="1783080" cy="219456"/>
          </a:xfrm>
          <a:prstGeom prst="rect">
            <a:avLst/>
          </a:prstGeom>
          <a:noFill/>
          <a:ln/>
        </p:spPr>
        <p:txBody>
          <a:bodyPr wrap="square" lIns="0" tIns="0" rIns="0" bIns="0" rtlCol="0" anchor="ctr"/>
          <a:lstStyle/>
          <a:p>
            <a:pPr indent="0" marL="0">
              <a:buNone/>
            </a:pPr>
            <a:r>
              <a:rPr lang="en-US" sz="1050" dirty="0">
                <a:solidFill>
                  <a:srgbClr val="6B6880"/>
                </a:solidFill>
                <a:latin typeface="Calibri" pitchFamily="34" charset="0"/>
                <a:ea typeface="Calibri" pitchFamily="34" charset="-122"/>
                <a:cs typeface="Calibri" pitchFamily="34" charset="-120"/>
              </a:rPr>
              <a:t>Sep 8 – 12</a:t>
            </a:r>
            <a:endParaRPr lang="en-US" sz="1050" dirty="0"/>
          </a:p>
        </p:txBody>
      </p:sp>
      <p:sp>
        <p:nvSpPr>
          <p:cNvPr id="20" name="Text 18"/>
          <p:cNvSpPr txBox="1"/>
          <p:nvPr/>
        </p:nvSpPr>
        <p:spPr>
          <a:xfrm>
            <a:off x="3758184" y="2414016"/>
            <a:ext cx="2221992" cy="566928"/>
          </a:xfrm>
          <a:prstGeom prst="rect">
            <a:avLst/>
          </a:prstGeom>
          <a:noFill/>
          <a:ln/>
        </p:spPr>
        <p:txBody>
          <a:bodyPr wrap="square" lIns="0" tIns="0" rIns="0" bIns="0" rtlCol="0" anchor="t"/>
          <a:lstStyle/>
          <a:p>
            <a:pPr indent="0" marL="0">
              <a:buNone/>
            </a:pPr>
            <a:r>
              <a:rPr lang="en-US" sz="1700" b="1" dirty="0">
                <a:solidFill>
                  <a:srgbClr val="1A1633"/>
                </a:solidFill>
                <a:latin typeface="Cambria" pitchFamily="34" charset="0"/>
                <a:ea typeface="Cambria" pitchFamily="34" charset="-122"/>
                <a:cs typeface="Cambria" pitchFamily="34" charset="-120"/>
              </a:rPr>
              <a:t>Fast axis</a:t>
            </a:r>
            <a:endParaRPr lang="en-US" sz="1700" dirty="0"/>
          </a:p>
        </p:txBody>
      </p:sp>
      <p:sp>
        <p:nvSpPr>
          <p:cNvPr id="21" name="Text 19"/>
          <p:cNvSpPr txBox="1"/>
          <p:nvPr/>
        </p:nvSpPr>
        <p:spPr>
          <a:xfrm>
            <a:off x="3758184" y="3017520"/>
            <a:ext cx="2221992" cy="137160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100" dirty="0">
                <a:solidFill>
                  <a:srgbClr val="1A1633"/>
                </a:solidFill>
                <a:latin typeface="Calibri" pitchFamily="34" charset="0"/>
                <a:ea typeface="Calibri" pitchFamily="34" charset="-122"/>
                <a:cs typeface="Calibri" pitchFamily="34" charset="-120"/>
              </a:rPr>
              <a:t>Galvo via ScannerMAX Mach-DSP</a:t>
            </a:r>
            <a:endParaRPr lang="en-US" sz="1100" dirty="0"/>
          </a:p>
          <a:p>
            <a:pPr marL="342900" indent="-342900">
              <a:lnSpc>
                <a:spcPts val="1400"/>
              </a:lnSpc>
              <a:spcAft>
                <a:spcPts val="600"/>
              </a:spcAft>
              <a:buSzPct val="100000"/>
              <a:buChar char="•"/>
            </a:pPr>
            <a:r>
              <a:rPr lang="en-US" sz="1100" dirty="0">
                <a:solidFill>
                  <a:srgbClr val="1A1633"/>
                </a:solidFill>
                <a:latin typeface="Calibri" pitchFamily="34" charset="0"/>
                <a:ea typeface="Calibri" pitchFamily="34" charset="-122"/>
                <a:cs typeface="Calibri" pitchFamily="34" charset="-120"/>
              </a:rPr>
              <a:t>Laser + photodiode trigger</a:t>
            </a:r>
            <a:endParaRPr lang="en-US" sz="1100" dirty="0"/>
          </a:p>
          <a:p>
            <a:pPr marL="342900" indent="-342900">
              <a:lnSpc>
                <a:spcPts val="1400"/>
              </a:lnSpc>
              <a:spcAft>
                <a:spcPts val="600"/>
              </a:spcAft>
              <a:buSzPct val="100000"/>
              <a:buChar char="•"/>
            </a:pPr>
            <a:r>
              <a:rPr lang="en-US" sz="1100" dirty="0">
                <a:solidFill>
                  <a:srgbClr val="1A1633"/>
                </a:solidFill>
                <a:latin typeface="Calibri" pitchFamily="34" charset="0"/>
                <a:ea typeface="Calibri" pitchFamily="34" charset="-122"/>
                <a:cs typeface="Calibri" pitchFamily="34" charset="-120"/>
              </a:rPr>
              <a:t>Galvo–motor handoff timing</a:t>
            </a:r>
            <a:endParaRPr lang="en-US" sz="1100" dirty="0"/>
          </a:p>
        </p:txBody>
      </p:sp>
      <p:sp>
        <p:nvSpPr>
          <p:cNvPr id="22" name="Shape 20"/>
          <p:cNvSpPr/>
          <p:nvPr/>
        </p:nvSpPr>
        <p:spPr>
          <a:xfrm>
            <a:off x="3758184" y="4389120"/>
            <a:ext cx="2221992" cy="10973"/>
          </a:xfrm>
          <a:prstGeom prst="rect">
            <a:avLst/>
          </a:prstGeom>
          <a:solidFill>
            <a:srgbClr val="D6D3E4"/>
          </a:solidFill>
          <a:ln w="12700">
            <a:solidFill>
              <a:srgbClr val="333333"/>
            </a:solidFill>
            <a:prstDash val="solid"/>
          </a:ln>
        </p:spPr>
      </p:sp>
      <p:sp>
        <p:nvSpPr>
          <p:cNvPr id="23" name="Text 21"/>
          <p:cNvSpPr txBox="1"/>
          <p:nvPr/>
        </p:nvSpPr>
        <p:spPr>
          <a:xfrm>
            <a:off x="3758184" y="4480560"/>
            <a:ext cx="2221992" cy="219456"/>
          </a:xfrm>
          <a:prstGeom prst="rect">
            <a:avLst/>
          </a:prstGeom>
          <a:noFill/>
          <a:ln/>
        </p:spPr>
        <p:txBody>
          <a:bodyPr wrap="square" lIns="0" tIns="0" rIns="0" bIns="0" rtlCol="0" anchor="ctr"/>
          <a:lstStyle/>
          <a:p>
            <a:pPr indent="0" marL="0">
              <a:buNone/>
            </a:pPr>
            <a:r>
              <a:rPr lang="en-US" sz="900" b="1" spc="100" kern="0" dirty="0">
                <a:solidFill>
                  <a:srgbClr val="1F9AAF"/>
                </a:solidFill>
                <a:latin typeface="Calibri" pitchFamily="34" charset="0"/>
                <a:ea typeface="Calibri" pitchFamily="34" charset="-122"/>
                <a:cs typeface="Calibri" pitchFamily="34" charset="-120"/>
              </a:rPr>
              <a:t>EXIT CRITERION</a:t>
            </a:r>
            <a:endParaRPr lang="en-US" sz="900" dirty="0"/>
          </a:p>
        </p:txBody>
      </p:sp>
      <p:sp>
        <p:nvSpPr>
          <p:cNvPr id="24" name="Text 22"/>
          <p:cNvSpPr txBox="1"/>
          <p:nvPr/>
        </p:nvSpPr>
        <p:spPr>
          <a:xfrm>
            <a:off x="3758184" y="4700016"/>
            <a:ext cx="2221992" cy="640080"/>
          </a:xfrm>
          <a:prstGeom prst="rect">
            <a:avLst/>
          </a:prstGeom>
          <a:noFill/>
          <a:ln/>
        </p:spPr>
        <p:txBody>
          <a:bodyPr wrap="square" lIns="0" tIns="0" rIns="0" bIns="0" rtlCol="0" anchor="ctr"/>
          <a:lstStyle/>
          <a:p>
            <a:pPr indent="0" marL="0">
              <a:lnSpc>
                <a:spcPts val="1400"/>
              </a:lnSpc>
              <a:buNone/>
            </a:pPr>
            <a:r>
              <a:rPr lang="en-US" sz="1100" i="1" dirty="0">
                <a:solidFill>
                  <a:srgbClr val="1A1633"/>
                </a:solidFill>
                <a:latin typeface="Calibri" pitchFamily="34" charset="0"/>
                <a:ea typeface="Calibri" pitchFamily="34" charset="-122"/>
                <a:cs typeface="Calibri" pitchFamily="34" charset="-120"/>
              </a:rPr>
              <a:t>Galvo sweeps a repeatable line, synced to the laser</a:t>
            </a:r>
            <a:endParaRPr lang="en-US" sz="1100" dirty="0"/>
          </a:p>
        </p:txBody>
      </p:sp>
      <p:sp>
        <p:nvSpPr>
          <p:cNvPr id="25" name="Shape 23"/>
          <p:cNvSpPr/>
          <p:nvPr/>
        </p:nvSpPr>
        <p:spPr>
          <a:xfrm>
            <a:off x="6446520" y="1627632"/>
            <a:ext cx="2697480" cy="3794760"/>
          </a:xfrm>
          <a:prstGeom prst="roundRect">
            <a:avLst>
              <a:gd name="adj" fmla="val 2034"/>
            </a:avLst>
          </a:prstGeom>
          <a:solidFill>
            <a:srgbClr val="F2F1F7"/>
          </a:solidFill>
          <a:ln w="12700">
            <a:solidFill>
              <a:srgbClr val="F2F1F7"/>
            </a:solidFill>
            <a:prstDash val="solid"/>
          </a:ln>
        </p:spPr>
      </p:sp>
      <p:sp>
        <p:nvSpPr>
          <p:cNvPr id="26" name="Shape 24"/>
          <p:cNvSpPr/>
          <p:nvPr/>
        </p:nvSpPr>
        <p:spPr>
          <a:xfrm>
            <a:off x="6684264" y="1865376"/>
            <a:ext cx="347472" cy="347472"/>
          </a:xfrm>
          <a:prstGeom prst="ellipse">
            <a:avLst/>
          </a:prstGeom>
          <a:solidFill>
            <a:srgbClr val="D98A1F"/>
          </a:solidFill>
          <a:ln w="12700">
            <a:solidFill>
              <a:srgbClr val="D98A1F"/>
            </a:solidFill>
            <a:prstDash val="solid"/>
          </a:ln>
        </p:spPr>
      </p:sp>
      <p:sp>
        <p:nvSpPr>
          <p:cNvPr id="27" name="Text 25"/>
          <p:cNvSpPr txBox="1"/>
          <p:nvPr/>
        </p:nvSpPr>
        <p:spPr>
          <a:xfrm>
            <a:off x="6684264" y="18653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6"/>
          <p:cNvSpPr txBox="1"/>
          <p:nvPr/>
        </p:nvSpPr>
        <p:spPr>
          <a:xfrm>
            <a:off x="7123176" y="1847088"/>
            <a:ext cx="1783080" cy="237744"/>
          </a:xfrm>
          <a:prstGeom prst="rect">
            <a:avLst/>
          </a:prstGeom>
          <a:noFill/>
          <a:ln/>
        </p:spPr>
        <p:txBody>
          <a:bodyPr wrap="square" lIns="0" tIns="0" rIns="0" bIns="0" rtlCol="0" anchor="ctr"/>
          <a:lstStyle/>
          <a:p>
            <a:pPr indent="0" marL="0">
              <a:buNone/>
            </a:pPr>
            <a:r>
              <a:rPr lang="en-US" sz="1100" b="1" spc="100" kern="0" dirty="0">
                <a:solidFill>
                  <a:srgbClr val="D98A1F"/>
                </a:solidFill>
                <a:latin typeface="Calibri" pitchFamily="34" charset="0"/>
                <a:ea typeface="Calibri" pitchFamily="34" charset="-122"/>
                <a:cs typeface="Calibri" pitchFamily="34" charset="-120"/>
              </a:rPr>
              <a:t>Week 3</a:t>
            </a:r>
            <a:endParaRPr lang="en-US" sz="1100" dirty="0"/>
          </a:p>
        </p:txBody>
      </p:sp>
      <p:sp>
        <p:nvSpPr>
          <p:cNvPr id="29" name="Text 27"/>
          <p:cNvSpPr txBox="1"/>
          <p:nvPr/>
        </p:nvSpPr>
        <p:spPr>
          <a:xfrm>
            <a:off x="7123176" y="2066544"/>
            <a:ext cx="1783080" cy="219456"/>
          </a:xfrm>
          <a:prstGeom prst="rect">
            <a:avLst/>
          </a:prstGeom>
          <a:noFill/>
          <a:ln/>
        </p:spPr>
        <p:txBody>
          <a:bodyPr wrap="square" lIns="0" tIns="0" rIns="0" bIns="0" rtlCol="0" anchor="ctr"/>
          <a:lstStyle/>
          <a:p>
            <a:pPr indent="0" marL="0">
              <a:buNone/>
            </a:pPr>
            <a:r>
              <a:rPr lang="en-US" sz="1050" dirty="0">
                <a:solidFill>
                  <a:srgbClr val="6B6880"/>
                </a:solidFill>
                <a:latin typeface="Calibri" pitchFamily="34" charset="0"/>
                <a:ea typeface="Calibri" pitchFamily="34" charset="-122"/>
                <a:cs typeface="Calibri" pitchFamily="34" charset="-120"/>
              </a:rPr>
              <a:t>Sep 15 – 19</a:t>
            </a:r>
            <a:endParaRPr lang="en-US" sz="1050" dirty="0"/>
          </a:p>
        </p:txBody>
      </p:sp>
      <p:sp>
        <p:nvSpPr>
          <p:cNvPr id="30" name="Text 28"/>
          <p:cNvSpPr txBox="1"/>
          <p:nvPr/>
        </p:nvSpPr>
        <p:spPr>
          <a:xfrm>
            <a:off x="6684264" y="2414016"/>
            <a:ext cx="2221992" cy="566928"/>
          </a:xfrm>
          <a:prstGeom prst="rect">
            <a:avLst/>
          </a:prstGeom>
          <a:noFill/>
          <a:ln/>
        </p:spPr>
        <p:txBody>
          <a:bodyPr wrap="square" lIns="0" tIns="0" rIns="0" bIns="0" rtlCol="0" anchor="t"/>
          <a:lstStyle/>
          <a:p>
            <a:pPr indent="0" marL="0">
              <a:buNone/>
            </a:pPr>
            <a:r>
              <a:rPr lang="en-US" sz="1700" b="1" dirty="0">
                <a:solidFill>
                  <a:srgbClr val="1A1633"/>
                </a:solidFill>
                <a:latin typeface="Cambria" pitchFamily="34" charset="0"/>
                <a:ea typeface="Cambria" pitchFamily="34" charset="-122"/>
                <a:cs typeface="Cambria" pitchFamily="34" charset="-120"/>
              </a:rPr>
              <a:t>Detection chain</a:t>
            </a:r>
            <a:endParaRPr lang="en-US" sz="1700" dirty="0"/>
          </a:p>
        </p:txBody>
      </p:sp>
      <p:sp>
        <p:nvSpPr>
          <p:cNvPr id="31" name="Text 29"/>
          <p:cNvSpPr txBox="1"/>
          <p:nvPr/>
        </p:nvSpPr>
        <p:spPr>
          <a:xfrm>
            <a:off x="6684264" y="3017520"/>
            <a:ext cx="2221992" cy="137160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100" dirty="0">
                <a:solidFill>
                  <a:srgbClr val="1A1633"/>
                </a:solidFill>
                <a:latin typeface="Calibri" pitchFamily="34" charset="0"/>
                <a:ea typeface="Calibri" pitchFamily="34" charset="-122"/>
                <a:cs typeface="Calibri" pitchFamily="34" charset="-120"/>
              </a:rPr>
              <a:t>AlazarTech capture in LabVIEW</a:t>
            </a:r>
            <a:endParaRPr lang="en-US" sz="1100" dirty="0"/>
          </a:p>
          <a:p>
            <a:pPr marL="342900" indent="-342900">
              <a:lnSpc>
                <a:spcPts val="1400"/>
              </a:lnSpc>
              <a:spcAft>
                <a:spcPts val="600"/>
              </a:spcAft>
              <a:buSzPct val="100000"/>
              <a:buChar char="•"/>
            </a:pPr>
            <a:r>
              <a:rPr lang="en-US" sz="1100" dirty="0">
                <a:solidFill>
                  <a:srgbClr val="1A1633"/>
                </a:solidFill>
                <a:latin typeface="Calibri" pitchFamily="34" charset="0"/>
                <a:ea typeface="Calibri" pitchFamily="34" charset="-122"/>
                <a:cs typeface="Calibri" pitchFamily="34" charset="-120"/>
              </a:rPr>
              <a:t>Transducer alignment + coupling</a:t>
            </a:r>
            <a:endParaRPr lang="en-US" sz="1100" dirty="0"/>
          </a:p>
          <a:p>
            <a:pPr marL="342900" indent="-342900">
              <a:lnSpc>
                <a:spcPts val="1400"/>
              </a:lnSpc>
              <a:spcAft>
                <a:spcPts val="600"/>
              </a:spcAft>
              <a:buSzPct val="100000"/>
              <a:buChar char="•"/>
            </a:pPr>
            <a:r>
              <a:rPr lang="en-US" sz="1100" dirty="0">
                <a:solidFill>
                  <a:srgbClr val="1A1633"/>
                </a:solidFill>
                <a:latin typeface="Calibri" pitchFamily="34" charset="0"/>
                <a:ea typeface="Calibri" pitchFamily="34" charset="-122"/>
                <a:cs typeface="Calibri" pitchFamily="34" charset="-120"/>
              </a:rPr>
              <a:t>Amplifier / gain settings</a:t>
            </a:r>
            <a:endParaRPr lang="en-US" sz="1100" dirty="0"/>
          </a:p>
        </p:txBody>
      </p:sp>
      <p:sp>
        <p:nvSpPr>
          <p:cNvPr id="32" name="Shape 30"/>
          <p:cNvSpPr/>
          <p:nvPr/>
        </p:nvSpPr>
        <p:spPr>
          <a:xfrm>
            <a:off x="6684264" y="4389120"/>
            <a:ext cx="2221992" cy="10973"/>
          </a:xfrm>
          <a:prstGeom prst="rect">
            <a:avLst/>
          </a:prstGeom>
          <a:solidFill>
            <a:srgbClr val="D6D3E4"/>
          </a:solidFill>
          <a:ln w="12700">
            <a:solidFill>
              <a:srgbClr val="333333"/>
            </a:solidFill>
            <a:prstDash val="solid"/>
          </a:ln>
        </p:spPr>
      </p:sp>
      <p:sp>
        <p:nvSpPr>
          <p:cNvPr id="33" name="Text 31"/>
          <p:cNvSpPr txBox="1"/>
          <p:nvPr/>
        </p:nvSpPr>
        <p:spPr>
          <a:xfrm>
            <a:off x="6684264" y="4480560"/>
            <a:ext cx="2221992" cy="219456"/>
          </a:xfrm>
          <a:prstGeom prst="rect">
            <a:avLst/>
          </a:prstGeom>
          <a:noFill/>
          <a:ln/>
        </p:spPr>
        <p:txBody>
          <a:bodyPr wrap="square" lIns="0" tIns="0" rIns="0" bIns="0" rtlCol="0" anchor="ctr"/>
          <a:lstStyle/>
          <a:p>
            <a:pPr indent="0" marL="0">
              <a:buNone/>
            </a:pPr>
            <a:r>
              <a:rPr lang="en-US" sz="900" b="1" spc="100" kern="0" dirty="0">
                <a:solidFill>
                  <a:srgbClr val="D98A1F"/>
                </a:solidFill>
                <a:latin typeface="Calibri" pitchFamily="34" charset="0"/>
                <a:ea typeface="Calibri" pitchFamily="34" charset="-122"/>
                <a:cs typeface="Calibri" pitchFamily="34" charset="-120"/>
              </a:rPr>
              <a:t>EXIT CRITERION</a:t>
            </a:r>
            <a:endParaRPr lang="en-US" sz="900" dirty="0"/>
          </a:p>
        </p:txBody>
      </p:sp>
      <p:sp>
        <p:nvSpPr>
          <p:cNvPr id="34" name="Text 32"/>
          <p:cNvSpPr txBox="1"/>
          <p:nvPr/>
        </p:nvSpPr>
        <p:spPr>
          <a:xfrm>
            <a:off x="6684264" y="4700016"/>
            <a:ext cx="2221992" cy="640080"/>
          </a:xfrm>
          <a:prstGeom prst="rect">
            <a:avLst/>
          </a:prstGeom>
          <a:noFill/>
          <a:ln/>
        </p:spPr>
        <p:txBody>
          <a:bodyPr wrap="square" lIns="0" tIns="0" rIns="0" bIns="0" rtlCol="0" anchor="ctr"/>
          <a:lstStyle/>
          <a:p>
            <a:pPr indent="0" marL="0">
              <a:lnSpc>
                <a:spcPts val="1400"/>
              </a:lnSpc>
              <a:buNone/>
            </a:pPr>
            <a:r>
              <a:rPr lang="en-US" sz="1100" i="1" dirty="0">
                <a:solidFill>
                  <a:srgbClr val="1A1633"/>
                </a:solidFill>
                <a:latin typeface="Calibri" pitchFamily="34" charset="0"/>
                <a:ea typeface="Calibri" pitchFamily="34" charset="-122"/>
                <a:cs typeface="Calibri" pitchFamily="34" charset="-120"/>
              </a:rPr>
              <a:t>A real PA signal from a phantom, on screen</a:t>
            </a:r>
            <a:endParaRPr lang="en-US" sz="1100" dirty="0"/>
          </a:p>
        </p:txBody>
      </p:sp>
      <p:sp>
        <p:nvSpPr>
          <p:cNvPr id="35" name="Shape 33"/>
          <p:cNvSpPr/>
          <p:nvPr/>
        </p:nvSpPr>
        <p:spPr>
          <a:xfrm>
            <a:off x="9372600" y="1627632"/>
            <a:ext cx="2697480" cy="3794760"/>
          </a:xfrm>
          <a:prstGeom prst="roundRect">
            <a:avLst>
              <a:gd name="adj" fmla="val 2034"/>
            </a:avLst>
          </a:prstGeom>
          <a:solidFill>
            <a:srgbClr val="F2F1F7"/>
          </a:solidFill>
          <a:ln w="12700">
            <a:solidFill>
              <a:srgbClr val="F2F1F7"/>
            </a:solidFill>
            <a:prstDash val="solid"/>
          </a:ln>
        </p:spPr>
      </p:sp>
      <p:sp>
        <p:nvSpPr>
          <p:cNvPr id="36" name="Shape 34"/>
          <p:cNvSpPr/>
          <p:nvPr/>
        </p:nvSpPr>
        <p:spPr>
          <a:xfrm>
            <a:off x="9610344" y="1865376"/>
            <a:ext cx="347472" cy="347472"/>
          </a:xfrm>
          <a:prstGeom prst="ellipse">
            <a:avLst/>
          </a:prstGeom>
          <a:solidFill>
            <a:srgbClr val="B33A3A"/>
          </a:solidFill>
          <a:ln w="12700">
            <a:solidFill>
              <a:srgbClr val="B33A3A"/>
            </a:solidFill>
            <a:prstDash val="solid"/>
          </a:ln>
        </p:spPr>
      </p:sp>
      <p:sp>
        <p:nvSpPr>
          <p:cNvPr id="37" name="Text 35"/>
          <p:cNvSpPr txBox="1"/>
          <p:nvPr/>
        </p:nvSpPr>
        <p:spPr>
          <a:xfrm>
            <a:off x="9610344" y="18653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8" name="Text 36"/>
          <p:cNvSpPr txBox="1"/>
          <p:nvPr/>
        </p:nvSpPr>
        <p:spPr>
          <a:xfrm>
            <a:off x="10049256" y="1847088"/>
            <a:ext cx="1783080" cy="237744"/>
          </a:xfrm>
          <a:prstGeom prst="rect">
            <a:avLst/>
          </a:prstGeom>
          <a:noFill/>
          <a:ln/>
        </p:spPr>
        <p:txBody>
          <a:bodyPr wrap="square" lIns="0" tIns="0" rIns="0" bIns="0" rtlCol="0" anchor="ctr"/>
          <a:lstStyle/>
          <a:p>
            <a:pPr indent="0" marL="0">
              <a:buNone/>
            </a:pPr>
            <a:r>
              <a:rPr lang="en-US" sz="1100" b="1" spc="100" kern="0" dirty="0">
                <a:solidFill>
                  <a:srgbClr val="B33A3A"/>
                </a:solidFill>
                <a:latin typeface="Calibri" pitchFamily="34" charset="0"/>
                <a:ea typeface="Calibri" pitchFamily="34" charset="-122"/>
                <a:cs typeface="Calibri" pitchFamily="34" charset="-120"/>
              </a:rPr>
              <a:t>Week 4</a:t>
            </a:r>
            <a:endParaRPr lang="en-US" sz="1100" dirty="0"/>
          </a:p>
        </p:txBody>
      </p:sp>
      <p:sp>
        <p:nvSpPr>
          <p:cNvPr id="39" name="Text 37"/>
          <p:cNvSpPr txBox="1"/>
          <p:nvPr/>
        </p:nvSpPr>
        <p:spPr>
          <a:xfrm>
            <a:off x="10049256" y="2066544"/>
            <a:ext cx="1783080" cy="219456"/>
          </a:xfrm>
          <a:prstGeom prst="rect">
            <a:avLst/>
          </a:prstGeom>
          <a:noFill/>
          <a:ln/>
        </p:spPr>
        <p:txBody>
          <a:bodyPr wrap="square" lIns="0" tIns="0" rIns="0" bIns="0" rtlCol="0" anchor="ctr"/>
          <a:lstStyle/>
          <a:p>
            <a:pPr indent="0" marL="0">
              <a:buNone/>
            </a:pPr>
            <a:r>
              <a:rPr lang="en-US" sz="1050" dirty="0">
                <a:solidFill>
                  <a:srgbClr val="6B6880"/>
                </a:solidFill>
                <a:latin typeface="Calibri" pitchFamily="34" charset="0"/>
                <a:ea typeface="Calibri" pitchFamily="34" charset="-122"/>
                <a:cs typeface="Calibri" pitchFamily="34" charset="-120"/>
              </a:rPr>
              <a:t>Sep 22 – 26</a:t>
            </a:r>
            <a:endParaRPr lang="en-US" sz="1050" dirty="0"/>
          </a:p>
        </p:txBody>
      </p:sp>
      <p:sp>
        <p:nvSpPr>
          <p:cNvPr id="40" name="Text 38"/>
          <p:cNvSpPr txBox="1"/>
          <p:nvPr/>
        </p:nvSpPr>
        <p:spPr>
          <a:xfrm>
            <a:off x="9610344" y="2414016"/>
            <a:ext cx="2221992" cy="566928"/>
          </a:xfrm>
          <a:prstGeom prst="rect">
            <a:avLst/>
          </a:prstGeom>
          <a:noFill/>
          <a:ln/>
        </p:spPr>
        <p:txBody>
          <a:bodyPr wrap="square" lIns="0" tIns="0" rIns="0" bIns="0" rtlCol="0" anchor="t"/>
          <a:lstStyle/>
          <a:p>
            <a:pPr indent="0" marL="0">
              <a:buNone/>
            </a:pPr>
            <a:r>
              <a:rPr lang="en-US" sz="1700" b="1" dirty="0">
                <a:solidFill>
                  <a:srgbClr val="1A1633"/>
                </a:solidFill>
                <a:latin typeface="Cambria" pitchFamily="34" charset="0"/>
                <a:ea typeface="Cambria" pitchFamily="34" charset="-122"/>
                <a:cs typeface="Cambria" pitchFamily="34" charset="-120"/>
              </a:rPr>
              <a:t>First image</a:t>
            </a:r>
            <a:endParaRPr lang="en-US" sz="1700" dirty="0"/>
          </a:p>
        </p:txBody>
      </p:sp>
      <p:sp>
        <p:nvSpPr>
          <p:cNvPr id="41" name="Text 39"/>
          <p:cNvSpPr txBox="1"/>
          <p:nvPr/>
        </p:nvSpPr>
        <p:spPr>
          <a:xfrm>
            <a:off x="9610344" y="3017520"/>
            <a:ext cx="2221992" cy="137160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100" dirty="0">
                <a:solidFill>
                  <a:srgbClr val="1A1633"/>
                </a:solidFill>
                <a:latin typeface="Calibri" pitchFamily="34" charset="0"/>
                <a:ea typeface="Calibri" pitchFamily="34" charset="-122"/>
                <a:cs typeface="Calibri" pitchFamily="34" charset="-120"/>
              </a:rPr>
              <a:t>2D raster over a test target</a:t>
            </a:r>
            <a:endParaRPr lang="en-US" sz="1100" dirty="0"/>
          </a:p>
          <a:p>
            <a:pPr marL="342900" indent="-342900">
              <a:lnSpc>
                <a:spcPts val="1400"/>
              </a:lnSpc>
              <a:spcAft>
                <a:spcPts val="600"/>
              </a:spcAft>
              <a:buSzPct val="100000"/>
              <a:buChar char="•"/>
            </a:pPr>
            <a:r>
              <a:rPr lang="en-US" sz="1100" dirty="0">
                <a:solidFill>
                  <a:srgbClr val="1A1633"/>
                </a:solidFill>
                <a:latin typeface="Calibri" pitchFamily="34" charset="0"/>
                <a:ea typeface="Calibri" pitchFamily="34" charset="-122"/>
                <a:cs typeface="Calibri" pitchFamily="34" charset="-120"/>
              </a:rPr>
              <a:t>MAP reconstruction</a:t>
            </a:r>
            <a:endParaRPr lang="en-US" sz="1100" dirty="0"/>
          </a:p>
          <a:p>
            <a:pPr marL="342900" indent="-342900">
              <a:lnSpc>
                <a:spcPts val="1400"/>
              </a:lnSpc>
              <a:spcAft>
                <a:spcPts val="600"/>
              </a:spcAft>
              <a:buSzPct val="100000"/>
              <a:buChar char="•"/>
            </a:pPr>
            <a:r>
              <a:rPr lang="en-US" sz="1100" dirty="0">
                <a:solidFill>
                  <a:srgbClr val="1A1633"/>
                </a:solidFill>
                <a:latin typeface="Calibri" pitchFamily="34" charset="0"/>
                <a:ea typeface="Calibri" pitchFamily="34" charset="-122"/>
                <a:cs typeface="Calibri" pitchFamily="34" charset="-120"/>
              </a:rPr>
              <a:t>Measure achieved resolution</a:t>
            </a:r>
            <a:endParaRPr lang="en-US" sz="1100" dirty="0"/>
          </a:p>
        </p:txBody>
      </p:sp>
      <p:sp>
        <p:nvSpPr>
          <p:cNvPr id="42" name="Shape 40"/>
          <p:cNvSpPr/>
          <p:nvPr/>
        </p:nvSpPr>
        <p:spPr>
          <a:xfrm>
            <a:off x="9610344" y="4389120"/>
            <a:ext cx="2221992" cy="10973"/>
          </a:xfrm>
          <a:prstGeom prst="rect">
            <a:avLst/>
          </a:prstGeom>
          <a:solidFill>
            <a:srgbClr val="D6D3E4"/>
          </a:solidFill>
          <a:ln w="12700">
            <a:solidFill>
              <a:srgbClr val="333333"/>
            </a:solidFill>
            <a:prstDash val="solid"/>
          </a:ln>
        </p:spPr>
      </p:sp>
      <p:sp>
        <p:nvSpPr>
          <p:cNvPr id="43" name="Text 41"/>
          <p:cNvSpPr txBox="1"/>
          <p:nvPr/>
        </p:nvSpPr>
        <p:spPr>
          <a:xfrm>
            <a:off x="9610344" y="4480560"/>
            <a:ext cx="2221992" cy="219456"/>
          </a:xfrm>
          <a:prstGeom prst="rect">
            <a:avLst/>
          </a:prstGeom>
          <a:noFill/>
          <a:ln/>
        </p:spPr>
        <p:txBody>
          <a:bodyPr wrap="square" lIns="0" tIns="0" rIns="0" bIns="0" rtlCol="0" anchor="ctr"/>
          <a:lstStyle/>
          <a:p>
            <a:pPr indent="0" marL="0">
              <a:buNone/>
            </a:pPr>
            <a:r>
              <a:rPr lang="en-US" sz="900" b="1" spc="100" kern="0" dirty="0">
                <a:solidFill>
                  <a:srgbClr val="B33A3A"/>
                </a:solidFill>
                <a:latin typeface="Calibri" pitchFamily="34" charset="0"/>
                <a:ea typeface="Calibri" pitchFamily="34" charset="-122"/>
                <a:cs typeface="Calibri" pitchFamily="34" charset="-120"/>
              </a:rPr>
              <a:t>EXIT CRITERION</a:t>
            </a:r>
            <a:endParaRPr lang="en-US" sz="900" dirty="0"/>
          </a:p>
        </p:txBody>
      </p:sp>
      <p:sp>
        <p:nvSpPr>
          <p:cNvPr id="44" name="Text 42"/>
          <p:cNvSpPr txBox="1"/>
          <p:nvPr/>
        </p:nvSpPr>
        <p:spPr>
          <a:xfrm>
            <a:off x="9610344" y="4700016"/>
            <a:ext cx="2221992" cy="640080"/>
          </a:xfrm>
          <a:prstGeom prst="rect">
            <a:avLst/>
          </a:prstGeom>
          <a:noFill/>
          <a:ln/>
        </p:spPr>
        <p:txBody>
          <a:bodyPr wrap="square" lIns="0" tIns="0" rIns="0" bIns="0" rtlCol="0" anchor="ctr"/>
          <a:lstStyle/>
          <a:p>
            <a:pPr indent="0" marL="0">
              <a:lnSpc>
                <a:spcPts val="1400"/>
              </a:lnSpc>
              <a:buNone/>
            </a:pPr>
            <a:r>
              <a:rPr lang="en-US" sz="1100" i="1" dirty="0">
                <a:solidFill>
                  <a:srgbClr val="1A1633"/>
                </a:solidFill>
                <a:latin typeface="Calibri" pitchFamily="34" charset="0"/>
                <a:ea typeface="Calibri" pitchFamily="34" charset="-122"/>
                <a:cs typeface="Calibri" pitchFamily="34" charset="-120"/>
              </a:rPr>
              <a:t>One 2D MAP image, with a resolution number attached</a:t>
            </a:r>
            <a:endParaRPr lang="en-US" sz="1100" dirty="0"/>
          </a:p>
        </p:txBody>
      </p:sp>
      <p:sp>
        <p:nvSpPr>
          <p:cNvPr id="45" name="Text 43"/>
          <p:cNvSpPr txBox="1"/>
          <p:nvPr/>
        </p:nvSpPr>
        <p:spPr>
          <a:xfrm>
            <a:off x="594360" y="5705856"/>
            <a:ext cx="10972800" cy="329184"/>
          </a:xfrm>
          <a:prstGeom prst="rect">
            <a:avLst/>
          </a:prstGeom>
          <a:noFill/>
          <a:ln/>
        </p:spPr>
        <p:txBody>
          <a:bodyPr wrap="square" lIns="0" tIns="0" rIns="0" bIns="0" rtlCol="0" anchor="ctr"/>
          <a:lstStyle/>
          <a:p>
            <a:pPr indent="0" marL="0">
              <a:buNone/>
            </a:pPr>
            <a:r>
              <a:rPr lang="en-US" sz="1250" i="1" dirty="0">
                <a:solidFill>
                  <a:srgbClr val="4C3FA6"/>
                </a:solidFill>
                <a:latin typeface="Calibri" pitchFamily="34" charset="0"/>
                <a:ea typeface="Calibri" pitchFamily="34" charset="-122"/>
                <a:cs typeface="Calibri" pitchFamily="34" charset="-120"/>
              </a:rPr>
              <a:t>Each week is gated by its exit criterion — I would rather stop and ask than carry an unverified assumption into the next stage.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633"/>
        </a:solidFill>
      </p:bgPr>
    </p:bg>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200" kern="0" dirty="0">
                <a:solidFill>
                  <a:srgbClr val="1F9AAF"/>
                </a:solidFill>
                <a:latin typeface="Calibri" pitchFamily="34" charset="0"/>
                <a:ea typeface="Calibri" pitchFamily="34" charset="-122"/>
                <a:cs typeface="Calibri" pitchFamily="34" charset="-120"/>
              </a:rPr>
              <a:t>DECISION 3</a:t>
            </a:r>
            <a:endParaRPr lang="en-US" sz="1100" dirty="0"/>
          </a:p>
        </p:txBody>
      </p:sp>
      <p:sp>
        <p:nvSpPr>
          <p:cNvPr id="3" name="Text 1"/>
          <p:cNvSpPr txBox="1"/>
          <p:nvPr/>
        </p:nvSpPr>
        <p:spPr>
          <a:xfrm>
            <a:off x="594360" y="640080"/>
            <a:ext cx="10972800" cy="65836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Six settings questions I cannot answer from the bench</a:t>
            </a:r>
            <a:endParaRPr lang="en-US" sz="3000" dirty="0"/>
          </a:p>
        </p:txBody>
      </p:sp>
      <p:sp>
        <p:nvSpPr>
          <p:cNvPr id="4" name="Shape 2"/>
          <p:cNvSpPr/>
          <p:nvPr/>
        </p:nvSpPr>
        <p:spPr>
          <a:xfrm>
            <a:off x="594360" y="1572768"/>
            <a:ext cx="5394960" cy="1298448"/>
          </a:xfrm>
          <a:prstGeom prst="roundRect">
            <a:avLst>
              <a:gd name="adj" fmla="val 4225"/>
            </a:avLst>
          </a:prstGeom>
          <a:solidFill>
            <a:srgbClr val="241F44"/>
          </a:solidFill>
          <a:ln w="12700">
            <a:solidFill>
              <a:srgbClr val="3A3268"/>
            </a:solidFill>
            <a:prstDash val="solid"/>
          </a:ln>
        </p:spPr>
      </p:sp>
      <p:sp>
        <p:nvSpPr>
          <p:cNvPr id="5" name="Shape 3"/>
          <p:cNvSpPr/>
          <p:nvPr/>
        </p:nvSpPr>
        <p:spPr>
          <a:xfrm>
            <a:off x="850392" y="1810512"/>
            <a:ext cx="329184" cy="329184"/>
          </a:xfrm>
          <a:prstGeom prst="ellipse">
            <a:avLst/>
          </a:prstGeom>
          <a:solidFill>
            <a:srgbClr val="D98A1F"/>
          </a:solidFill>
          <a:ln w="12700">
            <a:solidFill>
              <a:srgbClr val="D98A1F"/>
            </a:solidFill>
            <a:prstDash val="solid"/>
          </a:ln>
        </p:spPr>
      </p:sp>
      <p:sp>
        <p:nvSpPr>
          <p:cNvPr id="6" name="Text 4"/>
          <p:cNvSpPr txBox="1"/>
          <p:nvPr/>
        </p:nvSpPr>
        <p:spPr>
          <a:xfrm>
            <a:off x="850392" y="18105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89304" y="1792224"/>
            <a:ext cx="4434840" cy="292608"/>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Acceptance criteria</a:t>
            </a:r>
            <a:endParaRPr lang="en-US" sz="1550" dirty="0"/>
          </a:p>
        </p:txBody>
      </p:sp>
      <p:sp>
        <p:nvSpPr>
          <p:cNvPr id="8" name="Text 6"/>
          <p:cNvSpPr txBox="1"/>
          <p:nvPr/>
        </p:nvSpPr>
        <p:spPr>
          <a:xfrm>
            <a:off x="1289304" y="2139696"/>
            <a:ext cx="4434840" cy="603504"/>
          </a:xfrm>
          <a:prstGeom prst="rect">
            <a:avLst/>
          </a:prstGeom>
          <a:noFill/>
          <a:ln/>
        </p:spPr>
        <p:txBody>
          <a:bodyPr wrap="square" lIns="0" tIns="0" rIns="0" bIns="0" rtlCol="0" anchor="ctr"/>
          <a:lstStyle/>
          <a:p>
            <a:pPr indent="0" marL="0">
              <a:lnSpc>
                <a:spcPts val="1500"/>
              </a:lnSpc>
              <a:buNone/>
            </a:pPr>
            <a:r>
              <a:rPr lang="en-US" sz="1150" dirty="0">
                <a:solidFill>
                  <a:srgbClr val="C6C2DE"/>
                </a:solidFill>
                <a:latin typeface="Calibri" pitchFamily="34" charset="0"/>
                <a:ea typeface="Calibri" pitchFamily="34" charset="-122"/>
                <a:cs typeface="Calibri" pitchFamily="34" charset="-120"/>
              </a:rPr>
              <a:t>Is “reproduced” three axes + galvo moving, or an image comparable to the paper? The two differ by weeks.</a:t>
            </a:r>
            <a:endParaRPr lang="en-US" sz="1150" dirty="0"/>
          </a:p>
        </p:txBody>
      </p:sp>
      <p:sp>
        <p:nvSpPr>
          <p:cNvPr id="9" name="Shape 7"/>
          <p:cNvSpPr/>
          <p:nvPr/>
        </p:nvSpPr>
        <p:spPr>
          <a:xfrm>
            <a:off x="6446520" y="1572768"/>
            <a:ext cx="5394960" cy="1298448"/>
          </a:xfrm>
          <a:prstGeom prst="roundRect">
            <a:avLst>
              <a:gd name="adj" fmla="val 4225"/>
            </a:avLst>
          </a:prstGeom>
          <a:solidFill>
            <a:srgbClr val="241F44"/>
          </a:solidFill>
          <a:ln w="12700">
            <a:solidFill>
              <a:srgbClr val="3A3268"/>
            </a:solidFill>
            <a:prstDash val="solid"/>
          </a:ln>
        </p:spPr>
      </p:sp>
      <p:sp>
        <p:nvSpPr>
          <p:cNvPr id="10" name="Shape 8"/>
          <p:cNvSpPr/>
          <p:nvPr/>
        </p:nvSpPr>
        <p:spPr>
          <a:xfrm>
            <a:off x="6702552" y="1810512"/>
            <a:ext cx="329184" cy="329184"/>
          </a:xfrm>
          <a:prstGeom prst="ellipse">
            <a:avLst/>
          </a:prstGeom>
          <a:solidFill>
            <a:srgbClr val="D98A1F"/>
          </a:solidFill>
          <a:ln w="12700">
            <a:solidFill>
              <a:srgbClr val="D98A1F"/>
            </a:solidFill>
            <a:prstDash val="solid"/>
          </a:ln>
        </p:spPr>
      </p:sp>
      <p:sp>
        <p:nvSpPr>
          <p:cNvPr id="11" name="Text 9"/>
          <p:cNvSpPr txBox="1"/>
          <p:nvPr/>
        </p:nvSpPr>
        <p:spPr>
          <a:xfrm>
            <a:off x="6702552" y="18105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141464" y="1792224"/>
            <a:ext cx="4434840" cy="292608"/>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The 5 µm</a:t>
            </a:r>
            <a:endParaRPr lang="en-US" sz="1550" dirty="0"/>
          </a:p>
        </p:txBody>
      </p:sp>
      <p:sp>
        <p:nvSpPr>
          <p:cNvPr id="13" name="Text 11"/>
          <p:cNvSpPr txBox="1"/>
          <p:nvPr/>
        </p:nvSpPr>
        <p:spPr>
          <a:xfrm>
            <a:off x="7141464" y="2139696"/>
            <a:ext cx="4434840" cy="603504"/>
          </a:xfrm>
          <a:prstGeom prst="rect">
            <a:avLst/>
          </a:prstGeom>
          <a:noFill/>
          <a:ln/>
        </p:spPr>
        <p:txBody>
          <a:bodyPr wrap="square" lIns="0" tIns="0" rIns="0" bIns="0" rtlCol="0" anchor="ctr"/>
          <a:lstStyle/>
          <a:p>
            <a:pPr indent="0" marL="0">
              <a:lnSpc>
                <a:spcPts val="1500"/>
              </a:lnSpc>
              <a:buNone/>
            </a:pPr>
            <a:r>
              <a:rPr lang="en-US" sz="1150" dirty="0">
                <a:solidFill>
                  <a:srgbClr val="C6C2DE"/>
                </a:solidFill>
                <a:latin typeface="Calibri" pitchFamily="34" charset="0"/>
                <a:ea typeface="Calibri" pitchFamily="34" charset="-122"/>
                <a:cs typeface="Calibri" pitchFamily="34" charset="-120"/>
              </a:rPr>
              <a:t>Is that per commanded pulse, or per motor full step? And what should the SR2 microstep table be set to?</a:t>
            </a:r>
            <a:endParaRPr lang="en-US" sz="1150" dirty="0"/>
          </a:p>
        </p:txBody>
      </p:sp>
      <p:sp>
        <p:nvSpPr>
          <p:cNvPr id="14" name="Shape 12"/>
          <p:cNvSpPr/>
          <p:nvPr/>
        </p:nvSpPr>
        <p:spPr>
          <a:xfrm>
            <a:off x="594360" y="3054096"/>
            <a:ext cx="5394960" cy="1298448"/>
          </a:xfrm>
          <a:prstGeom prst="roundRect">
            <a:avLst>
              <a:gd name="adj" fmla="val 4225"/>
            </a:avLst>
          </a:prstGeom>
          <a:solidFill>
            <a:srgbClr val="241F44"/>
          </a:solidFill>
          <a:ln w="12700">
            <a:solidFill>
              <a:srgbClr val="3A3268"/>
            </a:solidFill>
            <a:prstDash val="solid"/>
          </a:ln>
        </p:spPr>
      </p:sp>
      <p:sp>
        <p:nvSpPr>
          <p:cNvPr id="15" name="Shape 13"/>
          <p:cNvSpPr/>
          <p:nvPr/>
        </p:nvSpPr>
        <p:spPr>
          <a:xfrm>
            <a:off x="850392" y="3291840"/>
            <a:ext cx="329184" cy="329184"/>
          </a:xfrm>
          <a:prstGeom prst="ellipse">
            <a:avLst/>
          </a:prstGeom>
          <a:solidFill>
            <a:srgbClr val="D98A1F"/>
          </a:solidFill>
          <a:ln w="12700">
            <a:solidFill>
              <a:srgbClr val="D98A1F"/>
            </a:solidFill>
            <a:prstDash val="solid"/>
          </a:ln>
        </p:spPr>
      </p:sp>
      <p:sp>
        <p:nvSpPr>
          <p:cNvPr id="16" name="Text 14"/>
          <p:cNvSpPr txBox="1"/>
          <p:nvPr/>
        </p:nvSpPr>
        <p:spPr>
          <a:xfrm>
            <a:off x="850392" y="32918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89304" y="3273552"/>
            <a:ext cx="4434840" cy="292608"/>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Pulse generation</a:t>
            </a:r>
            <a:endParaRPr lang="en-US" sz="1550" dirty="0"/>
          </a:p>
        </p:txBody>
      </p:sp>
      <p:sp>
        <p:nvSpPr>
          <p:cNvPr id="18" name="Text 16"/>
          <p:cNvSpPr txBox="1"/>
          <p:nvPr/>
        </p:nvSpPr>
        <p:spPr>
          <a:xfrm>
            <a:off x="1289304" y="3621024"/>
            <a:ext cx="4434840" cy="603504"/>
          </a:xfrm>
          <a:prstGeom prst="rect">
            <a:avLst/>
          </a:prstGeom>
          <a:noFill/>
          <a:ln/>
        </p:spPr>
        <p:txBody>
          <a:bodyPr wrap="square" lIns="0" tIns="0" rIns="0" bIns="0" rtlCol="0" anchor="ctr"/>
          <a:lstStyle/>
          <a:p>
            <a:pPr indent="0" marL="0">
              <a:lnSpc>
                <a:spcPts val="1500"/>
              </a:lnSpc>
              <a:buNone/>
            </a:pPr>
            <a:r>
              <a:rPr lang="en-US" sz="1150" dirty="0">
                <a:solidFill>
                  <a:srgbClr val="C6C2DE"/>
                </a:solidFill>
                <a:latin typeface="Calibri" pitchFamily="34" charset="0"/>
                <a:ea typeface="Calibri" pitchFamily="34" charset="-122"/>
                <a:cs typeface="Calibri" pitchFamily="34" charset="-120"/>
              </a:rPr>
              <a:t>In the current VI, is STEP a software-timed digital write on P0.x, or a hardware counter output?</a:t>
            </a:r>
            <a:endParaRPr lang="en-US" sz="1150" dirty="0"/>
          </a:p>
        </p:txBody>
      </p:sp>
      <p:sp>
        <p:nvSpPr>
          <p:cNvPr id="19" name="Shape 17"/>
          <p:cNvSpPr/>
          <p:nvPr/>
        </p:nvSpPr>
        <p:spPr>
          <a:xfrm>
            <a:off x="6446520" y="3054096"/>
            <a:ext cx="5394960" cy="1298448"/>
          </a:xfrm>
          <a:prstGeom prst="roundRect">
            <a:avLst>
              <a:gd name="adj" fmla="val 4225"/>
            </a:avLst>
          </a:prstGeom>
          <a:solidFill>
            <a:srgbClr val="241F44"/>
          </a:solidFill>
          <a:ln w="12700">
            <a:solidFill>
              <a:srgbClr val="3A3268"/>
            </a:solidFill>
            <a:prstDash val="solid"/>
          </a:ln>
        </p:spPr>
      </p:sp>
      <p:sp>
        <p:nvSpPr>
          <p:cNvPr id="20" name="Shape 18"/>
          <p:cNvSpPr/>
          <p:nvPr/>
        </p:nvSpPr>
        <p:spPr>
          <a:xfrm>
            <a:off x="6702552" y="3291840"/>
            <a:ext cx="329184" cy="329184"/>
          </a:xfrm>
          <a:prstGeom prst="ellipse">
            <a:avLst/>
          </a:prstGeom>
          <a:solidFill>
            <a:srgbClr val="4C3FA6"/>
          </a:solidFill>
          <a:ln w="12700">
            <a:solidFill>
              <a:srgbClr val="4C3FA6"/>
            </a:solidFill>
            <a:prstDash val="solid"/>
          </a:ln>
        </p:spPr>
      </p:sp>
      <p:sp>
        <p:nvSpPr>
          <p:cNvPr id="21" name="Text 19"/>
          <p:cNvSpPr txBox="1"/>
          <p:nvPr/>
        </p:nvSpPr>
        <p:spPr>
          <a:xfrm>
            <a:off x="6702552" y="32918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141464" y="3273552"/>
            <a:ext cx="4434840" cy="292608"/>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Step box vs. k</a:t>
            </a:r>
            <a:endParaRPr lang="en-US" sz="1550" dirty="0"/>
          </a:p>
        </p:txBody>
      </p:sp>
      <p:sp>
        <p:nvSpPr>
          <p:cNvPr id="23" name="Text 21"/>
          <p:cNvSpPr txBox="1"/>
          <p:nvPr/>
        </p:nvSpPr>
        <p:spPr>
          <a:xfrm>
            <a:off x="7141464" y="3621024"/>
            <a:ext cx="4434840" cy="603504"/>
          </a:xfrm>
          <a:prstGeom prst="rect">
            <a:avLst/>
          </a:prstGeom>
          <a:noFill/>
          <a:ln/>
        </p:spPr>
        <p:txBody>
          <a:bodyPr wrap="square" lIns="0" tIns="0" rIns="0" bIns="0" rtlCol="0" anchor="ctr"/>
          <a:lstStyle/>
          <a:p>
            <a:pPr indent="0" marL="0">
              <a:lnSpc>
                <a:spcPts val="1500"/>
              </a:lnSpc>
              <a:buNone/>
            </a:pPr>
            <a:r>
              <a:rPr lang="en-US" sz="1150" dirty="0">
                <a:solidFill>
                  <a:srgbClr val="C6C2DE"/>
                </a:solidFill>
                <a:latin typeface="Calibri" pitchFamily="34" charset="0"/>
                <a:ea typeface="Calibri" pitchFamily="34" charset="-122"/>
                <a:cs typeface="Calibri" pitchFamily="34" charset="-120"/>
              </a:rPr>
              <a:t>Is the Move X/Y/Z number raw pulses, or already scaled by kx / ky / kz?</a:t>
            </a:r>
            <a:endParaRPr lang="en-US" sz="1150" dirty="0"/>
          </a:p>
        </p:txBody>
      </p:sp>
      <p:sp>
        <p:nvSpPr>
          <p:cNvPr id="24" name="Shape 22"/>
          <p:cNvSpPr/>
          <p:nvPr/>
        </p:nvSpPr>
        <p:spPr>
          <a:xfrm>
            <a:off x="594360" y="4535424"/>
            <a:ext cx="5394960" cy="1298448"/>
          </a:xfrm>
          <a:prstGeom prst="roundRect">
            <a:avLst>
              <a:gd name="adj" fmla="val 4225"/>
            </a:avLst>
          </a:prstGeom>
          <a:solidFill>
            <a:srgbClr val="241F44"/>
          </a:solidFill>
          <a:ln w="12700">
            <a:solidFill>
              <a:srgbClr val="3A3268"/>
            </a:solidFill>
            <a:prstDash val="solid"/>
          </a:ln>
        </p:spPr>
      </p:sp>
      <p:sp>
        <p:nvSpPr>
          <p:cNvPr id="25" name="Shape 23"/>
          <p:cNvSpPr/>
          <p:nvPr/>
        </p:nvSpPr>
        <p:spPr>
          <a:xfrm>
            <a:off x="850392" y="4773168"/>
            <a:ext cx="329184" cy="329184"/>
          </a:xfrm>
          <a:prstGeom prst="ellipse">
            <a:avLst/>
          </a:prstGeom>
          <a:solidFill>
            <a:srgbClr val="4C3FA6"/>
          </a:solidFill>
          <a:ln w="12700">
            <a:solidFill>
              <a:srgbClr val="4C3FA6"/>
            </a:solidFill>
            <a:prstDash val="solid"/>
          </a:ln>
        </p:spPr>
      </p:sp>
      <p:sp>
        <p:nvSpPr>
          <p:cNvPr id="26" name="Text 24"/>
          <p:cNvSpPr txBox="1"/>
          <p:nvPr/>
        </p:nvSpPr>
        <p:spPr>
          <a:xfrm>
            <a:off x="850392" y="47731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289304" y="4754880"/>
            <a:ext cx="4434840" cy="292608"/>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Slow-axis speed</a:t>
            </a:r>
            <a:endParaRPr lang="en-US" sz="1550" dirty="0"/>
          </a:p>
        </p:txBody>
      </p:sp>
      <p:sp>
        <p:nvSpPr>
          <p:cNvPr id="28" name="Text 26"/>
          <p:cNvSpPr txBox="1"/>
          <p:nvPr/>
        </p:nvSpPr>
        <p:spPr>
          <a:xfrm>
            <a:off x="1289304" y="5102352"/>
            <a:ext cx="4434840" cy="603504"/>
          </a:xfrm>
          <a:prstGeom prst="rect">
            <a:avLst/>
          </a:prstGeom>
          <a:noFill/>
          <a:ln/>
        </p:spPr>
        <p:txBody>
          <a:bodyPr wrap="square" lIns="0" tIns="0" rIns="0" bIns="0" rtlCol="0" anchor="ctr"/>
          <a:lstStyle/>
          <a:p>
            <a:pPr indent="0" marL="0">
              <a:lnSpc>
                <a:spcPts val="1500"/>
              </a:lnSpc>
              <a:buNone/>
            </a:pPr>
            <a:r>
              <a:rPr lang="en-US" sz="1150" dirty="0">
                <a:solidFill>
                  <a:srgbClr val="C6C2DE"/>
                </a:solidFill>
                <a:latin typeface="Calibri" pitchFamily="34" charset="0"/>
                <a:ea typeface="Calibri" pitchFamily="34" charset="-122"/>
                <a:cs typeface="Calibri" pitchFamily="34" charset="-120"/>
              </a:rPr>
              <a:t>The paper runs 10 mm/s. At 1 kHz × 5 µm we get 5 mm/s. Do we need to raise the pulse rate?</a:t>
            </a:r>
            <a:endParaRPr lang="en-US" sz="1150" dirty="0"/>
          </a:p>
        </p:txBody>
      </p:sp>
      <p:sp>
        <p:nvSpPr>
          <p:cNvPr id="29" name="Shape 27"/>
          <p:cNvSpPr/>
          <p:nvPr/>
        </p:nvSpPr>
        <p:spPr>
          <a:xfrm>
            <a:off x="6446520" y="4535424"/>
            <a:ext cx="5394960" cy="1298448"/>
          </a:xfrm>
          <a:prstGeom prst="roundRect">
            <a:avLst>
              <a:gd name="adj" fmla="val 4225"/>
            </a:avLst>
          </a:prstGeom>
          <a:solidFill>
            <a:srgbClr val="241F44"/>
          </a:solidFill>
          <a:ln w="12700">
            <a:solidFill>
              <a:srgbClr val="3A3268"/>
            </a:solidFill>
            <a:prstDash val="solid"/>
          </a:ln>
        </p:spPr>
      </p:sp>
      <p:sp>
        <p:nvSpPr>
          <p:cNvPr id="30" name="Shape 28"/>
          <p:cNvSpPr/>
          <p:nvPr/>
        </p:nvSpPr>
        <p:spPr>
          <a:xfrm>
            <a:off x="6702552" y="4773168"/>
            <a:ext cx="329184" cy="329184"/>
          </a:xfrm>
          <a:prstGeom prst="ellipse">
            <a:avLst/>
          </a:prstGeom>
          <a:solidFill>
            <a:srgbClr val="4C3FA6"/>
          </a:solidFill>
          <a:ln w="12700">
            <a:solidFill>
              <a:srgbClr val="4C3FA6"/>
            </a:solidFill>
            <a:prstDash val="solid"/>
          </a:ln>
        </p:spPr>
      </p:sp>
      <p:sp>
        <p:nvSpPr>
          <p:cNvPr id="31" name="Text 29"/>
          <p:cNvSpPr txBox="1"/>
          <p:nvPr/>
        </p:nvSpPr>
        <p:spPr>
          <a:xfrm>
            <a:off x="6702552" y="47731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7141464" y="4754880"/>
            <a:ext cx="4434840" cy="292608"/>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Digitizer</a:t>
            </a:r>
            <a:endParaRPr lang="en-US" sz="1550" dirty="0"/>
          </a:p>
        </p:txBody>
      </p:sp>
      <p:sp>
        <p:nvSpPr>
          <p:cNvPr id="33" name="Text 31"/>
          <p:cNvSpPr txBox="1"/>
          <p:nvPr/>
        </p:nvSpPr>
        <p:spPr>
          <a:xfrm>
            <a:off x="7141464" y="5102352"/>
            <a:ext cx="4434840" cy="603504"/>
          </a:xfrm>
          <a:prstGeom prst="rect">
            <a:avLst/>
          </a:prstGeom>
          <a:noFill/>
          <a:ln/>
        </p:spPr>
        <p:txBody>
          <a:bodyPr wrap="square" lIns="0" tIns="0" rIns="0" bIns="0" rtlCol="0" anchor="ctr"/>
          <a:lstStyle/>
          <a:p>
            <a:pPr indent="0" marL="0">
              <a:lnSpc>
                <a:spcPts val="1500"/>
              </a:lnSpc>
              <a:buNone/>
            </a:pPr>
            <a:r>
              <a:rPr lang="en-US" sz="1150" dirty="0">
                <a:solidFill>
                  <a:srgbClr val="C6C2DE"/>
                </a:solidFill>
                <a:latin typeface="Calibri" pitchFamily="34" charset="0"/>
                <a:ea typeface="Calibri" pitchFamily="34" charset="-122"/>
                <a:cs typeface="Calibri" pitchFamily="34" charset="-120"/>
              </a:rPr>
              <a:t>The paper uses an AlazarTech ATS9350 at 500 MS/s — is ours the same card?</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200" kern="0" dirty="0">
                <a:solidFill>
                  <a:srgbClr val="4C3FA6"/>
                </a:solidFill>
                <a:latin typeface="Calibri" pitchFamily="34" charset="0"/>
                <a:ea typeface="Calibri" pitchFamily="34" charset="-122"/>
                <a:cs typeface="Calibri" pitchFamily="34" charset="-120"/>
              </a:rPr>
              <a:t>APPENDIX</a:t>
            </a:r>
            <a:endParaRPr lang="en-US" sz="1100" dirty="0"/>
          </a:p>
        </p:txBody>
      </p:sp>
      <p:sp>
        <p:nvSpPr>
          <p:cNvPr id="3" name="Text 1"/>
          <p:cNvSpPr txBox="1"/>
          <p:nvPr/>
        </p:nvSpPr>
        <p:spPr>
          <a:xfrm>
            <a:off x="594360" y="640080"/>
            <a:ext cx="10972800" cy="658368"/>
          </a:xfrm>
          <a:prstGeom prst="rect">
            <a:avLst/>
          </a:prstGeom>
          <a:noFill/>
          <a:ln/>
        </p:spPr>
        <p:txBody>
          <a:bodyPr wrap="square" lIns="0" tIns="0" rIns="0" bIns="0" rtlCol="0" anchor="t"/>
          <a:lstStyle/>
          <a:p>
            <a:pPr indent="0" marL="0">
              <a:buNone/>
            </a:pPr>
            <a:r>
              <a:rPr lang="en-US" sz="3000" b="1" dirty="0">
                <a:solidFill>
                  <a:srgbClr val="1A1633"/>
                </a:solidFill>
                <a:latin typeface="Cambria" pitchFamily="34" charset="0"/>
                <a:ea typeface="Cambria" pitchFamily="34" charset="-122"/>
                <a:cs typeface="Cambria" pitchFamily="34" charset="-120"/>
              </a:rPr>
              <a:t>Equipment available for Path A</a:t>
            </a:r>
            <a:endParaRPr lang="en-US" sz="3000" dirty="0"/>
          </a:p>
        </p:txBody>
      </p:sp>
      <p:pic>
        <p:nvPicPr>
          <p:cNvPr id="4" name="Image 0" descr="/home/claude/deck/img/optical_table.jpg">    </p:cNvPr>
          <p:cNvPicPr>
            <a:picLocks noChangeAspect="1"/>
          </p:cNvPicPr>
          <p:nvPr/>
        </p:nvPicPr>
        <p:blipFill>
          <a:blip r:embed="rId1"/>
          <a:srcRect l="0" r="0" t="0" b="0"/>
          <a:stretch/>
        </p:blipFill>
        <p:spPr>
          <a:xfrm>
            <a:off x="594360" y="1572768"/>
            <a:ext cx="3246120" cy="3200400"/>
          </a:xfrm>
          <a:prstGeom prst="rect">
            <a:avLst/>
          </a:prstGeom>
        </p:spPr>
      </p:pic>
      <p:pic>
        <p:nvPicPr>
          <p:cNvPr id="5" name="Image 1" descr="/home/claude/deck/img/scope_and_funcgen.jpg">    </p:cNvPr>
          <p:cNvPicPr>
            <a:picLocks noChangeAspect="1"/>
          </p:cNvPicPr>
          <p:nvPr/>
        </p:nvPicPr>
        <p:blipFill>
          <a:blip r:embed="rId2"/>
          <a:srcRect l="0" r="0" t="0" b="0"/>
          <a:stretch/>
        </p:blipFill>
        <p:spPr>
          <a:xfrm>
            <a:off x="4114800" y="1572768"/>
            <a:ext cx="3246120" cy="3200400"/>
          </a:xfrm>
          <a:prstGeom prst="rect">
            <a:avLst/>
          </a:prstGeom>
        </p:spPr>
      </p:pic>
      <p:pic>
        <p:nvPicPr>
          <p:cNvPr id="6" name="Image 2" descr="/home/claude/deck/img/dg852pro.jpg">    </p:cNvPr>
          <p:cNvPicPr>
            <a:picLocks noChangeAspect="1"/>
          </p:cNvPicPr>
          <p:nvPr/>
        </p:nvPicPr>
        <p:blipFill>
          <a:blip r:embed="rId3"/>
          <a:srcRect l="0" r="0" t="0" b="0"/>
          <a:stretch/>
        </p:blipFill>
        <p:spPr>
          <a:xfrm>
            <a:off x="7635240" y="1572768"/>
            <a:ext cx="3246120" cy="3200400"/>
          </a:xfrm>
          <a:prstGeom prst="rect">
            <a:avLst/>
          </a:prstGeom>
        </p:spPr>
      </p:pic>
      <p:sp>
        <p:nvSpPr>
          <p:cNvPr id="7" name="Text 2"/>
          <p:cNvSpPr txBox="1"/>
          <p:nvPr/>
        </p:nvSpPr>
        <p:spPr>
          <a:xfrm>
            <a:off x="594360" y="4864608"/>
            <a:ext cx="3246120" cy="274320"/>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Optical table</a:t>
            </a:r>
            <a:endParaRPr lang="en-US" sz="1250" dirty="0"/>
          </a:p>
        </p:txBody>
      </p:sp>
      <p:sp>
        <p:nvSpPr>
          <p:cNvPr id="8" name="Text 3"/>
          <p:cNvSpPr txBox="1"/>
          <p:nvPr/>
        </p:nvSpPr>
        <p:spPr>
          <a:xfrm>
            <a:off x="594360" y="5138928"/>
            <a:ext cx="3246120" cy="640080"/>
          </a:xfrm>
          <a:prstGeom prst="rect">
            <a:avLst/>
          </a:prstGeom>
          <a:noFill/>
          <a:ln/>
        </p:spPr>
        <p:txBody>
          <a:bodyPr wrap="square" lIns="0" tIns="0" rIns="0" bIns="0" rtlCol="0" anchor="ctr"/>
          <a:lstStyle/>
          <a:p>
            <a:pPr indent="0" marL="0">
              <a:lnSpc>
                <a:spcPts val="1400"/>
              </a:lnSpc>
              <a:buNone/>
            </a:pPr>
            <a:r>
              <a:rPr lang="en-US" sz="1100" dirty="0">
                <a:solidFill>
                  <a:srgbClr val="6B6880"/>
                </a:solidFill>
                <a:latin typeface="Calibri" pitchFamily="34" charset="0"/>
                <a:ea typeface="Calibri" pitchFamily="34" charset="-122"/>
                <a:cs typeface="Calibri" pitchFamily="34" charset="-120"/>
              </a:rPr>
              <a:t>266 nm source, mounts, and the Rigol scope already in position</a:t>
            </a:r>
            <a:endParaRPr lang="en-US" sz="1100" dirty="0"/>
          </a:p>
        </p:txBody>
      </p:sp>
      <p:sp>
        <p:nvSpPr>
          <p:cNvPr id="9" name="Text 4"/>
          <p:cNvSpPr txBox="1"/>
          <p:nvPr/>
        </p:nvSpPr>
        <p:spPr>
          <a:xfrm>
            <a:off x="4114800" y="4864608"/>
            <a:ext cx="3246120" cy="274320"/>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Scope + generator, wired</a:t>
            </a:r>
            <a:endParaRPr lang="en-US" sz="1250" dirty="0"/>
          </a:p>
        </p:txBody>
      </p:sp>
      <p:sp>
        <p:nvSpPr>
          <p:cNvPr id="10" name="Text 5"/>
          <p:cNvSpPr txBox="1"/>
          <p:nvPr/>
        </p:nvSpPr>
        <p:spPr>
          <a:xfrm>
            <a:off x="4114800" y="5138928"/>
            <a:ext cx="3246120" cy="640080"/>
          </a:xfrm>
          <a:prstGeom prst="rect">
            <a:avLst/>
          </a:prstGeom>
          <a:noFill/>
          <a:ln/>
        </p:spPr>
        <p:txBody>
          <a:bodyPr wrap="square" lIns="0" tIns="0" rIns="0" bIns="0" rtlCol="0" anchor="ctr"/>
          <a:lstStyle/>
          <a:p>
            <a:pPr indent="0" marL="0">
              <a:lnSpc>
                <a:spcPts val="1400"/>
              </a:lnSpc>
              <a:buNone/>
            </a:pPr>
            <a:r>
              <a:rPr lang="en-US" sz="1100" dirty="0">
                <a:solidFill>
                  <a:srgbClr val="6B6880"/>
                </a:solidFill>
                <a:latin typeface="Calibri" pitchFamily="34" charset="0"/>
                <a:ea typeface="Calibri" pitchFamily="34" charset="-122"/>
                <a:cs typeface="Calibri" pitchFamily="34" charset="-120"/>
              </a:rPr>
              <a:t>Rigol DS1000Z-series scope (4-ch) beside the DG852 Pro — model to be confirmed on the bench</a:t>
            </a:r>
            <a:endParaRPr lang="en-US" sz="1100" dirty="0"/>
          </a:p>
        </p:txBody>
      </p:sp>
      <p:sp>
        <p:nvSpPr>
          <p:cNvPr id="11" name="Text 6"/>
          <p:cNvSpPr txBox="1"/>
          <p:nvPr/>
        </p:nvSpPr>
        <p:spPr>
          <a:xfrm>
            <a:off x="7635240" y="4864608"/>
            <a:ext cx="3246120" cy="274320"/>
          </a:xfrm>
          <a:prstGeom prst="rect">
            <a:avLst/>
          </a:prstGeom>
          <a:noFill/>
          <a:ln/>
        </p:spPr>
        <p:txBody>
          <a:bodyPr wrap="square" lIns="0" tIns="0" rIns="0" bIns="0" rtlCol="0" anchor="ctr"/>
          <a:lstStyle/>
          <a:p>
            <a:pPr indent="0" marL="0">
              <a:buNone/>
            </a:pPr>
            <a:r>
              <a:rPr lang="en-US" sz="1250" b="1" dirty="0">
                <a:solidFill>
                  <a:srgbClr val="1A1633"/>
                </a:solidFill>
                <a:latin typeface="Calibri" pitchFamily="34" charset="0"/>
                <a:ea typeface="Calibri" pitchFamily="34" charset="-122"/>
                <a:cs typeface="Calibri" pitchFamily="34" charset="-120"/>
              </a:rPr>
              <a:t>Rigol DG852 Pro</a:t>
            </a:r>
            <a:endParaRPr lang="en-US" sz="1250" dirty="0"/>
          </a:p>
        </p:txBody>
      </p:sp>
      <p:sp>
        <p:nvSpPr>
          <p:cNvPr id="12" name="Text 7"/>
          <p:cNvSpPr txBox="1"/>
          <p:nvPr/>
        </p:nvSpPr>
        <p:spPr>
          <a:xfrm>
            <a:off x="7635240" y="5138928"/>
            <a:ext cx="3246120" cy="640080"/>
          </a:xfrm>
          <a:prstGeom prst="rect">
            <a:avLst/>
          </a:prstGeom>
          <a:noFill/>
          <a:ln/>
        </p:spPr>
        <p:txBody>
          <a:bodyPr wrap="square" lIns="0" tIns="0" rIns="0" bIns="0" rtlCol="0" anchor="ctr"/>
          <a:lstStyle/>
          <a:p>
            <a:pPr indent="0" marL="0">
              <a:lnSpc>
                <a:spcPts val="1400"/>
              </a:lnSpc>
              <a:buNone/>
            </a:pPr>
            <a:r>
              <a:rPr lang="en-US" sz="1100" dirty="0">
                <a:solidFill>
                  <a:srgbClr val="6B6880"/>
                </a:solidFill>
                <a:latin typeface="Calibri" pitchFamily="34" charset="0"/>
                <a:ea typeface="Calibri" pitchFamily="34" charset="-122"/>
                <a:cs typeface="Calibri" pitchFamily="34" charset="-120"/>
              </a:rPr>
              <a:t>50 MHz · 625 MS/s · 16-bit · 2-ch, with N-cycle burst and a built-in counter</a:t>
            </a:r>
            <a:endParaRPr lang="en-US" sz="1100" dirty="0"/>
          </a:p>
        </p:txBody>
      </p:sp>
      <p:sp>
        <p:nvSpPr>
          <p:cNvPr id="13" name="Text 8"/>
          <p:cNvSpPr txBox="1"/>
          <p:nvPr/>
        </p:nvSpPr>
        <p:spPr>
          <a:xfrm>
            <a:off x="594360" y="5925312"/>
            <a:ext cx="10972800" cy="365760"/>
          </a:xfrm>
          <a:prstGeom prst="rect">
            <a:avLst/>
          </a:prstGeom>
          <a:noFill/>
          <a:ln/>
        </p:spPr>
        <p:txBody>
          <a:bodyPr wrap="square" lIns="0" tIns="0" rIns="0" bIns="0" rtlCol="0" anchor="ctr"/>
          <a:lstStyle/>
          <a:p>
            <a:pPr indent="0" marL="0">
              <a:buNone/>
            </a:pPr>
            <a:r>
              <a:rPr lang="en-US" sz="1200" i="1" dirty="0">
                <a:solidFill>
                  <a:srgbClr val="4C3FA6"/>
                </a:solidFill>
                <a:latin typeface="Calibri" pitchFamily="34" charset="0"/>
                <a:ea typeface="Calibri" pitchFamily="34" charset="-122"/>
                <a:cs typeface="Calibri" pitchFamily="34" charset="-120"/>
              </a:rPr>
              <a:t>The DG852 Pro’s N-cycle burst mode is what makes Path A clean: it can emit exactly N pulses at a set frequency, so LabVIEW can be taken out of the loop entirely and the drive tested on its own.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200" kern="0" dirty="0">
                <a:solidFill>
                  <a:srgbClr val="4C3FA6"/>
                </a:solidFill>
                <a:latin typeface="Calibri" pitchFamily="34" charset="0"/>
                <a:ea typeface="Calibri" pitchFamily="34" charset="-122"/>
                <a:cs typeface="Calibri" pitchFamily="34" charset="-120"/>
              </a:rPr>
              <a:t>APPENDIX</a:t>
            </a:r>
            <a:endParaRPr lang="en-US" sz="1100" dirty="0"/>
          </a:p>
        </p:txBody>
      </p:sp>
      <p:sp>
        <p:nvSpPr>
          <p:cNvPr id="3" name="Text 1"/>
          <p:cNvSpPr txBox="1"/>
          <p:nvPr/>
        </p:nvSpPr>
        <p:spPr>
          <a:xfrm>
            <a:off x="594360" y="640080"/>
            <a:ext cx="10972800" cy="658368"/>
          </a:xfrm>
          <a:prstGeom prst="rect">
            <a:avLst/>
          </a:prstGeom>
          <a:noFill/>
          <a:ln/>
        </p:spPr>
        <p:txBody>
          <a:bodyPr wrap="square" lIns="0" tIns="0" rIns="0" bIns="0" rtlCol="0" anchor="t"/>
          <a:lstStyle/>
          <a:p>
            <a:pPr indent="0" marL="0">
              <a:buNone/>
            </a:pPr>
            <a:r>
              <a:rPr lang="en-US" sz="3000" b="1" dirty="0">
                <a:solidFill>
                  <a:srgbClr val="1A1633"/>
                </a:solidFill>
                <a:latin typeface="Cambria" pitchFamily="34" charset="0"/>
                <a:ea typeface="Cambria" pitchFamily="34" charset="-122"/>
                <a:cs typeface="Cambria" pitchFamily="34" charset="-120"/>
              </a:rPr>
              <a:t>Panel state, safety protocol, references</a:t>
            </a:r>
            <a:endParaRPr lang="en-US" sz="3000" dirty="0"/>
          </a:p>
        </p:txBody>
      </p:sp>
      <p:sp>
        <p:nvSpPr>
          <p:cNvPr id="4" name="Shape 2"/>
          <p:cNvSpPr/>
          <p:nvPr/>
        </p:nvSpPr>
        <p:spPr>
          <a:xfrm>
            <a:off x="594360" y="1572768"/>
            <a:ext cx="5394960" cy="2148840"/>
          </a:xfrm>
          <a:prstGeom prst="roundRect">
            <a:avLst>
              <a:gd name="adj" fmla="val 2553"/>
            </a:avLst>
          </a:prstGeom>
          <a:solidFill>
            <a:srgbClr val="F2F1F7"/>
          </a:solidFill>
          <a:ln w="12700">
            <a:solidFill>
              <a:srgbClr val="F2F1F7"/>
            </a:solidFill>
            <a:prstDash val="solid"/>
          </a:ln>
        </p:spPr>
      </p:sp>
      <p:sp>
        <p:nvSpPr>
          <p:cNvPr id="5" name="Text 3"/>
          <p:cNvSpPr txBox="1"/>
          <p:nvPr/>
        </p:nvSpPr>
        <p:spPr>
          <a:xfrm>
            <a:off x="850392" y="1755648"/>
            <a:ext cx="4846320" cy="292608"/>
          </a:xfrm>
          <a:prstGeom prst="rect">
            <a:avLst/>
          </a:prstGeom>
          <a:noFill/>
          <a:ln/>
        </p:spPr>
        <p:txBody>
          <a:bodyPr wrap="square" lIns="0" tIns="0" rIns="0" bIns="0" rtlCol="0" anchor="ctr"/>
          <a:lstStyle/>
          <a:p>
            <a:pPr indent="0" marL="0">
              <a:buNone/>
            </a:pPr>
            <a:r>
              <a:rPr lang="en-US" sz="1600" b="1" dirty="0">
                <a:solidFill>
                  <a:srgbClr val="1A1633"/>
                </a:solidFill>
                <a:latin typeface="Cambria" pitchFamily="34" charset="0"/>
                <a:ea typeface="Cambria" pitchFamily="34" charset="-122"/>
                <a:cs typeface="Cambria" pitchFamily="34" charset="-120"/>
              </a:rPr>
              <a:t>LabVIEW front panel — as found</a:t>
            </a:r>
            <a:endParaRPr lang="en-US" sz="1600" dirty="0"/>
          </a:p>
        </p:txBody>
      </p:sp>
      <p:sp>
        <p:nvSpPr>
          <p:cNvPr id="6" name="Text 4"/>
          <p:cNvSpPr txBox="1"/>
          <p:nvPr/>
        </p:nvSpPr>
        <p:spPr>
          <a:xfrm>
            <a:off x="850392" y="2121408"/>
            <a:ext cx="1737360" cy="237744"/>
          </a:xfrm>
          <a:prstGeom prst="rect">
            <a:avLst/>
          </a:prstGeom>
          <a:noFill/>
          <a:ln/>
        </p:spPr>
        <p:txBody>
          <a:bodyPr wrap="square" lIns="0" tIns="0" rIns="0" bIns="0" rtlCol="0" anchor="ctr"/>
          <a:lstStyle/>
          <a:p>
            <a:pPr indent="0" marL="0">
              <a:buNone/>
            </a:pPr>
            <a:r>
              <a:rPr lang="en-US" sz="1150" b="1" dirty="0">
                <a:solidFill>
                  <a:srgbClr val="4C3FA6"/>
                </a:solidFill>
                <a:latin typeface="Calibri" pitchFamily="34" charset="0"/>
                <a:ea typeface="Calibri" pitchFamily="34" charset="-122"/>
                <a:cs typeface="Calibri" pitchFamily="34" charset="-120"/>
              </a:rPr>
              <a:t>Move X</a:t>
            </a:r>
            <a:endParaRPr lang="en-US" sz="1150" dirty="0"/>
          </a:p>
        </p:txBody>
      </p:sp>
      <p:sp>
        <p:nvSpPr>
          <p:cNvPr id="7" name="Text 5"/>
          <p:cNvSpPr txBox="1"/>
          <p:nvPr/>
        </p:nvSpPr>
        <p:spPr>
          <a:xfrm>
            <a:off x="2624328" y="2121408"/>
            <a:ext cx="3108960" cy="237744"/>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8000  ·  IN  ·  kx = 0.25</a:t>
            </a:r>
            <a:endParaRPr lang="en-US" sz="1150" dirty="0"/>
          </a:p>
        </p:txBody>
      </p:sp>
      <p:sp>
        <p:nvSpPr>
          <p:cNvPr id="8" name="Text 6"/>
          <p:cNvSpPr txBox="1"/>
          <p:nvPr/>
        </p:nvSpPr>
        <p:spPr>
          <a:xfrm>
            <a:off x="850392" y="2377440"/>
            <a:ext cx="1737360" cy="237744"/>
          </a:xfrm>
          <a:prstGeom prst="rect">
            <a:avLst/>
          </a:prstGeom>
          <a:noFill/>
          <a:ln/>
        </p:spPr>
        <p:txBody>
          <a:bodyPr wrap="square" lIns="0" tIns="0" rIns="0" bIns="0" rtlCol="0" anchor="ctr"/>
          <a:lstStyle/>
          <a:p>
            <a:pPr indent="0" marL="0">
              <a:buNone/>
            </a:pPr>
            <a:r>
              <a:rPr lang="en-US" sz="1150" b="1" dirty="0">
                <a:solidFill>
                  <a:srgbClr val="4C3FA6"/>
                </a:solidFill>
                <a:latin typeface="Calibri" pitchFamily="34" charset="0"/>
                <a:ea typeface="Calibri" pitchFamily="34" charset="-122"/>
                <a:cs typeface="Calibri" pitchFamily="34" charset="-120"/>
              </a:rPr>
              <a:t>Move Y</a:t>
            </a:r>
            <a:endParaRPr lang="en-US" sz="1150" dirty="0"/>
          </a:p>
        </p:txBody>
      </p:sp>
      <p:sp>
        <p:nvSpPr>
          <p:cNvPr id="9" name="Text 7"/>
          <p:cNvSpPr txBox="1"/>
          <p:nvPr/>
        </p:nvSpPr>
        <p:spPr>
          <a:xfrm>
            <a:off x="2624328" y="2377440"/>
            <a:ext cx="3108960" cy="237744"/>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200  ·  RIGHT  ·  ky = 0.9</a:t>
            </a:r>
            <a:endParaRPr lang="en-US" sz="1150" dirty="0"/>
          </a:p>
        </p:txBody>
      </p:sp>
      <p:sp>
        <p:nvSpPr>
          <p:cNvPr id="10" name="Text 8"/>
          <p:cNvSpPr txBox="1"/>
          <p:nvPr/>
        </p:nvSpPr>
        <p:spPr>
          <a:xfrm>
            <a:off x="850392" y="2633472"/>
            <a:ext cx="1737360" cy="237744"/>
          </a:xfrm>
          <a:prstGeom prst="rect">
            <a:avLst/>
          </a:prstGeom>
          <a:noFill/>
          <a:ln/>
        </p:spPr>
        <p:txBody>
          <a:bodyPr wrap="square" lIns="0" tIns="0" rIns="0" bIns="0" rtlCol="0" anchor="ctr"/>
          <a:lstStyle/>
          <a:p>
            <a:pPr indent="0" marL="0">
              <a:buNone/>
            </a:pPr>
            <a:r>
              <a:rPr lang="en-US" sz="1150" b="1" dirty="0">
                <a:solidFill>
                  <a:srgbClr val="4C3FA6"/>
                </a:solidFill>
                <a:latin typeface="Calibri" pitchFamily="34" charset="0"/>
                <a:ea typeface="Calibri" pitchFamily="34" charset="-122"/>
                <a:cs typeface="Calibri" pitchFamily="34" charset="-120"/>
              </a:rPr>
              <a:t>Move Z</a:t>
            </a:r>
            <a:endParaRPr lang="en-US" sz="1150" dirty="0"/>
          </a:p>
        </p:txBody>
      </p:sp>
      <p:sp>
        <p:nvSpPr>
          <p:cNvPr id="11" name="Text 9"/>
          <p:cNvSpPr txBox="1"/>
          <p:nvPr/>
        </p:nvSpPr>
        <p:spPr>
          <a:xfrm>
            <a:off x="2624328" y="2633472"/>
            <a:ext cx="3108960" cy="237744"/>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320  ·  UP  ·  kz = 0.25</a:t>
            </a:r>
            <a:endParaRPr lang="en-US" sz="1150" dirty="0"/>
          </a:p>
        </p:txBody>
      </p:sp>
      <p:sp>
        <p:nvSpPr>
          <p:cNvPr id="12" name="Text 10"/>
          <p:cNvSpPr txBox="1"/>
          <p:nvPr/>
        </p:nvSpPr>
        <p:spPr>
          <a:xfrm>
            <a:off x="850392" y="2889504"/>
            <a:ext cx="1737360" cy="237744"/>
          </a:xfrm>
          <a:prstGeom prst="rect">
            <a:avLst/>
          </a:prstGeom>
          <a:noFill/>
          <a:ln/>
        </p:spPr>
        <p:txBody>
          <a:bodyPr wrap="square" lIns="0" tIns="0" rIns="0" bIns="0" rtlCol="0" anchor="ctr"/>
          <a:lstStyle/>
          <a:p>
            <a:pPr indent="0" marL="0">
              <a:buNone/>
            </a:pPr>
            <a:r>
              <a:rPr lang="en-US" sz="1150" b="1" dirty="0">
                <a:solidFill>
                  <a:srgbClr val="4C3FA6"/>
                </a:solidFill>
                <a:latin typeface="Calibri" pitchFamily="34" charset="0"/>
                <a:ea typeface="Calibri" pitchFamily="34" charset="-122"/>
                <a:cs typeface="Calibri" pitchFamily="34" charset="-120"/>
              </a:rPr>
              <a:t>dX / dY / dZ</a:t>
            </a:r>
            <a:endParaRPr lang="en-US" sz="1150" dirty="0"/>
          </a:p>
        </p:txBody>
      </p:sp>
      <p:sp>
        <p:nvSpPr>
          <p:cNvPr id="13" name="Text 11"/>
          <p:cNvSpPr txBox="1"/>
          <p:nvPr/>
        </p:nvSpPr>
        <p:spPr>
          <a:xfrm>
            <a:off x="2624328" y="2889504"/>
            <a:ext cx="3108960" cy="237744"/>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2000 / 1 / 4  —  not used</a:t>
            </a:r>
            <a:endParaRPr lang="en-US" sz="1150" dirty="0"/>
          </a:p>
        </p:txBody>
      </p:sp>
      <p:sp>
        <p:nvSpPr>
          <p:cNvPr id="14" name="Text 12"/>
          <p:cNvSpPr txBox="1"/>
          <p:nvPr/>
        </p:nvSpPr>
        <p:spPr>
          <a:xfrm>
            <a:off x="850392" y="3145536"/>
            <a:ext cx="1737360" cy="237744"/>
          </a:xfrm>
          <a:prstGeom prst="rect">
            <a:avLst/>
          </a:prstGeom>
          <a:noFill/>
          <a:ln/>
        </p:spPr>
        <p:txBody>
          <a:bodyPr wrap="square" lIns="0" tIns="0" rIns="0" bIns="0" rtlCol="0" anchor="ctr"/>
          <a:lstStyle/>
          <a:p>
            <a:pPr indent="0" marL="0">
              <a:buNone/>
            </a:pPr>
            <a:r>
              <a:rPr lang="en-US" sz="1150" b="1" dirty="0">
                <a:solidFill>
                  <a:srgbClr val="4C3FA6"/>
                </a:solidFill>
                <a:latin typeface="Calibri" pitchFamily="34" charset="0"/>
                <a:ea typeface="Calibri" pitchFamily="34" charset="-122"/>
                <a:cs typeface="Calibri" pitchFamily="34" charset="-120"/>
              </a:rPr>
              <a:t>Enable X / Y / Z</a:t>
            </a:r>
            <a:endParaRPr lang="en-US" sz="1150" dirty="0"/>
          </a:p>
        </p:txBody>
      </p:sp>
      <p:sp>
        <p:nvSpPr>
          <p:cNvPr id="15" name="Text 13"/>
          <p:cNvSpPr txBox="1"/>
          <p:nvPr/>
        </p:nvSpPr>
        <p:spPr>
          <a:xfrm>
            <a:off x="2624328" y="3145536"/>
            <a:ext cx="3108960" cy="237744"/>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not used</a:t>
            </a:r>
            <a:endParaRPr lang="en-US" sz="1150" dirty="0"/>
          </a:p>
        </p:txBody>
      </p:sp>
      <p:sp>
        <p:nvSpPr>
          <p:cNvPr id="16" name="Text 14"/>
          <p:cNvSpPr txBox="1"/>
          <p:nvPr/>
        </p:nvSpPr>
        <p:spPr>
          <a:xfrm>
            <a:off x="850392" y="3401568"/>
            <a:ext cx="1737360" cy="237744"/>
          </a:xfrm>
          <a:prstGeom prst="rect">
            <a:avLst/>
          </a:prstGeom>
          <a:noFill/>
          <a:ln/>
        </p:spPr>
        <p:txBody>
          <a:bodyPr wrap="square" lIns="0" tIns="0" rIns="0" bIns="0" rtlCol="0" anchor="ctr"/>
          <a:lstStyle/>
          <a:p>
            <a:pPr indent="0" marL="0">
              <a:buNone/>
            </a:pPr>
            <a:r>
              <a:rPr lang="en-US" sz="1150" b="1" dirty="0">
                <a:solidFill>
                  <a:srgbClr val="4C3FA6"/>
                </a:solidFill>
                <a:latin typeface="Calibri" pitchFamily="34" charset="0"/>
                <a:ea typeface="Calibri" pitchFamily="34" charset="-122"/>
                <a:cs typeface="Calibri" pitchFamily="34" charset="-120"/>
              </a:rPr>
              <a:t>C-Scan, Volumetric</a:t>
            </a:r>
            <a:endParaRPr lang="en-US" sz="1150" dirty="0"/>
          </a:p>
        </p:txBody>
      </p:sp>
      <p:sp>
        <p:nvSpPr>
          <p:cNvPr id="17" name="Text 15"/>
          <p:cNvSpPr txBox="1"/>
          <p:nvPr/>
        </p:nvSpPr>
        <p:spPr>
          <a:xfrm>
            <a:off x="2624328" y="3401568"/>
            <a:ext cx="3108960" cy="237744"/>
          </a:xfrm>
          <a:prstGeom prst="rect">
            <a:avLst/>
          </a:prstGeom>
          <a:noFill/>
          <a:ln/>
        </p:spPr>
        <p:txBody>
          <a:bodyPr wrap="square" lIns="0" tIns="0" rIns="0" bIns="0" rtlCol="0" anchor="ctr"/>
          <a:lstStyle/>
          <a:p>
            <a:pPr indent="0" marL="0">
              <a:buNone/>
            </a:pPr>
            <a:r>
              <a:rPr lang="en-US" sz="1150" dirty="0">
                <a:solidFill>
                  <a:srgbClr val="1A1633"/>
                </a:solidFill>
                <a:latin typeface="Calibri" pitchFamily="34" charset="0"/>
                <a:ea typeface="Calibri" pitchFamily="34" charset="-122"/>
                <a:cs typeface="Calibri" pitchFamily="34" charset="-120"/>
              </a:rPr>
              <a:t>not touched</a:t>
            </a:r>
            <a:endParaRPr lang="en-US" sz="1150" dirty="0"/>
          </a:p>
        </p:txBody>
      </p:sp>
      <p:sp>
        <p:nvSpPr>
          <p:cNvPr id="18" name="Shape 16"/>
          <p:cNvSpPr/>
          <p:nvPr/>
        </p:nvSpPr>
        <p:spPr>
          <a:xfrm>
            <a:off x="6446520" y="1572768"/>
            <a:ext cx="5120640" cy="2148840"/>
          </a:xfrm>
          <a:prstGeom prst="roundRect">
            <a:avLst>
              <a:gd name="adj" fmla="val 2553"/>
            </a:avLst>
          </a:prstGeom>
          <a:solidFill>
            <a:srgbClr val="FFFFFF"/>
          </a:solidFill>
          <a:ln w="12700">
            <a:solidFill>
              <a:srgbClr val="D6D3E4"/>
            </a:solidFill>
            <a:prstDash val="solid"/>
          </a:ln>
        </p:spPr>
      </p:sp>
      <p:sp>
        <p:nvSpPr>
          <p:cNvPr id="19" name="Text 17"/>
          <p:cNvSpPr txBox="1"/>
          <p:nvPr/>
        </p:nvSpPr>
        <p:spPr>
          <a:xfrm>
            <a:off x="6702552" y="1755648"/>
            <a:ext cx="4754880" cy="292608"/>
          </a:xfrm>
          <a:prstGeom prst="rect">
            <a:avLst/>
          </a:prstGeom>
          <a:noFill/>
          <a:ln/>
        </p:spPr>
        <p:txBody>
          <a:bodyPr wrap="square" lIns="0" tIns="0" rIns="0" bIns="0" rtlCol="0" anchor="ctr"/>
          <a:lstStyle/>
          <a:p>
            <a:pPr indent="0" marL="0">
              <a:buNone/>
            </a:pPr>
            <a:r>
              <a:rPr lang="en-US" sz="1600" b="1" dirty="0">
                <a:solidFill>
                  <a:srgbClr val="1A1633"/>
                </a:solidFill>
                <a:latin typeface="Cambria" pitchFamily="34" charset="0"/>
                <a:ea typeface="Cambria" pitchFamily="34" charset="-122"/>
                <a:cs typeface="Cambria" pitchFamily="34" charset="-120"/>
              </a:rPr>
              <a:t>Safety protocol I am following</a:t>
            </a:r>
            <a:endParaRPr lang="en-US" sz="1600" dirty="0"/>
          </a:p>
        </p:txBody>
      </p:sp>
      <p:sp>
        <p:nvSpPr>
          <p:cNvPr id="20" name="Text 18"/>
          <p:cNvSpPr txBox="1"/>
          <p:nvPr/>
        </p:nvSpPr>
        <p:spPr>
          <a:xfrm>
            <a:off x="6702552" y="2084832"/>
            <a:ext cx="4800600" cy="155448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100" dirty="0">
                <a:solidFill>
                  <a:srgbClr val="1A1633"/>
                </a:solidFill>
                <a:latin typeface="Calibri" pitchFamily="34" charset="0"/>
                <a:ea typeface="Calibri" pitchFamily="34" charset="-122"/>
                <a:cs typeface="Calibri" pitchFamily="34" charset="-120"/>
              </a:rPr>
              <a:t>Hand near Stop / e-stop before the first Move — never on the stage or lead screw</a:t>
            </a:r>
            <a:endParaRPr lang="en-US" sz="1100" dirty="0"/>
          </a:p>
          <a:p>
            <a:pPr marL="342900" indent="-342900">
              <a:lnSpc>
                <a:spcPts val="1400"/>
              </a:lnSpc>
              <a:spcAft>
                <a:spcPts val="500"/>
              </a:spcAft>
              <a:buSzPct val="100000"/>
              <a:buChar char="•"/>
            </a:pPr>
            <a:r>
              <a:rPr lang="en-US" sz="1100" dirty="0">
                <a:solidFill>
                  <a:srgbClr val="1A1633"/>
                </a:solidFill>
                <a:latin typeface="Calibri" pitchFamily="34" charset="0"/>
                <a:ea typeface="Calibri" pitchFamily="34" charset="-122"/>
                <a:cs typeface="Calibri" pitchFamily="34" charset="-120"/>
              </a:rPr>
              <a:t>Violent shaking, odd noise, limit crash or a red driver LED → stop, do not click again</a:t>
            </a:r>
            <a:endParaRPr lang="en-US" sz="1100" dirty="0"/>
          </a:p>
          <a:p>
            <a:pPr marL="342900" indent="-342900">
              <a:lnSpc>
                <a:spcPts val="1400"/>
              </a:lnSpc>
              <a:spcAft>
                <a:spcPts val="500"/>
              </a:spcAft>
              <a:buSzPct val="100000"/>
              <a:buChar char="•"/>
            </a:pPr>
            <a:r>
              <a:rPr lang="en-US" sz="1100" dirty="0">
                <a:solidFill>
                  <a:srgbClr val="1A1633"/>
                </a:solidFill>
                <a:latin typeface="Calibri" pitchFamily="34" charset="0"/>
                <a:ea typeface="Calibri" pitchFamily="34" charset="-122"/>
                <a:cs typeface="Calibri" pitchFamily="34" charset="-120"/>
              </a:rPr>
              <a:t>One axis at a time, small step counts first</a:t>
            </a:r>
            <a:endParaRPr lang="en-US" sz="1100" dirty="0"/>
          </a:p>
          <a:p>
            <a:pPr marL="342900" indent="-342900">
              <a:lnSpc>
                <a:spcPts val="1400"/>
              </a:lnSpc>
              <a:spcAft>
                <a:spcPts val="500"/>
              </a:spcAft>
              <a:buSzPct val="100000"/>
              <a:buChar char="•"/>
            </a:pPr>
            <a:r>
              <a:rPr lang="en-US" sz="1100" dirty="0">
                <a:solidFill>
                  <a:srgbClr val="1A1633"/>
                </a:solidFill>
                <a:latin typeface="Calibri" pitchFamily="34" charset="0"/>
                <a:ea typeface="Calibri" pitchFamily="34" charset="-122"/>
                <a:cs typeface="Calibri" pitchFamily="34" charset="-120"/>
              </a:rPr>
              <a:t>Photograph any cable before unplugging it</a:t>
            </a:r>
            <a:endParaRPr lang="en-US" sz="1100" dirty="0"/>
          </a:p>
          <a:p>
            <a:pPr marL="342900" indent="-342900">
              <a:lnSpc>
                <a:spcPts val="1400"/>
              </a:lnSpc>
              <a:spcAft>
                <a:spcPts val="500"/>
              </a:spcAft>
              <a:buSzPct val="100000"/>
              <a:buChar char="•"/>
            </a:pPr>
            <a:r>
              <a:rPr lang="en-US" sz="1100" dirty="0">
                <a:solidFill>
                  <a:srgbClr val="1A1633"/>
                </a:solidFill>
                <a:latin typeface="Calibri" pitchFamily="34" charset="0"/>
                <a:ea typeface="Calibri" pitchFamily="34" charset="-122"/>
                <a:cs typeface="Calibri" pitchFamily="34" charset="-120"/>
              </a:rPr>
              <a:t>266 nm is invisible — goggles per lab protocol</a:t>
            </a:r>
            <a:endParaRPr lang="en-US" sz="1100" dirty="0"/>
          </a:p>
        </p:txBody>
      </p:sp>
      <p:sp>
        <p:nvSpPr>
          <p:cNvPr id="21" name="Shape 19"/>
          <p:cNvSpPr/>
          <p:nvPr/>
        </p:nvSpPr>
        <p:spPr>
          <a:xfrm>
            <a:off x="594360" y="3913632"/>
            <a:ext cx="10972800" cy="1691640"/>
          </a:xfrm>
          <a:prstGeom prst="roundRect">
            <a:avLst>
              <a:gd name="adj" fmla="val 3243"/>
            </a:avLst>
          </a:prstGeom>
          <a:solidFill>
            <a:srgbClr val="E9E7F3"/>
          </a:solidFill>
          <a:ln w="12700">
            <a:solidFill>
              <a:srgbClr val="E9E7F3"/>
            </a:solidFill>
            <a:prstDash val="solid"/>
          </a:ln>
        </p:spPr>
      </p:sp>
      <p:sp>
        <p:nvSpPr>
          <p:cNvPr id="22" name="Text 20"/>
          <p:cNvSpPr txBox="1"/>
          <p:nvPr/>
        </p:nvSpPr>
        <p:spPr>
          <a:xfrm>
            <a:off x="850392" y="4078224"/>
            <a:ext cx="4572000" cy="292608"/>
          </a:xfrm>
          <a:prstGeom prst="rect">
            <a:avLst/>
          </a:prstGeom>
          <a:noFill/>
          <a:ln/>
        </p:spPr>
        <p:txBody>
          <a:bodyPr wrap="square" lIns="0" tIns="0" rIns="0" bIns="0" rtlCol="0" anchor="ctr"/>
          <a:lstStyle/>
          <a:p>
            <a:pPr indent="0" marL="0">
              <a:buNone/>
            </a:pPr>
            <a:r>
              <a:rPr lang="en-US" sz="1600" b="1" dirty="0">
                <a:solidFill>
                  <a:srgbClr val="1A1633"/>
                </a:solidFill>
                <a:latin typeface="Cambria" pitchFamily="34" charset="0"/>
                <a:ea typeface="Cambria" pitchFamily="34" charset="-122"/>
                <a:cs typeface="Cambria" pitchFamily="34" charset="-120"/>
              </a:rPr>
              <a:t>References</a:t>
            </a:r>
            <a:endParaRPr lang="en-US" sz="1600" dirty="0"/>
          </a:p>
        </p:txBody>
      </p:sp>
      <p:sp>
        <p:nvSpPr>
          <p:cNvPr id="23" name="Text 21"/>
          <p:cNvSpPr txBox="1"/>
          <p:nvPr/>
        </p:nvSpPr>
        <p:spPr>
          <a:xfrm>
            <a:off x="850392" y="4407408"/>
            <a:ext cx="10460736" cy="1097280"/>
          </a:xfrm>
          <a:prstGeom prst="rect">
            <a:avLst/>
          </a:prstGeom>
          <a:noFill/>
          <a:ln/>
        </p:spPr>
        <p:txBody>
          <a:bodyPr wrap="square" lIns="0" tIns="0" rIns="0" bIns="0" rtlCol="0" anchor="t"/>
          <a:lstStyle/>
          <a:p>
            <a:pPr marL="342900" indent="-342900">
              <a:lnSpc>
                <a:spcPts val="1450"/>
              </a:lnSpc>
              <a:spcAft>
                <a:spcPts val="500"/>
              </a:spcAft>
              <a:buSzPct val="100000"/>
              <a:buChar char="•"/>
            </a:pPr>
            <a:r>
              <a:rPr lang="en-US" sz="1100" dirty="0">
                <a:solidFill>
                  <a:srgbClr val="1A1633"/>
                </a:solidFill>
                <a:latin typeface="Calibri" pitchFamily="34" charset="0"/>
                <a:ea typeface="Calibri" pitchFamily="34" charset="-122"/>
                <a:cs typeface="Calibri" pitchFamily="34" charset="-120"/>
              </a:rPr>
              <a:t>R. Cao et al., “Optical-resolution parallel ultraviolet photoacoustic microscopy for slide-free histology,” Science Advances 10, eado0518 (2024). DOI 10.1126/sciadv.ado0518  —  full text via NSF Public Access (par.nsf.gov/servlets/purl/10594287)</a:t>
            </a:r>
            <a:endParaRPr lang="en-US" sz="1100" dirty="0"/>
          </a:p>
          <a:p>
            <a:pPr marL="342900" indent="-342900">
              <a:lnSpc>
                <a:spcPts val="1450"/>
              </a:lnSpc>
              <a:spcAft>
                <a:spcPts val="500"/>
              </a:spcAft>
              <a:buSzPct val="100000"/>
              <a:buChar char="•"/>
            </a:pPr>
            <a:r>
              <a:rPr lang="en-US" sz="1100" dirty="0">
                <a:solidFill>
                  <a:srgbClr val="1A1633"/>
                </a:solidFill>
                <a:latin typeface="Calibri" pitchFamily="34" charset="0"/>
                <a:ea typeface="Calibri" pitchFamily="34" charset="-122"/>
                <a:cs typeface="Calibri" pitchFamily="34" charset="-120"/>
              </a:rPr>
              <a:t>L. V. Wang, “Multiscale photoacoustic microscopy and computed tomography,” Nature Photonics 3, 503–509 (2009). DOI 10.1038/nphoton.2009.157</a:t>
            </a:r>
            <a:endParaRPr lang="en-US" sz="1100" dirty="0"/>
          </a:p>
          <a:p>
            <a:pPr marL="342900" indent="-342900">
              <a:lnSpc>
                <a:spcPts val="1450"/>
              </a:lnSpc>
              <a:spcAft>
                <a:spcPts val="500"/>
              </a:spcAft>
              <a:buSzPct val="100000"/>
              <a:buChar char="•"/>
            </a:pPr>
            <a:r>
              <a:rPr lang="en-US" sz="1100" dirty="0">
                <a:solidFill>
                  <a:srgbClr val="1A1633"/>
                </a:solidFill>
                <a:latin typeface="Calibri" pitchFamily="34" charset="0"/>
                <a:ea typeface="Calibri" pitchFamily="34" charset="-122"/>
                <a:cs typeface="Calibri" pitchFamily="34" charset="-120"/>
              </a:rPr>
              <a:t>MOONS’ SR2 step motor drive — current table, microstep table and LED fault codes printed on the drive body</a:t>
            </a:r>
            <a:endParaRPr lang="en-US" sz="1100" dirty="0"/>
          </a:p>
        </p:txBody>
      </p:sp>
      <p:sp>
        <p:nvSpPr>
          <p:cNvPr id="24" name="Text 22"/>
          <p:cNvSpPr txBox="1"/>
          <p:nvPr/>
        </p:nvSpPr>
        <p:spPr>
          <a:xfrm>
            <a:off x="594360" y="5888736"/>
            <a:ext cx="10972800" cy="274320"/>
          </a:xfrm>
          <a:prstGeom prst="rect">
            <a:avLst/>
          </a:prstGeom>
          <a:noFill/>
          <a:ln/>
        </p:spPr>
        <p:txBody>
          <a:bodyPr wrap="square" lIns="0" tIns="0" rIns="0" bIns="0" rtlCol="0" anchor="ctr"/>
          <a:lstStyle/>
          <a:p>
            <a:pPr indent="0" marL="0">
              <a:buNone/>
            </a:pPr>
            <a:r>
              <a:rPr lang="en-US" sz="1050" i="1" dirty="0">
                <a:solidFill>
                  <a:srgbClr val="6B6880"/>
                </a:solidFill>
                <a:latin typeface="Calibri" pitchFamily="34" charset="0"/>
                <a:ea typeface="Calibri" pitchFamily="34" charset="-122"/>
                <a:cs typeface="Calibri" pitchFamily="34" charset="-120"/>
              </a:rPr>
              <a:t>Prepared 8/30 · open questions carried into the shared context document after the meeting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UV-PAM Reproduction — Progress &amp; Verification Plan</dc:title>
  <dc:subject>PptxGenJS Presentation</dc:subject>
  <dc:creator>Yumeng Chen</dc:creator>
  <cp:lastModifiedBy>Yumeng Chen</cp:lastModifiedBy>
  <cp:revision>1</cp:revision>
  <dcterms:created xsi:type="dcterms:W3CDTF">2026-08-30T23:10:53Z</dcterms:created>
  <dcterms:modified xsi:type="dcterms:W3CDTF">2026-08-30T23:10:53Z</dcterms:modified>
</cp:coreProperties>
</file>